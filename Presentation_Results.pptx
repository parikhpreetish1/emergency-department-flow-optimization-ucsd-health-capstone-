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4"/>
  </p:sldMasterIdLst>
  <p:notesMasterIdLst>
    <p:notesMasterId r:id="rId40"/>
  </p:notesMasterIdLst>
  <p:sldIdLst>
    <p:sldId id="256" r:id="rId5"/>
    <p:sldId id="257" r:id="rId6"/>
    <p:sldId id="303" r:id="rId7"/>
    <p:sldId id="305" r:id="rId8"/>
    <p:sldId id="306" r:id="rId9"/>
    <p:sldId id="261" r:id="rId10"/>
    <p:sldId id="269" r:id="rId11"/>
    <p:sldId id="270" r:id="rId12"/>
    <p:sldId id="294" r:id="rId13"/>
    <p:sldId id="295" r:id="rId14"/>
    <p:sldId id="296" r:id="rId15"/>
    <p:sldId id="297" r:id="rId16"/>
    <p:sldId id="298" r:id="rId17"/>
    <p:sldId id="307" r:id="rId18"/>
    <p:sldId id="278" r:id="rId19"/>
    <p:sldId id="299" r:id="rId20"/>
    <p:sldId id="300" r:id="rId21"/>
    <p:sldId id="304" r:id="rId22"/>
    <p:sldId id="284" r:id="rId23"/>
    <p:sldId id="285" r:id="rId24"/>
    <p:sldId id="273" r:id="rId25"/>
    <p:sldId id="301" r:id="rId26"/>
    <p:sldId id="302" r:id="rId27"/>
    <p:sldId id="289" r:id="rId28"/>
    <p:sldId id="262" r:id="rId29"/>
    <p:sldId id="286" r:id="rId30"/>
    <p:sldId id="260" r:id="rId31"/>
    <p:sldId id="264" r:id="rId32"/>
    <p:sldId id="272" r:id="rId33"/>
    <p:sldId id="266" r:id="rId34"/>
    <p:sldId id="280" r:id="rId35"/>
    <p:sldId id="281" r:id="rId36"/>
    <p:sldId id="275" r:id="rId37"/>
    <p:sldId id="268" r:id="rId38"/>
    <p:sldId id="271" r:id="rId3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B65FA7-A5B2-4D27-9BFC-721D3A128A66}">
  <a:tblStyle styleId="{99B65FA7-A5B2-4D27-9BFC-721D3A128A6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9BB360F-12D0-46A9-93D8-7FB3F8BA98E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203" autoAdjust="0"/>
  </p:normalViewPr>
  <p:slideViewPr>
    <p:cSldViewPr snapToGrid="0">
      <p:cViewPr varScale="1">
        <p:scale>
          <a:sx n="102" d="100"/>
          <a:sy n="102" d="100"/>
        </p:scale>
        <p:origin x="898" y="6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FE7D3C-65BF-4E10-8533-802CFEB3C40A}" type="doc">
      <dgm:prSet loTypeId="urn:microsoft.com/office/officeart/2005/8/layout/vList2" loCatId="list" qsTypeId="urn:microsoft.com/office/officeart/2005/8/quickstyle/simple1" qsCatId="simple" csTypeId="urn:microsoft.com/office/officeart/2005/8/colors/accent5_2" csCatId="accent5" phldr="1"/>
      <dgm:spPr/>
      <dgm:t>
        <a:bodyPr/>
        <a:lstStyle/>
        <a:p>
          <a:endParaRPr lang="en-US"/>
        </a:p>
      </dgm:t>
    </dgm:pt>
    <dgm:pt modelId="{B8BFDA91-F37C-4F4F-B0E2-922D3F8B27A6}">
      <dgm:prSet phldrT="[Text]"/>
      <dgm:spPr/>
      <dgm:t>
        <a:bodyPr/>
        <a:lstStyle/>
        <a:p>
          <a:r>
            <a:rPr lang="en-US" b="1" dirty="0"/>
            <a:t>Detailed Process Modeling</a:t>
          </a:r>
          <a:endParaRPr lang="en-US" dirty="0"/>
        </a:p>
      </dgm:t>
    </dgm:pt>
    <dgm:pt modelId="{1508CFDB-BAF3-4646-9493-3CB412363AE9}" type="parTrans" cxnId="{E6B5711A-EC02-41A4-A5DE-BA51B7135A69}">
      <dgm:prSet/>
      <dgm:spPr/>
      <dgm:t>
        <a:bodyPr/>
        <a:lstStyle/>
        <a:p>
          <a:endParaRPr lang="en-US"/>
        </a:p>
      </dgm:t>
    </dgm:pt>
    <dgm:pt modelId="{95920C98-5E80-4368-A33B-BBEDC24310B8}" type="sibTrans" cxnId="{E6B5711A-EC02-41A4-A5DE-BA51B7135A69}">
      <dgm:prSet/>
      <dgm:spPr/>
      <dgm:t>
        <a:bodyPr/>
        <a:lstStyle/>
        <a:p>
          <a:endParaRPr lang="en-US"/>
        </a:p>
      </dgm:t>
    </dgm:pt>
    <dgm:pt modelId="{666BA634-7854-4301-A5A5-B7545784BFA9}">
      <dgm:prSet phldrT="[Text]"/>
      <dgm:spPr/>
      <dgm:t>
        <a:bodyPr/>
        <a:lstStyle/>
        <a:p>
          <a:r>
            <a:rPr lang="en-US" dirty="0">
              <a:solidFill>
                <a:srgbClr val="002060"/>
              </a:solidFill>
            </a:rPr>
            <a:t>Simulations capture the complexity of hospital workflows, offering a more granular view of operations compared to predictive models that focus on specific outcomes.</a:t>
          </a:r>
        </a:p>
      </dgm:t>
    </dgm:pt>
    <dgm:pt modelId="{DA91B1C9-2CDA-4758-B2A1-2B2FE13E7E26}" type="parTrans" cxnId="{BEB41F3E-8E25-449E-AEEE-270E29DB159D}">
      <dgm:prSet/>
      <dgm:spPr/>
      <dgm:t>
        <a:bodyPr/>
        <a:lstStyle/>
        <a:p>
          <a:endParaRPr lang="en-US"/>
        </a:p>
      </dgm:t>
    </dgm:pt>
    <dgm:pt modelId="{0C30D46C-1240-4A4A-9C26-845DC4A3F2FA}" type="sibTrans" cxnId="{BEB41F3E-8E25-449E-AEEE-270E29DB159D}">
      <dgm:prSet/>
      <dgm:spPr/>
      <dgm:t>
        <a:bodyPr/>
        <a:lstStyle/>
        <a:p>
          <a:endParaRPr lang="en-US"/>
        </a:p>
      </dgm:t>
    </dgm:pt>
    <dgm:pt modelId="{2F74F869-EBF1-4718-9607-7963838B9F65}">
      <dgm:prSet phldrT="[Text]"/>
      <dgm:spPr/>
      <dgm:t>
        <a:bodyPr/>
        <a:lstStyle/>
        <a:p>
          <a:r>
            <a:rPr lang="en-US" b="1" dirty="0"/>
            <a:t>Scenario Testing</a:t>
          </a:r>
        </a:p>
      </dgm:t>
    </dgm:pt>
    <dgm:pt modelId="{399905C5-76A7-4977-8FF7-C6AB770518FE}" type="parTrans" cxnId="{2720D42F-601C-48F2-A096-FFC6F702BB71}">
      <dgm:prSet/>
      <dgm:spPr/>
      <dgm:t>
        <a:bodyPr/>
        <a:lstStyle/>
        <a:p>
          <a:endParaRPr lang="en-US"/>
        </a:p>
      </dgm:t>
    </dgm:pt>
    <dgm:pt modelId="{01DCE118-DA57-4975-805D-CBF1597B14FA}" type="sibTrans" cxnId="{2720D42F-601C-48F2-A096-FFC6F702BB71}">
      <dgm:prSet/>
      <dgm:spPr/>
      <dgm:t>
        <a:bodyPr/>
        <a:lstStyle/>
        <a:p>
          <a:endParaRPr lang="en-US"/>
        </a:p>
      </dgm:t>
    </dgm:pt>
    <dgm:pt modelId="{E66E4BA6-B52E-4376-971C-6D4AF8440617}">
      <dgm:prSet phldrT="[Text]"/>
      <dgm:spPr/>
      <dgm:t>
        <a:bodyPr/>
        <a:lstStyle/>
        <a:p>
          <a:r>
            <a:rPr lang="en-US" dirty="0">
              <a:solidFill>
                <a:srgbClr val="002060"/>
              </a:solidFill>
            </a:rPr>
            <a:t>Simulations enable "what-if" scenario testing, allowing hospitals to experiment with interventions without disrupting operations—something AI models may not offer.</a:t>
          </a:r>
        </a:p>
      </dgm:t>
    </dgm:pt>
    <dgm:pt modelId="{BF3945EC-2BEF-4935-9579-4FE19F766DCC}" type="parTrans" cxnId="{AAA2FF15-DA34-460A-AD44-BCC1381DAAEB}">
      <dgm:prSet/>
      <dgm:spPr/>
      <dgm:t>
        <a:bodyPr/>
        <a:lstStyle/>
        <a:p>
          <a:endParaRPr lang="en-US"/>
        </a:p>
      </dgm:t>
    </dgm:pt>
    <dgm:pt modelId="{82FE38EA-1500-4EEC-BCCA-33BDB1985FB7}" type="sibTrans" cxnId="{AAA2FF15-DA34-460A-AD44-BCC1381DAAEB}">
      <dgm:prSet/>
      <dgm:spPr/>
      <dgm:t>
        <a:bodyPr/>
        <a:lstStyle/>
        <a:p>
          <a:endParaRPr lang="en-US"/>
        </a:p>
      </dgm:t>
    </dgm:pt>
    <dgm:pt modelId="{CD073DFC-1EC8-442F-A94A-70B6018C3927}">
      <dgm:prSet phldrT="[Text]"/>
      <dgm:spPr/>
      <dgm:t>
        <a:bodyPr/>
        <a:lstStyle/>
        <a:p>
          <a:r>
            <a:rPr lang="en-US" b="1" dirty="0"/>
            <a:t>Complementary to AI</a:t>
          </a:r>
        </a:p>
      </dgm:t>
    </dgm:pt>
    <dgm:pt modelId="{D5DDE141-C0B5-4F34-B4B8-F6633421F2AD}" type="parTrans" cxnId="{1A3E5255-A89C-4B91-B863-F073D9121466}">
      <dgm:prSet/>
      <dgm:spPr/>
      <dgm:t>
        <a:bodyPr/>
        <a:lstStyle/>
        <a:p>
          <a:endParaRPr lang="en-US"/>
        </a:p>
      </dgm:t>
    </dgm:pt>
    <dgm:pt modelId="{D3C07487-3040-48A2-936D-2003F3006CF6}" type="sibTrans" cxnId="{1A3E5255-A89C-4B91-B863-F073D9121466}">
      <dgm:prSet/>
      <dgm:spPr/>
      <dgm:t>
        <a:bodyPr/>
        <a:lstStyle/>
        <a:p>
          <a:endParaRPr lang="en-US"/>
        </a:p>
      </dgm:t>
    </dgm:pt>
    <dgm:pt modelId="{B73346BB-15F5-447C-8748-30E88A21A5FA}">
      <dgm:prSet phldrT="[Text]"/>
      <dgm:spPr/>
      <dgm:t>
        <a:bodyPr/>
        <a:lstStyle/>
        <a:p>
          <a:r>
            <a:rPr lang="en-US" dirty="0">
              <a:solidFill>
                <a:srgbClr val="002060"/>
              </a:solidFill>
            </a:rPr>
            <a:t>Simulations test AI insights in realistic environments, refining decision-making through dynamic scenario testing.</a:t>
          </a:r>
        </a:p>
      </dgm:t>
    </dgm:pt>
    <dgm:pt modelId="{12512E62-501F-4C95-BA5E-F94E76A3A8DD}" type="parTrans" cxnId="{C76C8B66-4CFE-4B78-9D6E-596FE8B6F741}">
      <dgm:prSet/>
      <dgm:spPr/>
      <dgm:t>
        <a:bodyPr/>
        <a:lstStyle/>
        <a:p>
          <a:endParaRPr lang="en-US"/>
        </a:p>
      </dgm:t>
    </dgm:pt>
    <dgm:pt modelId="{7AD71108-E025-425A-AC65-557E602D9AF2}" type="sibTrans" cxnId="{C76C8B66-4CFE-4B78-9D6E-596FE8B6F741}">
      <dgm:prSet/>
      <dgm:spPr/>
      <dgm:t>
        <a:bodyPr/>
        <a:lstStyle/>
        <a:p>
          <a:endParaRPr lang="en-US"/>
        </a:p>
      </dgm:t>
    </dgm:pt>
    <dgm:pt modelId="{D7CAC152-ED53-4613-AE27-FBDA9D671524}" type="pres">
      <dgm:prSet presAssocID="{B1FE7D3C-65BF-4E10-8533-802CFEB3C40A}" presName="linear" presStyleCnt="0">
        <dgm:presLayoutVars>
          <dgm:animLvl val="lvl"/>
          <dgm:resizeHandles val="exact"/>
        </dgm:presLayoutVars>
      </dgm:prSet>
      <dgm:spPr/>
    </dgm:pt>
    <dgm:pt modelId="{2030ED94-F79B-48B7-BC11-D65E2CF9B14D}" type="pres">
      <dgm:prSet presAssocID="{B8BFDA91-F37C-4F4F-B0E2-922D3F8B27A6}" presName="parentText" presStyleLbl="node1" presStyleIdx="0" presStyleCnt="3">
        <dgm:presLayoutVars>
          <dgm:chMax val="0"/>
          <dgm:bulletEnabled val="1"/>
        </dgm:presLayoutVars>
      </dgm:prSet>
      <dgm:spPr/>
    </dgm:pt>
    <dgm:pt modelId="{16D0D4CD-1EF7-4905-9C2A-E29990F2CDF8}" type="pres">
      <dgm:prSet presAssocID="{B8BFDA91-F37C-4F4F-B0E2-922D3F8B27A6}" presName="childText" presStyleLbl="revTx" presStyleIdx="0" presStyleCnt="3">
        <dgm:presLayoutVars>
          <dgm:bulletEnabled val="1"/>
        </dgm:presLayoutVars>
      </dgm:prSet>
      <dgm:spPr/>
    </dgm:pt>
    <dgm:pt modelId="{DCC9EAF3-BCEA-47B5-8F5A-EBC0A6C0C3B7}" type="pres">
      <dgm:prSet presAssocID="{2F74F869-EBF1-4718-9607-7963838B9F65}" presName="parentText" presStyleLbl="node1" presStyleIdx="1" presStyleCnt="3">
        <dgm:presLayoutVars>
          <dgm:chMax val="0"/>
          <dgm:bulletEnabled val="1"/>
        </dgm:presLayoutVars>
      </dgm:prSet>
      <dgm:spPr/>
    </dgm:pt>
    <dgm:pt modelId="{D17357B2-3856-479B-A510-42CF1E288952}" type="pres">
      <dgm:prSet presAssocID="{2F74F869-EBF1-4718-9607-7963838B9F65}" presName="childText" presStyleLbl="revTx" presStyleIdx="1" presStyleCnt="3">
        <dgm:presLayoutVars>
          <dgm:bulletEnabled val="1"/>
        </dgm:presLayoutVars>
      </dgm:prSet>
      <dgm:spPr/>
    </dgm:pt>
    <dgm:pt modelId="{A9191675-4ACF-453A-A389-7F58E7B4D025}" type="pres">
      <dgm:prSet presAssocID="{CD073DFC-1EC8-442F-A94A-70B6018C3927}" presName="parentText" presStyleLbl="node1" presStyleIdx="2" presStyleCnt="3">
        <dgm:presLayoutVars>
          <dgm:chMax val="0"/>
          <dgm:bulletEnabled val="1"/>
        </dgm:presLayoutVars>
      </dgm:prSet>
      <dgm:spPr/>
    </dgm:pt>
    <dgm:pt modelId="{DE77202E-EDEE-4B40-97BC-13151A28E2C9}" type="pres">
      <dgm:prSet presAssocID="{CD073DFC-1EC8-442F-A94A-70B6018C3927}" presName="childText" presStyleLbl="revTx" presStyleIdx="2" presStyleCnt="3">
        <dgm:presLayoutVars>
          <dgm:bulletEnabled val="1"/>
        </dgm:presLayoutVars>
      </dgm:prSet>
      <dgm:spPr/>
    </dgm:pt>
  </dgm:ptLst>
  <dgm:cxnLst>
    <dgm:cxn modelId="{62C3A714-CB62-4F67-ACBF-45C54792B1E8}" type="presOf" srcId="{B73346BB-15F5-447C-8748-30E88A21A5FA}" destId="{DE77202E-EDEE-4B40-97BC-13151A28E2C9}" srcOrd="0" destOrd="0" presId="urn:microsoft.com/office/officeart/2005/8/layout/vList2"/>
    <dgm:cxn modelId="{AAA2FF15-DA34-460A-AD44-BCC1381DAAEB}" srcId="{2F74F869-EBF1-4718-9607-7963838B9F65}" destId="{E66E4BA6-B52E-4376-971C-6D4AF8440617}" srcOrd="0" destOrd="0" parTransId="{BF3945EC-2BEF-4935-9579-4FE19F766DCC}" sibTransId="{82FE38EA-1500-4EEC-BCCA-33BDB1985FB7}"/>
    <dgm:cxn modelId="{E6B5711A-EC02-41A4-A5DE-BA51B7135A69}" srcId="{B1FE7D3C-65BF-4E10-8533-802CFEB3C40A}" destId="{B8BFDA91-F37C-4F4F-B0E2-922D3F8B27A6}" srcOrd="0" destOrd="0" parTransId="{1508CFDB-BAF3-4646-9493-3CB412363AE9}" sibTransId="{95920C98-5E80-4368-A33B-BBEDC24310B8}"/>
    <dgm:cxn modelId="{AC12FC24-5FAE-4857-B5F4-19BACAFAD036}" type="presOf" srcId="{2F74F869-EBF1-4718-9607-7963838B9F65}" destId="{DCC9EAF3-BCEA-47B5-8F5A-EBC0A6C0C3B7}" srcOrd="0" destOrd="0" presId="urn:microsoft.com/office/officeart/2005/8/layout/vList2"/>
    <dgm:cxn modelId="{2720D42F-601C-48F2-A096-FFC6F702BB71}" srcId="{B1FE7D3C-65BF-4E10-8533-802CFEB3C40A}" destId="{2F74F869-EBF1-4718-9607-7963838B9F65}" srcOrd="1" destOrd="0" parTransId="{399905C5-76A7-4977-8FF7-C6AB770518FE}" sibTransId="{01DCE118-DA57-4975-805D-CBF1597B14FA}"/>
    <dgm:cxn modelId="{BEB41F3E-8E25-449E-AEEE-270E29DB159D}" srcId="{B8BFDA91-F37C-4F4F-B0E2-922D3F8B27A6}" destId="{666BA634-7854-4301-A5A5-B7545784BFA9}" srcOrd="0" destOrd="0" parTransId="{DA91B1C9-2CDA-4758-B2A1-2B2FE13E7E26}" sibTransId="{0C30D46C-1240-4A4A-9C26-845DC4A3F2FA}"/>
    <dgm:cxn modelId="{C76C8B66-4CFE-4B78-9D6E-596FE8B6F741}" srcId="{CD073DFC-1EC8-442F-A94A-70B6018C3927}" destId="{B73346BB-15F5-447C-8748-30E88A21A5FA}" srcOrd="0" destOrd="0" parTransId="{12512E62-501F-4C95-BA5E-F94E76A3A8DD}" sibTransId="{7AD71108-E025-425A-AC65-557E602D9AF2}"/>
    <dgm:cxn modelId="{585CC848-7E15-418C-BBF7-1A1DD0058BB6}" type="presOf" srcId="{B8BFDA91-F37C-4F4F-B0E2-922D3F8B27A6}" destId="{2030ED94-F79B-48B7-BC11-D65E2CF9B14D}" srcOrd="0" destOrd="0" presId="urn:microsoft.com/office/officeart/2005/8/layout/vList2"/>
    <dgm:cxn modelId="{FC9CBE72-2A0D-4E07-A484-2E0CA9C5D776}" type="presOf" srcId="{E66E4BA6-B52E-4376-971C-6D4AF8440617}" destId="{D17357B2-3856-479B-A510-42CF1E288952}" srcOrd="0" destOrd="0" presId="urn:microsoft.com/office/officeart/2005/8/layout/vList2"/>
    <dgm:cxn modelId="{1A3E5255-A89C-4B91-B863-F073D9121466}" srcId="{B1FE7D3C-65BF-4E10-8533-802CFEB3C40A}" destId="{CD073DFC-1EC8-442F-A94A-70B6018C3927}" srcOrd="2" destOrd="0" parTransId="{D5DDE141-C0B5-4F34-B4B8-F6633421F2AD}" sibTransId="{D3C07487-3040-48A2-936D-2003F3006CF6}"/>
    <dgm:cxn modelId="{0ED43A92-39C1-4514-8237-2D326AA20890}" type="presOf" srcId="{B1FE7D3C-65BF-4E10-8533-802CFEB3C40A}" destId="{D7CAC152-ED53-4613-AE27-FBDA9D671524}" srcOrd="0" destOrd="0" presId="urn:microsoft.com/office/officeart/2005/8/layout/vList2"/>
    <dgm:cxn modelId="{8DE57AA4-8AA3-41B1-AF5A-BBF3DF062280}" type="presOf" srcId="{666BA634-7854-4301-A5A5-B7545784BFA9}" destId="{16D0D4CD-1EF7-4905-9C2A-E29990F2CDF8}" srcOrd="0" destOrd="0" presId="urn:microsoft.com/office/officeart/2005/8/layout/vList2"/>
    <dgm:cxn modelId="{A0B1F8EE-0F9C-40D1-BE96-D29D8136533B}" type="presOf" srcId="{CD073DFC-1EC8-442F-A94A-70B6018C3927}" destId="{A9191675-4ACF-453A-A389-7F58E7B4D025}" srcOrd="0" destOrd="0" presId="urn:microsoft.com/office/officeart/2005/8/layout/vList2"/>
    <dgm:cxn modelId="{809C8B93-C8E7-4B79-B60F-43F7FA3D29E8}" type="presParOf" srcId="{D7CAC152-ED53-4613-AE27-FBDA9D671524}" destId="{2030ED94-F79B-48B7-BC11-D65E2CF9B14D}" srcOrd="0" destOrd="0" presId="urn:microsoft.com/office/officeart/2005/8/layout/vList2"/>
    <dgm:cxn modelId="{FA0148BE-A1CF-4D62-BEDA-A171CDF9ADE8}" type="presParOf" srcId="{D7CAC152-ED53-4613-AE27-FBDA9D671524}" destId="{16D0D4CD-1EF7-4905-9C2A-E29990F2CDF8}" srcOrd="1" destOrd="0" presId="urn:microsoft.com/office/officeart/2005/8/layout/vList2"/>
    <dgm:cxn modelId="{69992B38-1CD5-43FD-A323-85BED10CE9A5}" type="presParOf" srcId="{D7CAC152-ED53-4613-AE27-FBDA9D671524}" destId="{DCC9EAF3-BCEA-47B5-8F5A-EBC0A6C0C3B7}" srcOrd="2" destOrd="0" presId="urn:microsoft.com/office/officeart/2005/8/layout/vList2"/>
    <dgm:cxn modelId="{EC0F15F2-6090-424F-9AD6-872F64CFEEE7}" type="presParOf" srcId="{D7CAC152-ED53-4613-AE27-FBDA9D671524}" destId="{D17357B2-3856-479B-A510-42CF1E288952}" srcOrd="3" destOrd="0" presId="urn:microsoft.com/office/officeart/2005/8/layout/vList2"/>
    <dgm:cxn modelId="{BD6A66D8-6D37-49A3-B836-9A6E44B317A6}" type="presParOf" srcId="{D7CAC152-ED53-4613-AE27-FBDA9D671524}" destId="{A9191675-4ACF-453A-A389-7F58E7B4D025}" srcOrd="4" destOrd="0" presId="urn:microsoft.com/office/officeart/2005/8/layout/vList2"/>
    <dgm:cxn modelId="{0772BF24-B668-40D3-BCAD-D57F10BD3703}" type="presParOf" srcId="{D7CAC152-ED53-4613-AE27-FBDA9D671524}" destId="{DE77202E-EDEE-4B40-97BC-13151A28E2C9}"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FE7D3C-65BF-4E10-8533-802CFEB3C40A}" type="doc">
      <dgm:prSet loTypeId="urn:microsoft.com/office/officeart/2005/8/layout/vList2" loCatId="list" qsTypeId="urn:microsoft.com/office/officeart/2005/8/quickstyle/simple1" qsCatId="simple" csTypeId="urn:microsoft.com/office/officeart/2005/8/colors/accent5_2" csCatId="accent5" phldr="1"/>
      <dgm:spPr/>
      <dgm:t>
        <a:bodyPr/>
        <a:lstStyle/>
        <a:p>
          <a:endParaRPr lang="en-US"/>
        </a:p>
      </dgm:t>
    </dgm:pt>
    <dgm:pt modelId="{B8BFDA91-F37C-4F4F-B0E2-922D3F8B27A6}">
      <dgm:prSet phldrT="[Text]">
        <dgm:style>
          <a:lnRef idx="0">
            <a:scrgbClr r="0" g="0" b="0"/>
          </a:lnRef>
          <a:fillRef idx="0">
            <a:scrgbClr r="0" g="0" b="0"/>
          </a:fillRef>
          <a:effectRef idx="0">
            <a:scrgbClr r="0" g="0" b="0"/>
          </a:effectRef>
          <a:fontRef idx="minor">
            <a:schemeClr val="lt1"/>
          </a:fontRef>
        </dgm:style>
      </dgm:prSet>
      <dgm:spPr>
        <a:solidFill>
          <a:schemeClr val="accent1">
            <a:alpha val="50000"/>
          </a:schemeClr>
        </a:solidFill>
        <a:ln>
          <a:noFill/>
        </a:ln>
      </dgm:spPr>
      <dgm:t>
        <a:bodyPr/>
        <a:lstStyle/>
        <a:p>
          <a:r>
            <a:rPr lang="en-US" b="1" dirty="0"/>
            <a:t>Queue-Based Simulation</a:t>
          </a:r>
          <a:endParaRPr lang="en-US" dirty="0"/>
        </a:p>
      </dgm:t>
    </dgm:pt>
    <dgm:pt modelId="{1508CFDB-BAF3-4646-9493-3CB412363AE9}" type="parTrans" cxnId="{E6B5711A-EC02-41A4-A5DE-BA51B7135A69}">
      <dgm:prSet/>
      <dgm:spPr/>
      <dgm:t>
        <a:bodyPr/>
        <a:lstStyle/>
        <a:p>
          <a:endParaRPr lang="en-US"/>
        </a:p>
      </dgm:t>
    </dgm:pt>
    <dgm:pt modelId="{95920C98-5E80-4368-A33B-BBEDC24310B8}" type="sibTrans" cxnId="{E6B5711A-EC02-41A4-A5DE-BA51B7135A69}">
      <dgm:prSet/>
      <dgm:spPr/>
      <dgm:t>
        <a:bodyPr/>
        <a:lstStyle/>
        <a:p>
          <a:endParaRPr lang="en-US"/>
        </a:p>
      </dgm:t>
    </dgm:pt>
    <dgm:pt modelId="{666BA634-7854-4301-A5A5-B7545784BFA9}">
      <dgm:prSet phldrT="[Text]"/>
      <dgm:spPr/>
      <dgm:t>
        <a:bodyPr/>
        <a:lstStyle/>
        <a:p>
          <a:r>
            <a:rPr lang="en-US">
              <a:solidFill>
                <a:srgbClr val="002060"/>
              </a:solidFill>
            </a:rPr>
            <a:t>The current simulation is fully queue-based, where patients acquire resources based strictly on real-time availability</a:t>
          </a:r>
          <a:endParaRPr lang="en-US" dirty="0">
            <a:solidFill>
              <a:srgbClr val="002060"/>
            </a:solidFill>
          </a:endParaRPr>
        </a:p>
      </dgm:t>
    </dgm:pt>
    <dgm:pt modelId="{DA91B1C9-2CDA-4758-B2A1-2B2FE13E7E26}" type="parTrans" cxnId="{BEB41F3E-8E25-449E-AEEE-270E29DB159D}">
      <dgm:prSet/>
      <dgm:spPr/>
      <dgm:t>
        <a:bodyPr/>
        <a:lstStyle/>
        <a:p>
          <a:endParaRPr lang="en-US"/>
        </a:p>
      </dgm:t>
    </dgm:pt>
    <dgm:pt modelId="{0C30D46C-1240-4A4A-9C26-845DC4A3F2FA}" type="sibTrans" cxnId="{BEB41F3E-8E25-449E-AEEE-270E29DB159D}">
      <dgm:prSet/>
      <dgm:spPr/>
      <dgm:t>
        <a:bodyPr/>
        <a:lstStyle/>
        <a:p>
          <a:endParaRPr lang="en-US"/>
        </a:p>
      </dgm:t>
    </dgm:pt>
    <dgm:pt modelId="{2F74F869-EBF1-4718-9607-7963838B9F65}">
      <dgm:prSet phldrT="[Text]">
        <dgm:style>
          <a:lnRef idx="0">
            <a:scrgbClr r="0" g="0" b="0"/>
          </a:lnRef>
          <a:fillRef idx="0">
            <a:scrgbClr r="0" g="0" b="0"/>
          </a:fillRef>
          <a:effectRef idx="0">
            <a:scrgbClr r="0" g="0" b="0"/>
          </a:effectRef>
          <a:fontRef idx="minor">
            <a:schemeClr val="lt1"/>
          </a:fontRef>
        </dgm:style>
      </dgm:prSet>
      <dgm:spPr>
        <a:solidFill>
          <a:schemeClr val="accent1">
            <a:alpha val="50000"/>
          </a:schemeClr>
        </a:solidFill>
        <a:ln>
          <a:noFill/>
        </a:ln>
      </dgm:spPr>
      <dgm:t>
        <a:bodyPr/>
        <a:lstStyle/>
        <a:p>
          <a:r>
            <a:rPr lang="en-US" b="1" dirty="0"/>
            <a:t>Actual Wait Times</a:t>
          </a:r>
        </a:p>
      </dgm:t>
    </dgm:pt>
    <dgm:pt modelId="{399905C5-76A7-4977-8FF7-C6AB770518FE}" type="parTrans" cxnId="{2720D42F-601C-48F2-A096-FFC6F702BB71}">
      <dgm:prSet/>
      <dgm:spPr/>
      <dgm:t>
        <a:bodyPr/>
        <a:lstStyle/>
        <a:p>
          <a:endParaRPr lang="en-US"/>
        </a:p>
      </dgm:t>
    </dgm:pt>
    <dgm:pt modelId="{01DCE118-DA57-4975-805D-CBF1597B14FA}" type="sibTrans" cxnId="{2720D42F-601C-48F2-A096-FFC6F702BB71}">
      <dgm:prSet/>
      <dgm:spPr/>
      <dgm:t>
        <a:bodyPr/>
        <a:lstStyle/>
        <a:p>
          <a:endParaRPr lang="en-US"/>
        </a:p>
      </dgm:t>
    </dgm:pt>
    <dgm:pt modelId="{E66E4BA6-B52E-4376-971C-6D4AF8440617}">
      <dgm:prSet phldrT="[Text]"/>
      <dgm:spPr/>
      <dgm:t>
        <a:bodyPr/>
        <a:lstStyle/>
        <a:p>
          <a:r>
            <a:rPr lang="en-US">
              <a:solidFill>
                <a:srgbClr val="002060"/>
              </a:solidFill>
            </a:rPr>
            <a:t>All wait times are based on patients' actual waiting for resources rather than being drawn from predefined distributions.</a:t>
          </a:r>
          <a:endParaRPr lang="en-US" dirty="0">
            <a:solidFill>
              <a:srgbClr val="002060"/>
            </a:solidFill>
          </a:endParaRPr>
        </a:p>
      </dgm:t>
    </dgm:pt>
    <dgm:pt modelId="{BF3945EC-2BEF-4935-9579-4FE19F766DCC}" type="parTrans" cxnId="{AAA2FF15-DA34-460A-AD44-BCC1381DAAEB}">
      <dgm:prSet/>
      <dgm:spPr/>
      <dgm:t>
        <a:bodyPr/>
        <a:lstStyle/>
        <a:p>
          <a:endParaRPr lang="en-US"/>
        </a:p>
      </dgm:t>
    </dgm:pt>
    <dgm:pt modelId="{82FE38EA-1500-4EEC-BCCA-33BDB1985FB7}" type="sibTrans" cxnId="{AAA2FF15-DA34-460A-AD44-BCC1381DAAEB}">
      <dgm:prSet/>
      <dgm:spPr/>
      <dgm:t>
        <a:bodyPr/>
        <a:lstStyle/>
        <a:p>
          <a:endParaRPr lang="en-US"/>
        </a:p>
      </dgm:t>
    </dgm:pt>
    <dgm:pt modelId="{CD073DFC-1EC8-442F-A94A-70B6018C3927}">
      <dgm:prSet phldrT="[Text]">
        <dgm:style>
          <a:lnRef idx="0">
            <a:scrgbClr r="0" g="0" b="0"/>
          </a:lnRef>
          <a:fillRef idx="0">
            <a:scrgbClr r="0" g="0" b="0"/>
          </a:fillRef>
          <a:effectRef idx="0">
            <a:scrgbClr r="0" g="0" b="0"/>
          </a:effectRef>
          <a:fontRef idx="minor">
            <a:schemeClr val="lt1"/>
          </a:fontRef>
        </dgm:style>
      </dgm:prSet>
      <dgm:spPr>
        <a:solidFill>
          <a:schemeClr val="accent1">
            <a:alpha val="50000"/>
          </a:schemeClr>
        </a:solidFill>
        <a:ln>
          <a:noFill/>
        </a:ln>
      </dgm:spPr>
      <dgm:t>
        <a:bodyPr/>
        <a:lstStyle/>
        <a:p>
          <a:r>
            <a:rPr lang="en-US" b="1" dirty="0"/>
            <a:t>Simplified Inputs</a:t>
          </a:r>
        </a:p>
      </dgm:t>
    </dgm:pt>
    <dgm:pt modelId="{D5DDE141-C0B5-4F34-B4B8-F6633421F2AD}" type="parTrans" cxnId="{1A3E5255-A89C-4B91-B863-F073D9121466}">
      <dgm:prSet/>
      <dgm:spPr/>
      <dgm:t>
        <a:bodyPr/>
        <a:lstStyle/>
        <a:p>
          <a:endParaRPr lang="en-US"/>
        </a:p>
      </dgm:t>
    </dgm:pt>
    <dgm:pt modelId="{D3C07487-3040-48A2-936D-2003F3006CF6}" type="sibTrans" cxnId="{1A3E5255-A89C-4B91-B863-F073D9121466}">
      <dgm:prSet/>
      <dgm:spPr/>
      <dgm:t>
        <a:bodyPr/>
        <a:lstStyle/>
        <a:p>
          <a:endParaRPr lang="en-US"/>
        </a:p>
      </dgm:t>
    </dgm:pt>
    <dgm:pt modelId="{B73346BB-15F5-447C-8748-30E88A21A5FA}">
      <dgm:prSet phldrT="[Text]"/>
      <dgm:spPr/>
      <dgm:t>
        <a:bodyPr/>
        <a:lstStyle/>
        <a:p>
          <a:r>
            <a:rPr lang="en-US" dirty="0">
              <a:solidFill>
                <a:srgbClr val="002060"/>
              </a:solidFill>
            </a:rPr>
            <a:t>The only inputs required are patient arrival rates and treatment time distributions, streamlining the model for greater accuracy and ease of use. </a:t>
          </a:r>
        </a:p>
      </dgm:t>
    </dgm:pt>
    <dgm:pt modelId="{12512E62-501F-4C95-BA5E-F94E76A3A8DD}" type="parTrans" cxnId="{C76C8B66-4CFE-4B78-9D6E-596FE8B6F741}">
      <dgm:prSet/>
      <dgm:spPr/>
      <dgm:t>
        <a:bodyPr/>
        <a:lstStyle/>
        <a:p>
          <a:endParaRPr lang="en-US"/>
        </a:p>
      </dgm:t>
    </dgm:pt>
    <dgm:pt modelId="{7AD71108-E025-425A-AC65-557E602D9AF2}" type="sibTrans" cxnId="{C76C8B66-4CFE-4B78-9D6E-596FE8B6F741}">
      <dgm:prSet/>
      <dgm:spPr/>
      <dgm:t>
        <a:bodyPr/>
        <a:lstStyle/>
        <a:p>
          <a:endParaRPr lang="en-US"/>
        </a:p>
      </dgm:t>
    </dgm:pt>
    <dgm:pt modelId="{D7CAC152-ED53-4613-AE27-FBDA9D671524}" type="pres">
      <dgm:prSet presAssocID="{B1FE7D3C-65BF-4E10-8533-802CFEB3C40A}" presName="linear" presStyleCnt="0">
        <dgm:presLayoutVars>
          <dgm:animLvl val="lvl"/>
          <dgm:resizeHandles val="exact"/>
        </dgm:presLayoutVars>
      </dgm:prSet>
      <dgm:spPr/>
    </dgm:pt>
    <dgm:pt modelId="{2030ED94-F79B-48B7-BC11-D65E2CF9B14D}" type="pres">
      <dgm:prSet presAssocID="{B8BFDA91-F37C-4F4F-B0E2-922D3F8B27A6}" presName="parentText" presStyleLbl="node1" presStyleIdx="0" presStyleCnt="3">
        <dgm:presLayoutVars>
          <dgm:chMax val="0"/>
          <dgm:bulletEnabled val="1"/>
        </dgm:presLayoutVars>
      </dgm:prSet>
      <dgm:spPr/>
    </dgm:pt>
    <dgm:pt modelId="{16D0D4CD-1EF7-4905-9C2A-E29990F2CDF8}" type="pres">
      <dgm:prSet presAssocID="{B8BFDA91-F37C-4F4F-B0E2-922D3F8B27A6}" presName="childText" presStyleLbl="revTx" presStyleIdx="0" presStyleCnt="3">
        <dgm:presLayoutVars>
          <dgm:bulletEnabled val="1"/>
        </dgm:presLayoutVars>
      </dgm:prSet>
      <dgm:spPr/>
    </dgm:pt>
    <dgm:pt modelId="{DCC9EAF3-BCEA-47B5-8F5A-EBC0A6C0C3B7}" type="pres">
      <dgm:prSet presAssocID="{2F74F869-EBF1-4718-9607-7963838B9F65}" presName="parentText" presStyleLbl="node1" presStyleIdx="1" presStyleCnt="3">
        <dgm:presLayoutVars>
          <dgm:chMax val="0"/>
          <dgm:bulletEnabled val="1"/>
        </dgm:presLayoutVars>
      </dgm:prSet>
      <dgm:spPr/>
    </dgm:pt>
    <dgm:pt modelId="{D17357B2-3856-479B-A510-42CF1E288952}" type="pres">
      <dgm:prSet presAssocID="{2F74F869-EBF1-4718-9607-7963838B9F65}" presName="childText" presStyleLbl="revTx" presStyleIdx="1" presStyleCnt="3">
        <dgm:presLayoutVars>
          <dgm:bulletEnabled val="1"/>
        </dgm:presLayoutVars>
      </dgm:prSet>
      <dgm:spPr/>
    </dgm:pt>
    <dgm:pt modelId="{A9191675-4ACF-453A-A389-7F58E7B4D025}" type="pres">
      <dgm:prSet presAssocID="{CD073DFC-1EC8-442F-A94A-70B6018C3927}" presName="parentText" presStyleLbl="node1" presStyleIdx="2" presStyleCnt="3">
        <dgm:presLayoutVars>
          <dgm:chMax val="0"/>
          <dgm:bulletEnabled val="1"/>
        </dgm:presLayoutVars>
      </dgm:prSet>
      <dgm:spPr/>
    </dgm:pt>
    <dgm:pt modelId="{DE77202E-EDEE-4B40-97BC-13151A28E2C9}" type="pres">
      <dgm:prSet presAssocID="{CD073DFC-1EC8-442F-A94A-70B6018C3927}" presName="childText" presStyleLbl="revTx" presStyleIdx="2" presStyleCnt="3">
        <dgm:presLayoutVars>
          <dgm:bulletEnabled val="1"/>
        </dgm:presLayoutVars>
      </dgm:prSet>
      <dgm:spPr/>
    </dgm:pt>
  </dgm:ptLst>
  <dgm:cxnLst>
    <dgm:cxn modelId="{62C3A714-CB62-4F67-ACBF-45C54792B1E8}" type="presOf" srcId="{B73346BB-15F5-447C-8748-30E88A21A5FA}" destId="{DE77202E-EDEE-4B40-97BC-13151A28E2C9}" srcOrd="0" destOrd="0" presId="urn:microsoft.com/office/officeart/2005/8/layout/vList2"/>
    <dgm:cxn modelId="{AAA2FF15-DA34-460A-AD44-BCC1381DAAEB}" srcId="{2F74F869-EBF1-4718-9607-7963838B9F65}" destId="{E66E4BA6-B52E-4376-971C-6D4AF8440617}" srcOrd="0" destOrd="0" parTransId="{BF3945EC-2BEF-4935-9579-4FE19F766DCC}" sibTransId="{82FE38EA-1500-4EEC-BCCA-33BDB1985FB7}"/>
    <dgm:cxn modelId="{E6B5711A-EC02-41A4-A5DE-BA51B7135A69}" srcId="{B1FE7D3C-65BF-4E10-8533-802CFEB3C40A}" destId="{B8BFDA91-F37C-4F4F-B0E2-922D3F8B27A6}" srcOrd="0" destOrd="0" parTransId="{1508CFDB-BAF3-4646-9493-3CB412363AE9}" sibTransId="{95920C98-5E80-4368-A33B-BBEDC24310B8}"/>
    <dgm:cxn modelId="{AC12FC24-5FAE-4857-B5F4-19BACAFAD036}" type="presOf" srcId="{2F74F869-EBF1-4718-9607-7963838B9F65}" destId="{DCC9EAF3-BCEA-47B5-8F5A-EBC0A6C0C3B7}" srcOrd="0" destOrd="0" presId="urn:microsoft.com/office/officeart/2005/8/layout/vList2"/>
    <dgm:cxn modelId="{2720D42F-601C-48F2-A096-FFC6F702BB71}" srcId="{B1FE7D3C-65BF-4E10-8533-802CFEB3C40A}" destId="{2F74F869-EBF1-4718-9607-7963838B9F65}" srcOrd="1" destOrd="0" parTransId="{399905C5-76A7-4977-8FF7-C6AB770518FE}" sibTransId="{01DCE118-DA57-4975-805D-CBF1597B14FA}"/>
    <dgm:cxn modelId="{BEB41F3E-8E25-449E-AEEE-270E29DB159D}" srcId="{B8BFDA91-F37C-4F4F-B0E2-922D3F8B27A6}" destId="{666BA634-7854-4301-A5A5-B7545784BFA9}" srcOrd="0" destOrd="0" parTransId="{DA91B1C9-2CDA-4758-B2A1-2B2FE13E7E26}" sibTransId="{0C30D46C-1240-4A4A-9C26-845DC4A3F2FA}"/>
    <dgm:cxn modelId="{C76C8B66-4CFE-4B78-9D6E-596FE8B6F741}" srcId="{CD073DFC-1EC8-442F-A94A-70B6018C3927}" destId="{B73346BB-15F5-447C-8748-30E88A21A5FA}" srcOrd="0" destOrd="0" parTransId="{12512E62-501F-4C95-BA5E-F94E76A3A8DD}" sibTransId="{7AD71108-E025-425A-AC65-557E602D9AF2}"/>
    <dgm:cxn modelId="{585CC848-7E15-418C-BBF7-1A1DD0058BB6}" type="presOf" srcId="{B8BFDA91-F37C-4F4F-B0E2-922D3F8B27A6}" destId="{2030ED94-F79B-48B7-BC11-D65E2CF9B14D}" srcOrd="0" destOrd="0" presId="urn:microsoft.com/office/officeart/2005/8/layout/vList2"/>
    <dgm:cxn modelId="{FC9CBE72-2A0D-4E07-A484-2E0CA9C5D776}" type="presOf" srcId="{E66E4BA6-B52E-4376-971C-6D4AF8440617}" destId="{D17357B2-3856-479B-A510-42CF1E288952}" srcOrd="0" destOrd="0" presId="urn:microsoft.com/office/officeart/2005/8/layout/vList2"/>
    <dgm:cxn modelId="{1A3E5255-A89C-4B91-B863-F073D9121466}" srcId="{B1FE7D3C-65BF-4E10-8533-802CFEB3C40A}" destId="{CD073DFC-1EC8-442F-A94A-70B6018C3927}" srcOrd="2" destOrd="0" parTransId="{D5DDE141-C0B5-4F34-B4B8-F6633421F2AD}" sibTransId="{D3C07487-3040-48A2-936D-2003F3006CF6}"/>
    <dgm:cxn modelId="{0ED43A92-39C1-4514-8237-2D326AA20890}" type="presOf" srcId="{B1FE7D3C-65BF-4E10-8533-802CFEB3C40A}" destId="{D7CAC152-ED53-4613-AE27-FBDA9D671524}" srcOrd="0" destOrd="0" presId="urn:microsoft.com/office/officeart/2005/8/layout/vList2"/>
    <dgm:cxn modelId="{8DE57AA4-8AA3-41B1-AF5A-BBF3DF062280}" type="presOf" srcId="{666BA634-7854-4301-A5A5-B7545784BFA9}" destId="{16D0D4CD-1EF7-4905-9C2A-E29990F2CDF8}" srcOrd="0" destOrd="0" presId="urn:microsoft.com/office/officeart/2005/8/layout/vList2"/>
    <dgm:cxn modelId="{A0B1F8EE-0F9C-40D1-BE96-D29D8136533B}" type="presOf" srcId="{CD073DFC-1EC8-442F-A94A-70B6018C3927}" destId="{A9191675-4ACF-453A-A389-7F58E7B4D025}" srcOrd="0" destOrd="0" presId="urn:microsoft.com/office/officeart/2005/8/layout/vList2"/>
    <dgm:cxn modelId="{809C8B93-C8E7-4B79-B60F-43F7FA3D29E8}" type="presParOf" srcId="{D7CAC152-ED53-4613-AE27-FBDA9D671524}" destId="{2030ED94-F79B-48B7-BC11-D65E2CF9B14D}" srcOrd="0" destOrd="0" presId="urn:microsoft.com/office/officeart/2005/8/layout/vList2"/>
    <dgm:cxn modelId="{FA0148BE-A1CF-4D62-BEDA-A171CDF9ADE8}" type="presParOf" srcId="{D7CAC152-ED53-4613-AE27-FBDA9D671524}" destId="{16D0D4CD-1EF7-4905-9C2A-E29990F2CDF8}" srcOrd="1" destOrd="0" presId="urn:microsoft.com/office/officeart/2005/8/layout/vList2"/>
    <dgm:cxn modelId="{69992B38-1CD5-43FD-A323-85BED10CE9A5}" type="presParOf" srcId="{D7CAC152-ED53-4613-AE27-FBDA9D671524}" destId="{DCC9EAF3-BCEA-47B5-8F5A-EBC0A6C0C3B7}" srcOrd="2" destOrd="0" presId="urn:microsoft.com/office/officeart/2005/8/layout/vList2"/>
    <dgm:cxn modelId="{EC0F15F2-6090-424F-9AD6-872F64CFEEE7}" type="presParOf" srcId="{D7CAC152-ED53-4613-AE27-FBDA9D671524}" destId="{D17357B2-3856-479B-A510-42CF1E288952}" srcOrd="3" destOrd="0" presId="urn:microsoft.com/office/officeart/2005/8/layout/vList2"/>
    <dgm:cxn modelId="{BD6A66D8-6D37-49A3-B836-9A6E44B317A6}" type="presParOf" srcId="{D7CAC152-ED53-4613-AE27-FBDA9D671524}" destId="{A9191675-4ACF-453A-A389-7F58E7B4D025}" srcOrd="4" destOrd="0" presId="urn:microsoft.com/office/officeart/2005/8/layout/vList2"/>
    <dgm:cxn modelId="{0772BF24-B668-40D3-BCAD-D57F10BD3703}" type="presParOf" srcId="{D7CAC152-ED53-4613-AE27-FBDA9D671524}" destId="{DE77202E-EDEE-4B40-97BC-13151A28E2C9}"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30ED94-F79B-48B7-BC11-D65E2CF9B14D}">
      <dsp:nvSpPr>
        <dsp:cNvPr id="0" name=""/>
        <dsp:cNvSpPr/>
      </dsp:nvSpPr>
      <dsp:spPr>
        <a:xfrm>
          <a:off x="0" y="229839"/>
          <a:ext cx="5641298" cy="43348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Detailed Process Modeling</a:t>
          </a:r>
          <a:endParaRPr lang="en-US" sz="1900" kern="1200" dirty="0"/>
        </a:p>
      </dsp:txBody>
      <dsp:txXfrm>
        <a:off x="21161" y="251000"/>
        <a:ext cx="5598976" cy="391163"/>
      </dsp:txXfrm>
    </dsp:sp>
    <dsp:sp modelId="{16D0D4CD-1EF7-4905-9C2A-E29990F2CDF8}">
      <dsp:nvSpPr>
        <dsp:cNvPr id="0" name=""/>
        <dsp:cNvSpPr/>
      </dsp:nvSpPr>
      <dsp:spPr>
        <a:xfrm>
          <a:off x="0" y="663324"/>
          <a:ext cx="5641298"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11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solidFill>
                <a:srgbClr val="002060"/>
              </a:solidFill>
            </a:rPr>
            <a:t>Simulations capture the complexity of hospital workflows, offering a more granular view of operations compared to predictive models that focus on specific outcomes.</a:t>
          </a:r>
        </a:p>
      </dsp:txBody>
      <dsp:txXfrm>
        <a:off x="0" y="663324"/>
        <a:ext cx="5641298" cy="629280"/>
      </dsp:txXfrm>
    </dsp:sp>
    <dsp:sp modelId="{DCC9EAF3-BCEA-47B5-8F5A-EBC0A6C0C3B7}">
      <dsp:nvSpPr>
        <dsp:cNvPr id="0" name=""/>
        <dsp:cNvSpPr/>
      </dsp:nvSpPr>
      <dsp:spPr>
        <a:xfrm>
          <a:off x="0" y="1292605"/>
          <a:ext cx="5641298" cy="43348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Scenario Testing</a:t>
          </a:r>
        </a:p>
      </dsp:txBody>
      <dsp:txXfrm>
        <a:off x="21161" y="1313766"/>
        <a:ext cx="5598976" cy="391163"/>
      </dsp:txXfrm>
    </dsp:sp>
    <dsp:sp modelId="{D17357B2-3856-479B-A510-42CF1E288952}">
      <dsp:nvSpPr>
        <dsp:cNvPr id="0" name=""/>
        <dsp:cNvSpPr/>
      </dsp:nvSpPr>
      <dsp:spPr>
        <a:xfrm>
          <a:off x="0" y="1726090"/>
          <a:ext cx="5641298"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11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solidFill>
                <a:srgbClr val="002060"/>
              </a:solidFill>
            </a:rPr>
            <a:t>Simulations enable "what-if" scenario testing, allowing hospitals to experiment with interventions without disrupting operations—something AI models may not offer.</a:t>
          </a:r>
        </a:p>
      </dsp:txBody>
      <dsp:txXfrm>
        <a:off x="0" y="1726090"/>
        <a:ext cx="5641298" cy="629280"/>
      </dsp:txXfrm>
    </dsp:sp>
    <dsp:sp modelId="{A9191675-4ACF-453A-A389-7F58E7B4D025}">
      <dsp:nvSpPr>
        <dsp:cNvPr id="0" name=""/>
        <dsp:cNvSpPr/>
      </dsp:nvSpPr>
      <dsp:spPr>
        <a:xfrm>
          <a:off x="0" y="2355370"/>
          <a:ext cx="5641298" cy="43348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Complementary to AI</a:t>
          </a:r>
        </a:p>
      </dsp:txBody>
      <dsp:txXfrm>
        <a:off x="21161" y="2376531"/>
        <a:ext cx="5598976" cy="391163"/>
      </dsp:txXfrm>
    </dsp:sp>
    <dsp:sp modelId="{DE77202E-EDEE-4B40-97BC-13151A28E2C9}">
      <dsp:nvSpPr>
        <dsp:cNvPr id="0" name=""/>
        <dsp:cNvSpPr/>
      </dsp:nvSpPr>
      <dsp:spPr>
        <a:xfrm>
          <a:off x="0" y="2788855"/>
          <a:ext cx="5641298" cy="4326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11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solidFill>
                <a:srgbClr val="002060"/>
              </a:solidFill>
            </a:rPr>
            <a:t>Simulations test AI insights in realistic environments, refining decision-making through dynamic scenario testing.</a:t>
          </a:r>
        </a:p>
      </dsp:txBody>
      <dsp:txXfrm>
        <a:off x="0" y="2788855"/>
        <a:ext cx="5641298" cy="4326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30ED94-F79B-48B7-BC11-D65E2CF9B14D}">
      <dsp:nvSpPr>
        <dsp:cNvPr id="0" name=""/>
        <dsp:cNvSpPr/>
      </dsp:nvSpPr>
      <dsp:spPr>
        <a:xfrm>
          <a:off x="0" y="16562"/>
          <a:ext cx="5641298" cy="456300"/>
        </a:xfrm>
        <a:prstGeom prst="roundRect">
          <a:avLst/>
        </a:prstGeom>
        <a:solidFill>
          <a:schemeClr val="accent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Queue-Based Simulation</a:t>
          </a:r>
          <a:endParaRPr lang="en-US" sz="2000" kern="1200" dirty="0"/>
        </a:p>
      </dsp:txBody>
      <dsp:txXfrm>
        <a:off x="22275" y="38837"/>
        <a:ext cx="5596748" cy="411750"/>
      </dsp:txXfrm>
    </dsp:sp>
    <dsp:sp modelId="{16D0D4CD-1EF7-4905-9C2A-E29990F2CDF8}">
      <dsp:nvSpPr>
        <dsp:cNvPr id="0" name=""/>
        <dsp:cNvSpPr/>
      </dsp:nvSpPr>
      <dsp:spPr>
        <a:xfrm>
          <a:off x="0" y="472862"/>
          <a:ext cx="5641298"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11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a:solidFill>
                <a:srgbClr val="002060"/>
              </a:solidFill>
            </a:rPr>
            <a:t>The current simulation is fully queue-based, where patients acquire resources based strictly on real-time availability</a:t>
          </a:r>
          <a:endParaRPr lang="en-US" sz="1600" kern="1200" dirty="0">
            <a:solidFill>
              <a:srgbClr val="002060"/>
            </a:solidFill>
          </a:endParaRPr>
        </a:p>
      </dsp:txBody>
      <dsp:txXfrm>
        <a:off x="0" y="472862"/>
        <a:ext cx="5641298" cy="683100"/>
      </dsp:txXfrm>
    </dsp:sp>
    <dsp:sp modelId="{DCC9EAF3-BCEA-47B5-8F5A-EBC0A6C0C3B7}">
      <dsp:nvSpPr>
        <dsp:cNvPr id="0" name=""/>
        <dsp:cNvSpPr/>
      </dsp:nvSpPr>
      <dsp:spPr>
        <a:xfrm>
          <a:off x="0" y="1155962"/>
          <a:ext cx="5641298" cy="456300"/>
        </a:xfrm>
        <a:prstGeom prst="roundRect">
          <a:avLst/>
        </a:prstGeom>
        <a:solidFill>
          <a:schemeClr val="accent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Actual Wait Times</a:t>
          </a:r>
        </a:p>
      </dsp:txBody>
      <dsp:txXfrm>
        <a:off x="22275" y="1178237"/>
        <a:ext cx="5596748" cy="411750"/>
      </dsp:txXfrm>
    </dsp:sp>
    <dsp:sp modelId="{D17357B2-3856-479B-A510-42CF1E288952}">
      <dsp:nvSpPr>
        <dsp:cNvPr id="0" name=""/>
        <dsp:cNvSpPr/>
      </dsp:nvSpPr>
      <dsp:spPr>
        <a:xfrm>
          <a:off x="0" y="1612262"/>
          <a:ext cx="5641298"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11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a:solidFill>
                <a:srgbClr val="002060"/>
              </a:solidFill>
            </a:rPr>
            <a:t>All wait times are based on patients' actual waiting for resources rather than being drawn from predefined distributions.</a:t>
          </a:r>
          <a:endParaRPr lang="en-US" sz="1600" kern="1200" dirty="0">
            <a:solidFill>
              <a:srgbClr val="002060"/>
            </a:solidFill>
          </a:endParaRPr>
        </a:p>
      </dsp:txBody>
      <dsp:txXfrm>
        <a:off x="0" y="1612262"/>
        <a:ext cx="5641298" cy="683100"/>
      </dsp:txXfrm>
    </dsp:sp>
    <dsp:sp modelId="{A9191675-4ACF-453A-A389-7F58E7B4D025}">
      <dsp:nvSpPr>
        <dsp:cNvPr id="0" name=""/>
        <dsp:cNvSpPr/>
      </dsp:nvSpPr>
      <dsp:spPr>
        <a:xfrm>
          <a:off x="0" y="2295362"/>
          <a:ext cx="5641298" cy="456300"/>
        </a:xfrm>
        <a:prstGeom prst="roundRect">
          <a:avLst/>
        </a:prstGeom>
        <a:solidFill>
          <a:schemeClr val="accent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Simplified Inputs</a:t>
          </a:r>
        </a:p>
      </dsp:txBody>
      <dsp:txXfrm>
        <a:off x="22275" y="2317637"/>
        <a:ext cx="5596748" cy="411750"/>
      </dsp:txXfrm>
    </dsp:sp>
    <dsp:sp modelId="{DE77202E-EDEE-4B40-97BC-13151A28E2C9}">
      <dsp:nvSpPr>
        <dsp:cNvPr id="0" name=""/>
        <dsp:cNvSpPr/>
      </dsp:nvSpPr>
      <dsp:spPr>
        <a:xfrm>
          <a:off x="0" y="2751662"/>
          <a:ext cx="5641298"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11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rgbClr val="002060"/>
              </a:solidFill>
            </a:rPr>
            <a:t>The only inputs required are patient arrival rates and treatment time distributions, streamlining the model for greater accuracy and ease of use. </a:t>
          </a:r>
        </a:p>
      </dsp:txBody>
      <dsp:txXfrm>
        <a:off x="0" y="2751662"/>
        <a:ext cx="5641298" cy="6831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726b1863ef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726b1863ef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726b1863ef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726b1863ef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indent="-361950">
              <a:lnSpc>
                <a:spcPct val="90000"/>
              </a:lnSpc>
              <a:spcBef>
                <a:spcPts val="1000"/>
              </a:spcBef>
              <a:buFont typeface="Calibri,Sans-Serif"/>
              <a:buChar char="•"/>
            </a:pPr>
            <a:r>
              <a:rPr lang="en" b="1" dirty="0"/>
              <a:t>2023 CLARITY Data Set</a:t>
            </a:r>
            <a:endParaRPr lang="en-US" dirty="0"/>
          </a:p>
          <a:p>
            <a:pPr lvl="1" indent="-361950">
              <a:lnSpc>
                <a:spcPct val="90000"/>
              </a:lnSpc>
              <a:spcBef>
                <a:spcPts val="1000"/>
              </a:spcBef>
              <a:buFont typeface="Calibri,Sans-Serif"/>
              <a:buChar char="•"/>
            </a:pPr>
            <a:r>
              <a:rPr lang="en" b="1" dirty="0"/>
              <a:t>Inpatient data during ED stay</a:t>
            </a:r>
            <a:endParaRPr lang="en-US" dirty="0"/>
          </a:p>
          <a:p>
            <a:pPr lvl="1" indent="-361950">
              <a:lnSpc>
                <a:spcPct val="90000"/>
              </a:lnSpc>
              <a:spcBef>
                <a:spcPts val="1000"/>
              </a:spcBef>
              <a:buFont typeface="Calibri,Sans-Serif"/>
              <a:buChar char="•"/>
            </a:pPr>
            <a:r>
              <a:rPr lang="en" b="1" dirty="0"/>
              <a:t>Day of the Week, Hour of the Day, Triage Risk Level and Time Between Checkpoints</a:t>
            </a:r>
            <a:endParaRPr lang="en-US" dirty="0"/>
          </a:p>
          <a:p>
            <a:pPr marL="1085850" lvl="1" indent="-361950">
              <a:lnSpc>
                <a:spcPct val="90000"/>
              </a:lnSpc>
              <a:spcBef>
                <a:spcPts val="1000"/>
              </a:spcBef>
              <a:buFont typeface="Calibri,Sans-Serif"/>
              <a:buChar char="•"/>
            </a:pPr>
            <a:r>
              <a:rPr lang="en" b="1" dirty="0"/>
              <a:t>No of patients admitted to the hospital and their LOS</a:t>
            </a:r>
            <a:endParaRPr lang="en" dirty="0"/>
          </a:p>
          <a:p>
            <a:pPr indent="-361950">
              <a:lnSpc>
                <a:spcPct val="90000"/>
              </a:lnSpc>
              <a:spcBef>
                <a:spcPts val="1000"/>
              </a:spcBef>
              <a:buFont typeface="Calibri,Sans-Serif"/>
              <a:buChar char="•"/>
            </a:pPr>
            <a:r>
              <a:rPr lang="en" b="1" dirty="0"/>
              <a:t>Simulated Patient Data</a:t>
            </a:r>
            <a:endParaRPr dirty="0"/>
          </a:p>
        </p:txBody>
      </p:sp>
    </p:spTree>
    <p:extLst>
      <p:ext uri="{BB962C8B-B14F-4D97-AF65-F5344CB8AC3E}">
        <p14:creationId xmlns:p14="http://schemas.microsoft.com/office/powerpoint/2010/main" val="89153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726b1863ef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726b1863ef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chart illustrates the daily trends in patient arrival rates at the emergency department (ED) across different days of the week. Notably, the arrival rates peak during the daytime hours, especially between 10 AM and 2 PM on weekdays, indicating a higher demand for ED services during these times.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e44f2c016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e44f2c016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e44f2c016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e44f2c016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726b1863ef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726b1863ef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5925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26b1863ef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26b1863ef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3076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26b1863ef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26b1863ef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972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e46d0c25a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2e46d0c25a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26b1863ef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26b1863ef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0505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26b1863ef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26b1863ef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3408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726b1863ef_0_3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726b1863ef_0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726b1863ef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726b1863ef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726b1863ef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726b1863ef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26b1863ef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26b1863ef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0398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26b1863ef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26b1863ef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6559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726b1863ef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726b1863ef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indent="-361950">
              <a:lnSpc>
                <a:spcPct val="90000"/>
              </a:lnSpc>
              <a:spcBef>
                <a:spcPts val="1000"/>
              </a:spcBef>
              <a:buFont typeface="Calibri,Sans-Serif"/>
              <a:buChar char="•"/>
            </a:pPr>
            <a:r>
              <a:rPr lang="en" b="1"/>
              <a:t>2023 CLARITY Data Set</a:t>
            </a:r>
            <a:endParaRPr lang="en-US"/>
          </a:p>
          <a:p>
            <a:pPr lvl="1" indent="-361950">
              <a:lnSpc>
                <a:spcPct val="90000"/>
              </a:lnSpc>
              <a:spcBef>
                <a:spcPts val="1000"/>
              </a:spcBef>
              <a:buFont typeface="Calibri,Sans-Serif"/>
              <a:buChar char="•"/>
            </a:pPr>
            <a:r>
              <a:rPr lang="en" b="1"/>
              <a:t>Inpatient data during ED stay</a:t>
            </a:r>
            <a:endParaRPr lang="en-US"/>
          </a:p>
          <a:p>
            <a:pPr lvl="1" indent="-361950">
              <a:lnSpc>
                <a:spcPct val="90000"/>
              </a:lnSpc>
              <a:spcBef>
                <a:spcPts val="1000"/>
              </a:spcBef>
              <a:buFont typeface="Calibri,Sans-Serif"/>
              <a:buChar char="•"/>
            </a:pPr>
            <a:r>
              <a:rPr lang="en" b="1"/>
              <a:t>Day of the Week, Hour of the Day, Triage Risk Level and Time Between Checkpoints</a:t>
            </a:r>
            <a:endParaRPr lang="en-US"/>
          </a:p>
          <a:p>
            <a:pPr marL="1085850" lvl="1" indent="-361950">
              <a:lnSpc>
                <a:spcPct val="90000"/>
              </a:lnSpc>
              <a:spcBef>
                <a:spcPts val="1000"/>
              </a:spcBef>
              <a:buFont typeface="Calibri,Sans-Serif"/>
              <a:buChar char="•"/>
            </a:pPr>
            <a:r>
              <a:rPr lang="en" b="1"/>
              <a:t>No of patients admitted to the hospital and their LOS</a:t>
            </a:r>
            <a:endParaRPr lang="en"/>
          </a:p>
          <a:p>
            <a:pPr indent="-361950">
              <a:lnSpc>
                <a:spcPct val="90000"/>
              </a:lnSpc>
              <a:spcBef>
                <a:spcPts val="1000"/>
              </a:spcBef>
              <a:buFont typeface="Calibri,Sans-Serif"/>
              <a:buChar char="•"/>
            </a:pPr>
            <a:r>
              <a:rPr lang="en" b="1"/>
              <a:t>Simulated Patient Data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726b1863ef_0_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726b1863ef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726b1863ef_0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726b1863ef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Level 1: Immediate, life threatening</a:t>
            </a:r>
            <a:endParaRPr/>
          </a:p>
          <a:p>
            <a:pPr marL="0" lvl="0" indent="0" algn="l" rtl="0">
              <a:spcBef>
                <a:spcPts val="0"/>
              </a:spcBef>
              <a:spcAft>
                <a:spcPts val="0"/>
              </a:spcAft>
              <a:buClr>
                <a:schemeClr val="dk1"/>
              </a:buClr>
              <a:buSzPts val="1100"/>
              <a:buFont typeface="Arial"/>
              <a:buNone/>
            </a:pPr>
            <a:r>
              <a:rPr lang="en"/>
              <a:t>Level 2: Emergency, could become life threatening</a:t>
            </a:r>
            <a:endParaRPr/>
          </a:p>
          <a:p>
            <a:pPr marL="0" lvl="0" indent="0" algn="l" rtl="0">
              <a:spcBef>
                <a:spcPts val="0"/>
              </a:spcBef>
              <a:spcAft>
                <a:spcPts val="0"/>
              </a:spcAft>
              <a:buClr>
                <a:schemeClr val="dk1"/>
              </a:buClr>
              <a:buSzPts val="1100"/>
              <a:buFont typeface="Arial"/>
              <a:buNone/>
            </a:pPr>
            <a:r>
              <a:rPr lang="en"/>
              <a:t>Level 3: Urgent, not life threatening</a:t>
            </a:r>
            <a:endParaRPr/>
          </a:p>
          <a:p>
            <a:pPr marL="0" lvl="0" indent="0" algn="l" rtl="0">
              <a:spcBef>
                <a:spcPts val="0"/>
              </a:spcBef>
              <a:spcAft>
                <a:spcPts val="0"/>
              </a:spcAft>
              <a:buClr>
                <a:schemeClr val="dk1"/>
              </a:buClr>
              <a:buSzPts val="1100"/>
              <a:buFont typeface="Arial"/>
              <a:buNone/>
            </a:pPr>
            <a:r>
              <a:rPr lang="en"/>
              <a:t>Level 4: Semi-urgent, not life threatening</a:t>
            </a:r>
            <a:endParaRPr/>
          </a:p>
          <a:p>
            <a:pPr marL="0" lvl="0" indent="0" algn="l" rtl="0">
              <a:spcBef>
                <a:spcPts val="0"/>
              </a:spcBef>
              <a:spcAft>
                <a:spcPts val="0"/>
              </a:spcAft>
              <a:buClr>
                <a:schemeClr val="dk1"/>
              </a:buClr>
              <a:buSzPts val="1100"/>
              <a:buFont typeface="Arial"/>
              <a:buNone/>
            </a:pPr>
            <a:r>
              <a:rPr lang="en"/>
              <a:t>Level 5: Non-urgent, needs treatment when time permits</a:t>
            </a:r>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726b1863ef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726b1863ef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726b1863ef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726b1863ef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726b1863ef_0_4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726b1863ef_0_4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e46d0c25a2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e46d0c25a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e46d0c25a2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2e46d0c25a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e44f2c016a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e44f2c016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726b1863ef_0_3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726b1863ef_0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both from real data and from simulation, share the characteristic of a right-skewed distribution, illustrating that the majority of stays in the emergency department (ED) are of shorter duration, with a rapid drop-off in frequency as the length of stay increases. Both distributions indicate that most of the ED stays are concentrated in the earlier time brackets, diminishing as the length of stay grows.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726b1863ef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726b1863ef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Both the real and simulated histograms show a similar right-skewed distribution, indicating most EDIP stays are short, with a peak under 2000 minutes. The presence of long tailsabout  in both charts illustrates the occasional lengthy stays. This similarity confirms the simulation’s effectiveness in reflecting real-world patient stay dynamics in the ED.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2"/>
        <p:cNvGrpSpPr/>
        <p:nvPr/>
      </p:nvGrpSpPr>
      <p:grpSpPr>
        <a:xfrm>
          <a:off x="0" y="0"/>
          <a:ext cx="0" cy="0"/>
          <a:chOff x="0" y="0"/>
          <a:chExt cx="0" cy="0"/>
        </a:xfrm>
      </p:grpSpPr>
      <p:sp>
        <p:nvSpPr>
          <p:cNvPr id="63" name="Google Shape;63;p13"/>
          <p:cNvSpPr/>
          <p:nvPr/>
        </p:nvSpPr>
        <p:spPr>
          <a:xfrm>
            <a:off x="-171450" y="-171450"/>
            <a:ext cx="9601200" cy="5543700"/>
          </a:xfrm>
          <a:prstGeom prst="rect">
            <a:avLst/>
          </a:pr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3798233" y="1124865"/>
            <a:ext cx="4522200" cy="1448400"/>
          </a:xfrm>
          <a:prstGeom prst="rect">
            <a:avLst/>
          </a:prstGeom>
        </p:spPr>
        <p:txBody>
          <a:bodyPr spcFirstLastPara="1" wrap="square" lIns="91425" tIns="91425" rIns="91425" bIns="91425" anchor="b" anchorCtr="0">
            <a:noAutofit/>
          </a:bodyPr>
          <a:lstStyle/>
          <a:p>
            <a:pPr marL="457200">
              <a:buSzPts val="990"/>
            </a:pPr>
            <a:r>
              <a:rPr lang="en" sz="2700" b="0" dirty="0">
                <a:solidFill>
                  <a:srgbClr val="000000"/>
                </a:solidFill>
                <a:latin typeface="Arial"/>
                <a:ea typeface="Arial"/>
                <a:cs typeface="Arial"/>
                <a:sym typeface="Arial"/>
              </a:rPr>
              <a:t>Simulating the  Emergency Department – UCSD Health</a:t>
            </a:r>
            <a:endParaRPr lang="en" sz="2700" b="0" dirty="0">
              <a:solidFill>
                <a:srgbClr val="000000"/>
              </a:solidFill>
              <a:latin typeface="Arial"/>
              <a:cs typeface="Arial"/>
            </a:endParaRPr>
          </a:p>
        </p:txBody>
      </p:sp>
      <p:sp>
        <p:nvSpPr>
          <p:cNvPr id="69" name="Google Shape;69;p14"/>
          <p:cNvSpPr txBox="1">
            <a:spLocks noGrp="1"/>
          </p:cNvSpPr>
          <p:nvPr>
            <p:ph type="subTitle" idx="1"/>
          </p:nvPr>
        </p:nvSpPr>
        <p:spPr>
          <a:xfrm>
            <a:off x="2025325" y="2850050"/>
            <a:ext cx="5334000" cy="792600"/>
          </a:xfrm>
          <a:prstGeom prst="rect">
            <a:avLst/>
          </a:prstGeom>
        </p:spPr>
        <p:txBody>
          <a:bodyPr spcFirstLastPara="1" wrap="square" lIns="91425" tIns="91425" rIns="91425" bIns="91425" anchor="t" anchorCtr="0">
            <a:noAutofit/>
          </a:bodyPr>
          <a:lstStyle/>
          <a:p>
            <a:pPr marL="0" indent="0" algn="l">
              <a:buClr>
                <a:srgbClr val="FDB515"/>
              </a:buClr>
              <a:buSzPts val="2800"/>
            </a:pPr>
            <a:r>
              <a:rPr lang="en" sz="1400" b="1" dirty="0">
                <a:solidFill>
                  <a:srgbClr val="000000"/>
                </a:solidFill>
                <a:latin typeface="Arial"/>
                <a:cs typeface="Arial"/>
                <a:sym typeface="Arial"/>
              </a:rPr>
              <a:t>                          </a:t>
            </a:r>
            <a:r>
              <a:rPr lang="en" sz="1600" b="1" dirty="0">
                <a:solidFill>
                  <a:srgbClr val="000000"/>
                </a:solidFill>
                <a:latin typeface="Arial"/>
                <a:cs typeface="Arial"/>
                <a:sym typeface="Arial"/>
              </a:rPr>
              <a:t>Raaiha Humayun Kabir</a:t>
            </a:r>
            <a:endParaRPr lang="en-US" sz="1400" dirty="0">
              <a:solidFill>
                <a:srgbClr val="000000"/>
              </a:solidFill>
            </a:endParaRPr>
          </a:p>
        </p:txBody>
      </p:sp>
      <p:pic>
        <p:nvPicPr>
          <p:cNvPr id="70" name="Google Shape;70;p14"/>
          <p:cNvPicPr preferRelativeResize="0"/>
          <p:nvPr/>
        </p:nvPicPr>
        <p:blipFill>
          <a:blip r:embed="rId3">
            <a:alphaModFix/>
          </a:blip>
          <a:stretch>
            <a:fillRect/>
          </a:stretch>
        </p:blipFill>
        <p:spPr>
          <a:xfrm>
            <a:off x="972600" y="1330750"/>
            <a:ext cx="2572925" cy="1145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311700" y="97925"/>
            <a:ext cx="8520600" cy="7074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rgbClr val="000000"/>
              </a:buClr>
              <a:buSzPct val="100000"/>
              <a:buFont typeface="Arial"/>
              <a:buNone/>
            </a:pPr>
            <a:r>
              <a:rPr lang="en" b="0" dirty="0">
                <a:solidFill>
                  <a:srgbClr val="223E82"/>
                </a:solidFill>
                <a:latin typeface="Arial"/>
                <a:ea typeface="Arial"/>
                <a:cs typeface="Arial"/>
                <a:sym typeface="Arial"/>
              </a:rPr>
              <a:t>Problem Overview</a:t>
            </a:r>
            <a:endParaRPr dirty="0"/>
          </a:p>
        </p:txBody>
      </p:sp>
      <p:grpSp>
        <p:nvGrpSpPr>
          <p:cNvPr id="76" name="Google Shape;76;p15"/>
          <p:cNvGrpSpPr/>
          <p:nvPr/>
        </p:nvGrpSpPr>
        <p:grpSpPr>
          <a:xfrm>
            <a:off x="3445691" y="3473272"/>
            <a:ext cx="1642364" cy="1075122"/>
            <a:chOff x="4515218" y="1353997"/>
            <a:chExt cx="4150529" cy="2769506"/>
          </a:xfrm>
        </p:grpSpPr>
        <p:sp>
          <p:nvSpPr>
            <p:cNvPr id="77" name="Google Shape;77;p15"/>
            <p:cNvSpPr/>
            <p:nvPr/>
          </p:nvSpPr>
          <p:spPr>
            <a:xfrm>
              <a:off x="6502006" y="3927496"/>
              <a:ext cx="1713092" cy="196007"/>
            </a:xfrm>
            <a:custGeom>
              <a:avLst/>
              <a:gdLst/>
              <a:ahLst/>
              <a:cxnLst/>
              <a:rect l="l" t="t" r="r" b="b"/>
              <a:pathLst>
                <a:path w="111312" h="12736" extrusionOk="0">
                  <a:moveTo>
                    <a:pt x="55645" y="1"/>
                  </a:moveTo>
                  <a:lnTo>
                    <a:pt x="52786" y="21"/>
                  </a:lnTo>
                  <a:lnTo>
                    <a:pt x="49967" y="41"/>
                  </a:lnTo>
                  <a:lnTo>
                    <a:pt x="47169" y="82"/>
                  </a:lnTo>
                  <a:lnTo>
                    <a:pt x="44431" y="143"/>
                  </a:lnTo>
                  <a:lnTo>
                    <a:pt x="41734" y="204"/>
                  </a:lnTo>
                  <a:lnTo>
                    <a:pt x="39098" y="305"/>
                  </a:lnTo>
                  <a:lnTo>
                    <a:pt x="36522" y="406"/>
                  </a:lnTo>
                  <a:lnTo>
                    <a:pt x="33988" y="508"/>
                  </a:lnTo>
                  <a:lnTo>
                    <a:pt x="31514" y="630"/>
                  </a:lnTo>
                  <a:lnTo>
                    <a:pt x="29121" y="771"/>
                  </a:lnTo>
                  <a:lnTo>
                    <a:pt x="26789" y="934"/>
                  </a:lnTo>
                  <a:lnTo>
                    <a:pt x="24538" y="1096"/>
                  </a:lnTo>
                  <a:lnTo>
                    <a:pt x="22347" y="1278"/>
                  </a:lnTo>
                  <a:lnTo>
                    <a:pt x="20259" y="1461"/>
                  </a:lnTo>
                  <a:lnTo>
                    <a:pt x="18231" y="1664"/>
                  </a:lnTo>
                  <a:lnTo>
                    <a:pt x="16304" y="1867"/>
                  </a:lnTo>
                  <a:lnTo>
                    <a:pt x="14459" y="2090"/>
                  </a:lnTo>
                  <a:lnTo>
                    <a:pt x="12715" y="2333"/>
                  </a:lnTo>
                  <a:lnTo>
                    <a:pt x="11052" y="2576"/>
                  </a:lnTo>
                  <a:lnTo>
                    <a:pt x="9511" y="2820"/>
                  </a:lnTo>
                  <a:lnTo>
                    <a:pt x="8051" y="3083"/>
                  </a:lnTo>
                  <a:lnTo>
                    <a:pt x="6712" y="3347"/>
                  </a:lnTo>
                  <a:lnTo>
                    <a:pt x="5475" y="3611"/>
                  </a:lnTo>
                  <a:lnTo>
                    <a:pt x="4380" y="3894"/>
                  </a:lnTo>
                  <a:lnTo>
                    <a:pt x="3366" y="4178"/>
                  </a:lnTo>
                  <a:lnTo>
                    <a:pt x="2494" y="4483"/>
                  </a:lnTo>
                  <a:lnTo>
                    <a:pt x="2109" y="4624"/>
                  </a:lnTo>
                  <a:lnTo>
                    <a:pt x="1744" y="4787"/>
                  </a:lnTo>
                  <a:lnTo>
                    <a:pt x="1420" y="4929"/>
                  </a:lnTo>
                  <a:lnTo>
                    <a:pt x="1136" y="5091"/>
                  </a:lnTo>
                  <a:lnTo>
                    <a:pt x="872" y="5253"/>
                  </a:lnTo>
                  <a:lnTo>
                    <a:pt x="629" y="5395"/>
                  </a:lnTo>
                  <a:lnTo>
                    <a:pt x="446" y="5557"/>
                  </a:lnTo>
                  <a:lnTo>
                    <a:pt x="284" y="5720"/>
                  </a:lnTo>
                  <a:lnTo>
                    <a:pt x="162" y="5882"/>
                  </a:lnTo>
                  <a:lnTo>
                    <a:pt x="61" y="6044"/>
                  </a:lnTo>
                  <a:lnTo>
                    <a:pt x="20" y="6206"/>
                  </a:lnTo>
                  <a:lnTo>
                    <a:pt x="0" y="6368"/>
                  </a:lnTo>
                  <a:lnTo>
                    <a:pt x="20" y="6531"/>
                  </a:lnTo>
                  <a:lnTo>
                    <a:pt x="61" y="6693"/>
                  </a:lnTo>
                  <a:lnTo>
                    <a:pt x="162" y="6855"/>
                  </a:lnTo>
                  <a:lnTo>
                    <a:pt x="284" y="7017"/>
                  </a:lnTo>
                  <a:lnTo>
                    <a:pt x="446" y="7180"/>
                  </a:lnTo>
                  <a:lnTo>
                    <a:pt x="629" y="7342"/>
                  </a:lnTo>
                  <a:lnTo>
                    <a:pt x="872" y="7504"/>
                  </a:lnTo>
                  <a:lnTo>
                    <a:pt x="1136" y="7646"/>
                  </a:lnTo>
                  <a:lnTo>
                    <a:pt x="1420" y="7808"/>
                  </a:lnTo>
                  <a:lnTo>
                    <a:pt x="1744" y="7970"/>
                  </a:lnTo>
                  <a:lnTo>
                    <a:pt x="2109" y="8112"/>
                  </a:lnTo>
                  <a:lnTo>
                    <a:pt x="2494" y="8275"/>
                  </a:lnTo>
                  <a:lnTo>
                    <a:pt x="3366" y="8559"/>
                  </a:lnTo>
                  <a:lnTo>
                    <a:pt x="4380" y="8842"/>
                  </a:lnTo>
                  <a:lnTo>
                    <a:pt x="5475" y="9126"/>
                  </a:lnTo>
                  <a:lnTo>
                    <a:pt x="6712" y="9410"/>
                  </a:lnTo>
                  <a:lnTo>
                    <a:pt x="8051" y="9674"/>
                  </a:lnTo>
                  <a:lnTo>
                    <a:pt x="9511" y="9938"/>
                  </a:lnTo>
                  <a:lnTo>
                    <a:pt x="11052" y="10181"/>
                  </a:lnTo>
                  <a:lnTo>
                    <a:pt x="12715" y="10424"/>
                  </a:lnTo>
                  <a:lnTo>
                    <a:pt x="14459" y="10647"/>
                  </a:lnTo>
                  <a:lnTo>
                    <a:pt x="16304" y="10870"/>
                  </a:lnTo>
                  <a:lnTo>
                    <a:pt x="18231" y="11073"/>
                  </a:lnTo>
                  <a:lnTo>
                    <a:pt x="20259" y="11276"/>
                  </a:lnTo>
                  <a:lnTo>
                    <a:pt x="22347" y="11479"/>
                  </a:lnTo>
                  <a:lnTo>
                    <a:pt x="24538" y="11641"/>
                  </a:lnTo>
                  <a:lnTo>
                    <a:pt x="26789" y="11823"/>
                  </a:lnTo>
                  <a:lnTo>
                    <a:pt x="29121" y="11965"/>
                  </a:lnTo>
                  <a:lnTo>
                    <a:pt x="31514" y="12107"/>
                  </a:lnTo>
                  <a:lnTo>
                    <a:pt x="33988" y="12229"/>
                  </a:lnTo>
                  <a:lnTo>
                    <a:pt x="36522" y="12351"/>
                  </a:lnTo>
                  <a:lnTo>
                    <a:pt x="39098" y="12452"/>
                  </a:lnTo>
                  <a:lnTo>
                    <a:pt x="41734" y="12533"/>
                  </a:lnTo>
                  <a:lnTo>
                    <a:pt x="44431" y="12614"/>
                  </a:lnTo>
                  <a:lnTo>
                    <a:pt x="47169" y="12655"/>
                  </a:lnTo>
                  <a:lnTo>
                    <a:pt x="49967" y="12695"/>
                  </a:lnTo>
                  <a:lnTo>
                    <a:pt x="52786" y="12736"/>
                  </a:lnTo>
                  <a:lnTo>
                    <a:pt x="58505" y="12736"/>
                  </a:lnTo>
                  <a:lnTo>
                    <a:pt x="61344" y="12695"/>
                  </a:lnTo>
                  <a:lnTo>
                    <a:pt x="64122" y="12655"/>
                  </a:lnTo>
                  <a:lnTo>
                    <a:pt x="66860" y="12614"/>
                  </a:lnTo>
                  <a:lnTo>
                    <a:pt x="69557" y="12533"/>
                  </a:lnTo>
                  <a:lnTo>
                    <a:pt x="72193" y="12452"/>
                  </a:lnTo>
                  <a:lnTo>
                    <a:pt x="74789" y="12351"/>
                  </a:lnTo>
                  <a:lnTo>
                    <a:pt x="77303" y="12229"/>
                  </a:lnTo>
                  <a:lnTo>
                    <a:pt x="79777" y="12107"/>
                  </a:lnTo>
                  <a:lnTo>
                    <a:pt x="82170" y="11965"/>
                  </a:lnTo>
                  <a:lnTo>
                    <a:pt x="84502" y="11823"/>
                  </a:lnTo>
                  <a:lnTo>
                    <a:pt x="86774" y="11641"/>
                  </a:lnTo>
                  <a:lnTo>
                    <a:pt x="88943" y="11479"/>
                  </a:lnTo>
                  <a:lnTo>
                    <a:pt x="91052" y="11276"/>
                  </a:lnTo>
                  <a:lnTo>
                    <a:pt x="93080" y="11073"/>
                  </a:lnTo>
                  <a:lnTo>
                    <a:pt x="95007" y="10870"/>
                  </a:lnTo>
                  <a:lnTo>
                    <a:pt x="96852" y="10647"/>
                  </a:lnTo>
                  <a:lnTo>
                    <a:pt x="98596" y="10424"/>
                  </a:lnTo>
                  <a:lnTo>
                    <a:pt x="100239" y="10181"/>
                  </a:lnTo>
                  <a:lnTo>
                    <a:pt x="101800" y="9938"/>
                  </a:lnTo>
                  <a:lnTo>
                    <a:pt x="103240" y="9674"/>
                  </a:lnTo>
                  <a:lnTo>
                    <a:pt x="104578" y="9410"/>
                  </a:lnTo>
                  <a:lnTo>
                    <a:pt x="105815" y="9126"/>
                  </a:lnTo>
                  <a:lnTo>
                    <a:pt x="106931" y="8842"/>
                  </a:lnTo>
                  <a:lnTo>
                    <a:pt x="107924" y="8559"/>
                  </a:lnTo>
                  <a:lnTo>
                    <a:pt x="108796" y="8275"/>
                  </a:lnTo>
                  <a:lnTo>
                    <a:pt x="109202" y="8112"/>
                  </a:lnTo>
                  <a:lnTo>
                    <a:pt x="109547" y="7970"/>
                  </a:lnTo>
                  <a:lnTo>
                    <a:pt x="109871" y="7808"/>
                  </a:lnTo>
                  <a:lnTo>
                    <a:pt x="110175" y="7646"/>
                  </a:lnTo>
                  <a:lnTo>
                    <a:pt x="110439" y="7504"/>
                  </a:lnTo>
                  <a:lnTo>
                    <a:pt x="110662" y="7342"/>
                  </a:lnTo>
                  <a:lnTo>
                    <a:pt x="110865" y="7180"/>
                  </a:lnTo>
                  <a:lnTo>
                    <a:pt x="111007" y="7017"/>
                  </a:lnTo>
                  <a:lnTo>
                    <a:pt x="111149" y="6855"/>
                  </a:lnTo>
                  <a:lnTo>
                    <a:pt x="111230" y="6693"/>
                  </a:lnTo>
                  <a:lnTo>
                    <a:pt x="111291" y="6531"/>
                  </a:lnTo>
                  <a:lnTo>
                    <a:pt x="111311" y="6368"/>
                  </a:lnTo>
                  <a:lnTo>
                    <a:pt x="111291" y="6206"/>
                  </a:lnTo>
                  <a:lnTo>
                    <a:pt x="111230" y="6044"/>
                  </a:lnTo>
                  <a:lnTo>
                    <a:pt x="111149" y="5882"/>
                  </a:lnTo>
                  <a:lnTo>
                    <a:pt x="111007" y="5720"/>
                  </a:lnTo>
                  <a:lnTo>
                    <a:pt x="110865" y="5557"/>
                  </a:lnTo>
                  <a:lnTo>
                    <a:pt x="110662" y="5395"/>
                  </a:lnTo>
                  <a:lnTo>
                    <a:pt x="110439" y="5253"/>
                  </a:lnTo>
                  <a:lnTo>
                    <a:pt x="110175" y="5091"/>
                  </a:lnTo>
                  <a:lnTo>
                    <a:pt x="109871" y="4929"/>
                  </a:lnTo>
                  <a:lnTo>
                    <a:pt x="109547" y="4787"/>
                  </a:lnTo>
                  <a:lnTo>
                    <a:pt x="109202" y="4624"/>
                  </a:lnTo>
                  <a:lnTo>
                    <a:pt x="108796" y="4483"/>
                  </a:lnTo>
                  <a:lnTo>
                    <a:pt x="107924" y="4178"/>
                  </a:lnTo>
                  <a:lnTo>
                    <a:pt x="106931" y="3894"/>
                  </a:lnTo>
                  <a:lnTo>
                    <a:pt x="105815" y="3611"/>
                  </a:lnTo>
                  <a:lnTo>
                    <a:pt x="104578" y="3347"/>
                  </a:lnTo>
                  <a:lnTo>
                    <a:pt x="103240" y="3083"/>
                  </a:lnTo>
                  <a:lnTo>
                    <a:pt x="101800" y="2820"/>
                  </a:lnTo>
                  <a:lnTo>
                    <a:pt x="100239" y="2576"/>
                  </a:lnTo>
                  <a:lnTo>
                    <a:pt x="98596" y="2333"/>
                  </a:lnTo>
                  <a:lnTo>
                    <a:pt x="96852" y="2090"/>
                  </a:lnTo>
                  <a:lnTo>
                    <a:pt x="95007" y="1867"/>
                  </a:lnTo>
                  <a:lnTo>
                    <a:pt x="93080" y="1664"/>
                  </a:lnTo>
                  <a:lnTo>
                    <a:pt x="91052" y="1461"/>
                  </a:lnTo>
                  <a:lnTo>
                    <a:pt x="88943" y="1278"/>
                  </a:lnTo>
                  <a:lnTo>
                    <a:pt x="86774" y="1096"/>
                  </a:lnTo>
                  <a:lnTo>
                    <a:pt x="84502" y="934"/>
                  </a:lnTo>
                  <a:lnTo>
                    <a:pt x="82170" y="771"/>
                  </a:lnTo>
                  <a:lnTo>
                    <a:pt x="79777" y="630"/>
                  </a:lnTo>
                  <a:lnTo>
                    <a:pt x="77303" y="508"/>
                  </a:lnTo>
                  <a:lnTo>
                    <a:pt x="74789" y="406"/>
                  </a:lnTo>
                  <a:lnTo>
                    <a:pt x="72193" y="305"/>
                  </a:lnTo>
                  <a:lnTo>
                    <a:pt x="69557" y="204"/>
                  </a:lnTo>
                  <a:lnTo>
                    <a:pt x="66860" y="143"/>
                  </a:lnTo>
                  <a:lnTo>
                    <a:pt x="64122" y="82"/>
                  </a:lnTo>
                  <a:lnTo>
                    <a:pt x="61344" y="41"/>
                  </a:lnTo>
                  <a:lnTo>
                    <a:pt x="58505" y="21"/>
                  </a:lnTo>
                  <a:lnTo>
                    <a:pt x="55645" y="1"/>
                  </a:lnTo>
                  <a:close/>
                </a:path>
              </a:pathLst>
            </a:custGeom>
            <a:solidFill>
              <a:srgbClr val="666666">
                <a:alpha val="12160"/>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5"/>
            <p:cNvSpPr/>
            <p:nvPr/>
          </p:nvSpPr>
          <p:spPr>
            <a:xfrm>
              <a:off x="6502006" y="3927496"/>
              <a:ext cx="1713092" cy="196007"/>
            </a:xfrm>
            <a:custGeom>
              <a:avLst/>
              <a:gdLst/>
              <a:ahLst/>
              <a:cxnLst/>
              <a:rect l="l" t="t" r="r" b="b"/>
              <a:pathLst>
                <a:path w="111312" h="12736" fill="none" extrusionOk="0">
                  <a:moveTo>
                    <a:pt x="55645" y="1"/>
                  </a:moveTo>
                  <a:lnTo>
                    <a:pt x="55645" y="1"/>
                  </a:lnTo>
                  <a:lnTo>
                    <a:pt x="52786" y="21"/>
                  </a:lnTo>
                  <a:lnTo>
                    <a:pt x="49967" y="41"/>
                  </a:lnTo>
                  <a:lnTo>
                    <a:pt x="47169" y="82"/>
                  </a:lnTo>
                  <a:lnTo>
                    <a:pt x="44431" y="143"/>
                  </a:lnTo>
                  <a:lnTo>
                    <a:pt x="41734" y="204"/>
                  </a:lnTo>
                  <a:lnTo>
                    <a:pt x="39098" y="305"/>
                  </a:lnTo>
                  <a:lnTo>
                    <a:pt x="36522" y="406"/>
                  </a:lnTo>
                  <a:lnTo>
                    <a:pt x="33988" y="508"/>
                  </a:lnTo>
                  <a:lnTo>
                    <a:pt x="31514" y="630"/>
                  </a:lnTo>
                  <a:lnTo>
                    <a:pt x="29121" y="771"/>
                  </a:lnTo>
                  <a:lnTo>
                    <a:pt x="26789" y="934"/>
                  </a:lnTo>
                  <a:lnTo>
                    <a:pt x="24538" y="1096"/>
                  </a:lnTo>
                  <a:lnTo>
                    <a:pt x="22347" y="1278"/>
                  </a:lnTo>
                  <a:lnTo>
                    <a:pt x="20259" y="1461"/>
                  </a:lnTo>
                  <a:lnTo>
                    <a:pt x="18231" y="1664"/>
                  </a:lnTo>
                  <a:lnTo>
                    <a:pt x="16304" y="1867"/>
                  </a:lnTo>
                  <a:lnTo>
                    <a:pt x="14459" y="2090"/>
                  </a:lnTo>
                  <a:lnTo>
                    <a:pt x="12715" y="2333"/>
                  </a:lnTo>
                  <a:lnTo>
                    <a:pt x="11052" y="2576"/>
                  </a:lnTo>
                  <a:lnTo>
                    <a:pt x="9511" y="2820"/>
                  </a:lnTo>
                  <a:lnTo>
                    <a:pt x="8051" y="3083"/>
                  </a:lnTo>
                  <a:lnTo>
                    <a:pt x="6712" y="3347"/>
                  </a:lnTo>
                  <a:lnTo>
                    <a:pt x="5475" y="3611"/>
                  </a:lnTo>
                  <a:lnTo>
                    <a:pt x="4380" y="3894"/>
                  </a:lnTo>
                  <a:lnTo>
                    <a:pt x="3366" y="4178"/>
                  </a:lnTo>
                  <a:lnTo>
                    <a:pt x="2494" y="4483"/>
                  </a:lnTo>
                  <a:lnTo>
                    <a:pt x="2109" y="4624"/>
                  </a:lnTo>
                  <a:lnTo>
                    <a:pt x="1744" y="4787"/>
                  </a:lnTo>
                  <a:lnTo>
                    <a:pt x="1420" y="4929"/>
                  </a:lnTo>
                  <a:lnTo>
                    <a:pt x="1136" y="5091"/>
                  </a:lnTo>
                  <a:lnTo>
                    <a:pt x="872" y="5253"/>
                  </a:lnTo>
                  <a:lnTo>
                    <a:pt x="629" y="5395"/>
                  </a:lnTo>
                  <a:lnTo>
                    <a:pt x="446" y="5557"/>
                  </a:lnTo>
                  <a:lnTo>
                    <a:pt x="284" y="5720"/>
                  </a:lnTo>
                  <a:lnTo>
                    <a:pt x="162" y="5882"/>
                  </a:lnTo>
                  <a:lnTo>
                    <a:pt x="61" y="6044"/>
                  </a:lnTo>
                  <a:lnTo>
                    <a:pt x="20" y="6206"/>
                  </a:lnTo>
                  <a:lnTo>
                    <a:pt x="0" y="6368"/>
                  </a:lnTo>
                  <a:lnTo>
                    <a:pt x="0" y="6368"/>
                  </a:lnTo>
                  <a:lnTo>
                    <a:pt x="20" y="6531"/>
                  </a:lnTo>
                  <a:lnTo>
                    <a:pt x="61" y="6693"/>
                  </a:lnTo>
                  <a:lnTo>
                    <a:pt x="162" y="6855"/>
                  </a:lnTo>
                  <a:lnTo>
                    <a:pt x="284" y="7017"/>
                  </a:lnTo>
                  <a:lnTo>
                    <a:pt x="446" y="7180"/>
                  </a:lnTo>
                  <a:lnTo>
                    <a:pt x="629" y="7342"/>
                  </a:lnTo>
                  <a:lnTo>
                    <a:pt x="872" y="7504"/>
                  </a:lnTo>
                  <a:lnTo>
                    <a:pt x="1136" y="7646"/>
                  </a:lnTo>
                  <a:lnTo>
                    <a:pt x="1420" y="7808"/>
                  </a:lnTo>
                  <a:lnTo>
                    <a:pt x="1744" y="7970"/>
                  </a:lnTo>
                  <a:lnTo>
                    <a:pt x="2109" y="8112"/>
                  </a:lnTo>
                  <a:lnTo>
                    <a:pt x="2494" y="8275"/>
                  </a:lnTo>
                  <a:lnTo>
                    <a:pt x="3366" y="8559"/>
                  </a:lnTo>
                  <a:lnTo>
                    <a:pt x="4380" y="8842"/>
                  </a:lnTo>
                  <a:lnTo>
                    <a:pt x="5475" y="9126"/>
                  </a:lnTo>
                  <a:lnTo>
                    <a:pt x="6712" y="9410"/>
                  </a:lnTo>
                  <a:lnTo>
                    <a:pt x="8051" y="9674"/>
                  </a:lnTo>
                  <a:lnTo>
                    <a:pt x="9511" y="9938"/>
                  </a:lnTo>
                  <a:lnTo>
                    <a:pt x="11052" y="10181"/>
                  </a:lnTo>
                  <a:lnTo>
                    <a:pt x="12715" y="10424"/>
                  </a:lnTo>
                  <a:lnTo>
                    <a:pt x="14459" y="10647"/>
                  </a:lnTo>
                  <a:lnTo>
                    <a:pt x="16304" y="10870"/>
                  </a:lnTo>
                  <a:lnTo>
                    <a:pt x="18231" y="11073"/>
                  </a:lnTo>
                  <a:lnTo>
                    <a:pt x="20259" y="11276"/>
                  </a:lnTo>
                  <a:lnTo>
                    <a:pt x="22347" y="11479"/>
                  </a:lnTo>
                  <a:lnTo>
                    <a:pt x="24538" y="11641"/>
                  </a:lnTo>
                  <a:lnTo>
                    <a:pt x="26789" y="11823"/>
                  </a:lnTo>
                  <a:lnTo>
                    <a:pt x="29121" y="11965"/>
                  </a:lnTo>
                  <a:lnTo>
                    <a:pt x="31514" y="12107"/>
                  </a:lnTo>
                  <a:lnTo>
                    <a:pt x="33988" y="12229"/>
                  </a:lnTo>
                  <a:lnTo>
                    <a:pt x="36522" y="12351"/>
                  </a:lnTo>
                  <a:lnTo>
                    <a:pt x="39098" y="12452"/>
                  </a:lnTo>
                  <a:lnTo>
                    <a:pt x="41734" y="12533"/>
                  </a:lnTo>
                  <a:lnTo>
                    <a:pt x="44431" y="12614"/>
                  </a:lnTo>
                  <a:lnTo>
                    <a:pt x="47169" y="12655"/>
                  </a:lnTo>
                  <a:lnTo>
                    <a:pt x="49967" y="12695"/>
                  </a:lnTo>
                  <a:lnTo>
                    <a:pt x="52786" y="12736"/>
                  </a:lnTo>
                  <a:lnTo>
                    <a:pt x="55645" y="12736"/>
                  </a:lnTo>
                  <a:lnTo>
                    <a:pt x="55645" y="12736"/>
                  </a:lnTo>
                  <a:lnTo>
                    <a:pt x="58505" y="12736"/>
                  </a:lnTo>
                  <a:lnTo>
                    <a:pt x="61344" y="12695"/>
                  </a:lnTo>
                  <a:lnTo>
                    <a:pt x="64122" y="12655"/>
                  </a:lnTo>
                  <a:lnTo>
                    <a:pt x="66860" y="12614"/>
                  </a:lnTo>
                  <a:lnTo>
                    <a:pt x="69557" y="12533"/>
                  </a:lnTo>
                  <a:lnTo>
                    <a:pt x="72193" y="12452"/>
                  </a:lnTo>
                  <a:lnTo>
                    <a:pt x="74789" y="12351"/>
                  </a:lnTo>
                  <a:lnTo>
                    <a:pt x="77303" y="12229"/>
                  </a:lnTo>
                  <a:lnTo>
                    <a:pt x="79777" y="12107"/>
                  </a:lnTo>
                  <a:lnTo>
                    <a:pt x="82170" y="11965"/>
                  </a:lnTo>
                  <a:lnTo>
                    <a:pt x="84502" y="11823"/>
                  </a:lnTo>
                  <a:lnTo>
                    <a:pt x="86774" y="11641"/>
                  </a:lnTo>
                  <a:lnTo>
                    <a:pt x="88943" y="11479"/>
                  </a:lnTo>
                  <a:lnTo>
                    <a:pt x="91052" y="11276"/>
                  </a:lnTo>
                  <a:lnTo>
                    <a:pt x="93080" y="11073"/>
                  </a:lnTo>
                  <a:lnTo>
                    <a:pt x="95007" y="10870"/>
                  </a:lnTo>
                  <a:lnTo>
                    <a:pt x="96852" y="10647"/>
                  </a:lnTo>
                  <a:lnTo>
                    <a:pt x="98596" y="10424"/>
                  </a:lnTo>
                  <a:lnTo>
                    <a:pt x="100239" y="10181"/>
                  </a:lnTo>
                  <a:lnTo>
                    <a:pt x="101800" y="9938"/>
                  </a:lnTo>
                  <a:lnTo>
                    <a:pt x="103240" y="9674"/>
                  </a:lnTo>
                  <a:lnTo>
                    <a:pt x="104578" y="9410"/>
                  </a:lnTo>
                  <a:lnTo>
                    <a:pt x="105815" y="9126"/>
                  </a:lnTo>
                  <a:lnTo>
                    <a:pt x="106931" y="8842"/>
                  </a:lnTo>
                  <a:lnTo>
                    <a:pt x="107924" y="8559"/>
                  </a:lnTo>
                  <a:lnTo>
                    <a:pt x="108796" y="8275"/>
                  </a:lnTo>
                  <a:lnTo>
                    <a:pt x="109202" y="8112"/>
                  </a:lnTo>
                  <a:lnTo>
                    <a:pt x="109547" y="7970"/>
                  </a:lnTo>
                  <a:lnTo>
                    <a:pt x="109871" y="7808"/>
                  </a:lnTo>
                  <a:lnTo>
                    <a:pt x="110175" y="7646"/>
                  </a:lnTo>
                  <a:lnTo>
                    <a:pt x="110439" y="7504"/>
                  </a:lnTo>
                  <a:lnTo>
                    <a:pt x="110662" y="7342"/>
                  </a:lnTo>
                  <a:lnTo>
                    <a:pt x="110865" y="7180"/>
                  </a:lnTo>
                  <a:lnTo>
                    <a:pt x="111007" y="7017"/>
                  </a:lnTo>
                  <a:lnTo>
                    <a:pt x="111149" y="6855"/>
                  </a:lnTo>
                  <a:lnTo>
                    <a:pt x="111230" y="6693"/>
                  </a:lnTo>
                  <a:lnTo>
                    <a:pt x="111291" y="6531"/>
                  </a:lnTo>
                  <a:lnTo>
                    <a:pt x="111311" y="6368"/>
                  </a:lnTo>
                  <a:lnTo>
                    <a:pt x="111311" y="6368"/>
                  </a:lnTo>
                  <a:lnTo>
                    <a:pt x="111291" y="6206"/>
                  </a:lnTo>
                  <a:lnTo>
                    <a:pt x="111230" y="6044"/>
                  </a:lnTo>
                  <a:lnTo>
                    <a:pt x="111149" y="5882"/>
                  </a:lnTo>
                  <a:lnTo>
                    <a:pt x="111007" y="5720"/>
                  </a:lnTo>
                  <a:lnTo>
                    <a:pt x="110865" y="5557"/>
                  </a:lnTo>
                  <a:lnTo>
                    <a:pt x="110662" y="5395"/>
                  </a:lnTo>
                  <a:lnTo>
                    <a:pt x="110439" y="5253"/>
                  </a:lnTo>
                  <a:lnTo>
                    <a:pt x="110175" y="5091"/>
                  </a:lnTo>
                  <a:lnTo>
                    <a:pt x="109871" y="4929"/>
                  </a:lnTo>
                  <a:lnTo>
                    <a:pt x="109547" y="4787"/>
                  </a:lnTo>
                  <a:lnTo>
                    <a:pt x="109202" y="4624"/>
                  </a:lnTo>
                  <a:lnTo>
                    <a:pt x="108796" y="4483"/>
                  </a:lnTo>
                  <a:lnTo>
                    <a:pt x="107924" y="4178"/>
                  </a:lnTo>
                  <a:lnTo>
                    <a:pt x="106931" y="3894"/>
                  </a:lnTo>
                  <a:lnTo>
                    <a:pt x="105815" y="3611"/>
                  </a:lnTo>
                  <a:lnTo>
                    <a:pt x="104578" y="3347"/>
                  </a:lnTo>
                  <a:lnTo>
                    <a:pt x="103240" y="3083"/>
                  </a:lnTo>
                  <a:lnTo>
                    <a:pt x="101800" y="2820"/>
                  </a:lnTo>
                  <a:lnTo>
                    <a:pt x="100239" y="2576"/>
                  </a:lnTo>
                  <a:lnTo>
                    <a:pt x="98596" y="2333"/>
                  </a:lnTo>
                  <a:lnTo>
                    <a:pt x="96852" y="2090"/>
                  </a:lnTo>
                  <a:lnTo>
                    <a:pt x="95007" y="1867"/>
                  </a:lnTo>
                  <a:lnTo>
                    <a:pt x="93080" y="1664"/>
                  </a:lnTo>
                  <a:lnTo>
                    <a:pt x="91052" y="1461"/>
                  </a:lnTo>
                  <a:lnTo>
                    <a:pt x="88943" y="1278"/>
                  </a:lnTo>
                  <a:lnTo>
                    <a:pt x="86774" y="1096"/>
                  </a:lnTo>
                  <a:lnTo>
                    <a:pt x="84502" y="934"/>
                  </a:lnTo>
                  <a:lnTo>
                    <a:pt x="82170" y="771"/>
                  </a:lnTo>
                  <a:lnTo>
                    <a:pt x="79777" y="630"/>
                  </a:lnTo>
                  <a:lnTo>
                    <a:pt x="77303" y="508"/>
                  </a:lnTo>
                  <a:lnTo>
                    <a:pt x="74789" y="406"/>
                  </a:lnTo>
                  <a:lnTo>
                    <a:pt x="72193" y="305"/>
                  </a:lnTo>
                  <a:lnTo>
                    <a:pt x="69557" y="204"/>
                  </a:lnTo>
                  <a:lnTo>
                    <a:pt x="66860" y="143"/>
                  </a:lnTo>
                  <a:lnTo>
                    <a:pt x="64122" y="82"/>
                  </a:lnTo>
                  <a:lnTo>
                    <a:pt x="61344" y="41"/>
                  </a:lnTo>
                  <a:lnTo>
                    <a:pt x="58505" y="21"/>
                  </a:lnTo>
                  <a:lnTo>
                    <a:pt x="55645" y="1"/>
                  </a:lnTo>
                </a:path>
              </a:pathLst>
            </a:cu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5"/>
            <p:cNvSpPr/>
            <p:nvPr/>
          </p:nvSpPr>
          <p:spPr>
            <a:xfrm>
              <a:off x="4654421" y="3935929"/>
              <a:ext cx="1201559" cy="187573"/>
            </a:xfrm>
            <a:custGeom>
              <a:avLst/>
              <a:gdLst/>
              <a:ahLst/>
              <a:cxnLst/>
              <a:rect l="l" t="t" r="r" b="b"/>
              <a:pathLst>
                <a:path w="78074" h="12188" extrusionOk="0">
                  <a:moveTo>
                    <a:pt x="37029" y="0"/>
                  </a:moveTo>
                  <a:lnTo>
                    <a:pt x="35042" y="41"/>
                  </a:lnTo>
                  <a:lnTo>
                    <a:pt x="33095" y="61"/>
                  </a:lnTo>
                  <a:lnTo>
                    <a:pt x="31169" y="122"/>
                  </a:lnTo>
                  <a:lnTo>
                    <a:pt x="29283" y="183"/>
                  </a:lnTo>
                  <a:lnTo>
                    <a:pt x="27417" y="284"/>
                  </a:lnTo>
                  <a:lnTo>
                    <a:pt x="25612" y="365"/>
                  </a:lnTo>
                  <a:lnTo>
                    <a:pt x="23848" y="487"/>
                  </a:lnTo>
                  <a:lnTo>
                    <a:pt x="22104" y="609"/>
                  </a:lnTo>
                  <a:lnTo>
                    <a:pt x="20421" y="730"/>
                  </a:lnTo>
                  <a:lnTo>
                    <a:pt x="18799" y="893"/>
                  </a:lnTo>
                  <a:lnTo>
                    <a:pt x="17217" y="1035"/>
                  </a:lnTo>
                  <a:lnTo>
                    <a:pt x="15676" y="1217"/>
                  </a:lnTo>
                  <a:lnTo>
                    <a:pt x="14195" y="1400"/>
                  </a:lnTo>
                  <a:lnTo>
                    <a:pt x="12776" y="1582"/>
                  </a:lnTo>
                  <a:lnTo>
                    <a:pt x="11437" y="1785"/>
                  </a:lnTo>
                  <a:lnTo>
                    <a:pt x="10139" y="1988"/>
                  </a:lnTo>
                  <a:lnTo>
                    <a:pt x="8902" y="2211"/>
                  </a:lnTo>
                  <a:lnTo>
                    <a:pt x="7747" y="2454"/>
                  </a:lnTo>
                  <a:lnTo>
                    <a:pt x="6672" y="2697"/>
                  </a:lnTo>
                  <a:lnTo>
                    <a:pt x="5638" y="2941"/>
                  </a:lnTo>
                  <a:lnTo>
                    <a:pt x="4705" y="3184"/>
                  </a:lnTo>
                  <a:lnTo>
                    <a:pt x="3853" y="3448"/>
                  </a:lnTo>
                  <a:lnTo>
                    <a:pt x="3062" y="3732"/>
                  </a:lnTo>
                  <a:lnTo>
                    <a:pt x="2373" y="3995"/>
                  </a:lnTo>
                  <a:lnTo>
                    <a:pt x="1744" y="4279"/>
                  </a:lnTo>
                  <a:lnTo>
                    <a:pt x="1217" y="4563"/>
                  </a:lnTo>
                  <a:lnTo>
                    <a:pt x="994" y="4725"/>
                  </a:lnTo>
                  <a:lnTo>
                    <a:pt x="791" y="4867"/>
                  </a:lnTo>
                  <a:lnTo>
                    <a:pt x="608" y="5009"/>
                  </a:lnTo>
                  <a:lnTo>
                    <a:pt x="446" y="5172"/>
                  </a:lnTo>
                  <a:lnTo>
                    <a:pt x="304" y="5313"/>
                  </a:lnTo>
                  <a:lnTo>
                    <a:pt x="203" y="5476"/>
                  </a:lnTo>
                  <a:lnTo>
                    <a:pt x="101" y="5618"/>
                  </a:lnTo>
                  <a:lnTo>
                    <a:pt x="41" y="5780"/>
                  </a:lnTo>
                  <a:lnTo>
                    <a:pt x="0" y="5942"/>
                  </a:lnTo>
                  <a:lnTo>
                    <a:pt x="0" y="6084"/>
                  </a:lnTo>
                  <a:lnTo>
                    <a:pt x="0" y="6246"/>
                  </a:lnTo>
                  <a:lnTo>
                    <a:pt x="41" y="6409"/>
                  </a:lnTo>
                  <a:lnTo>
                    <a:pt x="101" y="6571"/>
                  </a:lnTo>
                  <a:lnTo>
                    <a:pt x="203" y="6713"/>
                  </a:lnTo>
                  <a:lnTo>
                    <a:pt x="304" y="6875"/>
                  </a:lnTo>
                  <a:lnTo>
                    <a:pt x="446" y="7017"/>
                  </a:lnTo>
                  <a:lnTo>
                    <a:pt x="608" y="7179"/>
                  </a:lnTo>
                  <a:lnTo>
                    <a:pt x="791" y="7321"/>
                  </a:lnTo>
                  <a:lnTo>
                    <a:pt x="994" y="7463"/>
                  </a:lnTo>
                  <a:lnTo>
                    <a:pt x="1217" y="7625"/>
                  </a:lnTo>
                  <a:lnTo>
                    <a:pt x="1744" y="7909"/>
                  </a:lnTo>
                  <a:lnTo>
                    <a:pt x="2373" y="8193"/>
                  </a:lnTo>
                  <a:lnTo>
                    <a:pt x="3062" y="8457"/>
                  </a:lnTo>
                  <a:lnTo>
                    <a:pt x="3853" y="8741"/>
                  </a:lnTo>
                  <a:lnTo>
                    <a:pt x="4705" y="9004"/>
                  </a:lnTo>
                  <a:lnTo>
                    <a:pt x="5638" y="9248"/>
                  </a:lnTo>
                  <a:lnTo>
                    <a:pt x="6672" y="9491"/>
                  </a:lnTo>
                  <a:lnTo>
                    <a:pt x="7747" y="9734"/>
                  </a:lnTo>
                  <a:lnTo>
                    <a:pt x="8902" y="9978"/>
                  </a:lnTo>
                  <a:lnTo>
                    <a:pt x="10139" y="10201"/>
                  </a:lnTo>
                  <a:lnTo>
                    <a:pt x="11437" y="10403"/>
                  </a:lnTo>
                  <a:lnTo>
                    <a:pt x="12776" y="10606"/>
                  </a:lnTo>
                  <a:lnTo>
                    <a:pt x="14195" y="10789"/>
                  </a:lnTo>
                  <a:lnTo>
                    <a:pt x="15676" y="10971"/>
                  </a:lnTo>
                  <a:lnTo>
                    <a:pt x="17217" y="11154"/>
                  </a:lnTo>
                  <a:lnTo>
                    <a:pt x="18799" y="11296"/>
                  </a:lnTo>
                  <a:lnTo>
                    <a:pt x="20421" y="11458"/>
                  </a:lnTo>
                  <a:lnTo>
                    <a:pt x="22104" y="11580"/>
                  </a:lnTo>
                  <a:lnTo>
                    <a:pt x="23848" y="11701"/>
                  </a:lnTo>
                  <a:lnTo>
                    <a:pt x="25612" y="11823"/>
                  </a:lnTo>
                  <a:lnTo>
                    <a:pt x="27417" y="11904"/>
                  </a:lnTo>
                  <a:lnTo>
                    <a:pt x="29283" y="11985"/>
                  </a:lnTo>
                  <a:lnTo>
                    <a:pt x="31169" y="12066"/>
                  </a:lnTo>
                  <a:lnTo>
                    <a:pt x="33095" y="12107"/>
                  </a:lnTo>
                  <a:lnTo>
                    <a:pt x="35042" y="12147"/>
                  </a:lnTo>
                  <a:lnTo>
                    <a:pt x="37029" y="12188"/>
                  </a:lnTo>
                  <a:lnTo>
                    <a:pt x="41045" y="12188"/>
                  </a:lnTo>
                  <a:lnTo>
                    <a:pt x="43032" y="12147"/>
                  </a:lnTo>
                  <a:lnTo>
                    <a:pt x="44979" y="12107"/>
                  </a:lnTo>
                  <a:lnTo>
                    <a:pt x="46905" y="12066"/>
                  </a:lnTo>
                  <a:lnTo>
                    <a:pt x="48791" y="11985"/>
                  </a:lnTo>
                  <a:lnTo>
                    <a:pt x="50636" y="11904"/>
                  </a:lnTo>
                  <a:lnTo>
                    <a:pt x="52462" y="11823"/>
                  </a:lnTo>
                  <a:lnTo>
                    <a:pt x="54226" y="11701"/>
                  </a:lnTo>
                  <a:lnTo>
                    <a:pt x="55970" y="11580"/>
                  </a:lnTo>
                  <a:lnTo>
                    <a:pt x="57653" y="11458"/>
                  </a:lnTo>
                  <a:lnTo>
                    <a:pt x="59275" y="11296"/>
                  </a:lnTo>
                  <a:lnTo>
                    <a:pt x="60857" y="11154"/>
                  </a:lnTo>
                  <a:lnTo>
                    <a:pt x="62398" y="10971"/>
                  </a:lnTo>
                  <a:lnTo>
                    <a:pt x="63879" y="10789"/>
                  </a:lnTo>
                  <a:lnTo>
                    <a:pt x="65278" y="10606"/>
                  </a:lnTo>
                  <a:lnTo>
                    <a:pt x="66637" y="10403"/>
                  </a:lnTo>
                  <a:lnTo>
                    <a:pt x="67934" y="10201"/>
                  </a:lnTo>
                  <a:lnTo>
                    <a:pt x="69171" y="9978"/>
                  </a:lnTo>
                  <a:lnTo>
                    <a:pt x="70327" y="9734"/>
                  </a:lnTo>
                  <a:lnTo>
                    <a:pt x="71402" y="9491"/>
                  </a:lnTo>
                  <a:lnTo>
                    <a:pt x="72436" y="9248"/>
                  </a:lnTo>
                  <a:lnTo>
                    <a:pt x="73369" y="9004"/>
                  </a:lnTo>
                  <a:lnTo>
                    <a:pt x="74221" y="8741"/>
                  </a:lnTo>
                  <a:lnTo>
                    <a:pt x="75012" y="8457"/>
                  </a:lnTo>
                  <a:lnTo>
                    <a:pt x="75701" y="8193"/>
                  </a:lnTo>
                  <a:lnTo>
                    <a:pt x="76330" y="7909"/>
                  </a:lnTo>
                  <a:lnTo>
                    <a:pt x="76857" y="7625"/>
                  </a:lnTo>
                  <a:lnTo>
                    <a:pt x="77080" y="7463"/>
                  </a:lnTo>
                  <a:lnTo>
                    <a:pt x="77283" y="7321"/>
                  </a:lnTo>
                  <a:lnTo>
                    <a:pt x="77465" y="7179"/>
                  </a:lnTo>
                  <a:lnTo>
                    <a:pt x="77628" y="7017"/>
                  </a:lnTo>
                  <a:lnTo>
                    <a:pt x="77770" y="6875"/>
                  </a:lnTo>
                  <a:lnTo>
                    <a:pt x="77871" y="6713"/>
                  </a:lnTo>
                  <a:lnTo>
                    <a:pt x="77972" y="6571"/>
                  </a:lnTo>
                  <a:lnTo>
                    <a:pt x="78033" y="6409"/>
                  </a:lnTo>
                  <a:lnTo>
                    <a:pt x="78074" y="6246"/>
                  </a:lnTo>
                  <a:lnTo>
                    <a:pt x="78074" y="6084"/>
                  </a:lnTo>
                  <a:lnTo>
                    <a:pt x="78074" y="5942"/>
                  </a:lnTo>
                  <a:lnTo>
                    <a:pt x="78033" y="5780"/>
                  </a:lnTo>
                  <a:lnTo>
                    <a:pt x="77972" y="5618"/>
                  </a:lnTo>
                  <a:lnTo>
                    <a:pt x="77871" y="5476"/>
                  </a:lnTo>
                  <a:lnTo>
                    <a:pt x="77770" y="5313"/>
                  </a:lnTo>
                  <a:lnTo>
                    <a:pt x="77628" y="5172"/>
                  </a:lnTo>
                  <a:lnTo>
                    <a:pt x="77465" y="5009"/>
                  </a:lnTo>
                  <a:lnTo>
                    <a:pt x="77283" y="4867"/>
                  </a:lnTo>
                  <a:lnTo>
                    <a:pt x="77080" y="4725"/>
                  </a:lnTo>
                  <a:lnTo>
                    <a:pt x="76857" y="4563"/>
                  </a:lnTo>
                  <a:lnTo>
                    <a:pt x="76330" y="4279"/>
                  </a:lnTo>
                  <a:lnTo>
                    <a:pt x="75701" y="3995"/>
                  </a:lnTo>
                  <a:lnTo>
                    <a:pt x="75012" y="3732"/>
                  </a:lnTo>
                  <a:lnTo>
                    <a:pt x="74221" y="3448"/>
                  </a:lnTo>
                  <a:lnTo>
                    <a:pt x="73369" y="3184"/>
                  </a:lnTo>
                  <a:lnTo>
                    <a:pt x="72436" y="2941"/>
                  </a:lnTo>
                  <a:lnTo>
                    <a:pt x="71402" y="2697"/>
                  </a:lnTo>
                  <a:lnTo>
                    <a:pt x="70327" y="2454"/>
                  </a:lnTo>
                  <a:lnTo>
                    <a:pt x="69171" y="2211"/>
                  </a:lnTo>
                  <a:lnTo>
                    <a:pt x="67934" y="1988"/>
                  </a:lnTo>
                  <a:lnTo>
                    <a:pt x="66637" y="1785"/>
                  </a:lnTo>
                  <a:lnTo>
                    <a:pt x="65278" y="1582"/>
                  </a:lnTo>
                  <a:lnTo>
                    <a:pt x="63879" y="1400"/>
                  </a:lnTo>
                  <a:lnTo>
                    <a:pt x="62398" y="1217"/>
                  </a:lnTo>
                  <a:lnTo>
                    <a:pt x="60857" y="1035"/>
                  </a:lnTo>
                  <a:lnTo>
                    <a:pt x="59275" y="893"/>
                  </a:lnTo>
                  <a:lnTo>
                    <a:pt x="57653" y="730"/>
                  </a:lnTo>
                  <a:lnTo>
                    <a:pt x="55970" y="609"/>
                  </a:lnTo>
                  <a:lnTo>
                    <a:pt x="54226" y="487"/>
                  </a:lnTo>
                  <a:lnTo>
                    <a:pt x="52462" y="365"/>
                  </a:lnTo>
                  <a:lnTo>
                    <a:pt x="50636" y="284"/>
                  </a:lnTo>
                  <a:lnTo>
                    <a:pt x="48791" y="183"/>
                  </a:lnTo>
                  <a:lnTo>
                    <a:pt x="46905" y="122"/>
                  </a:lnTo>
                  <a:lnTo>
                    <a:pt x="44979" y="61"/>
                  </a:lnTo>
                  <a:lnTo>
                    <a:pt x="43032" y="41"/>
                  </a:lnTo>
                  <a:lnTo>
                    <a:pt x="41045" y="0"/>
                  </a:lnTo>
                  <a:close/>
                </a:path>
              </a:pathLst>
            </a:custGeom>
            <a:solidFill>
              <a:srgbClr val="666666">
                <a:alpha val="12160"/>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5"/>
            <p:cNvSpPr/>
            <p:nvPr/>
          </p:nvSpPr>
          <p:spPr>
            <a:xfrm>
              <a:off x="7045824" y="1353997"/>
              <a:ext cx="709089" cy="709089"/>
            </a:xfrm>
            <a:custGeom>
              <a:avLst/>
              <a:gdLst/>
              <a:ahLst/>
              <a:cxnLst/>
              <a:rect l="l" t="t" r="r" b="b"/>
              <a:pathLst>
                <a:path w="34819" h="34819" extrusionOk="0">
                  <a:moveTo>
                    <a:pt x="17420" y="0"/>
                  </a:moveTo>
                  <a:lnTo>
                    <a:pt x="16527" y="20"/>
                  </a:lnTo>
                  <a:lnTo>
                    <a:pt x="15635" y="81"/>
                  </a:lnTo>
                  <a:lnTo>
                    <a:pt x="14763" y="203"/>
                  </a:lnTo>
                  <a:lnTo>
                    <a:pt x="13911" y="345"/>
                  </a:lnTo>
                  <a:lnTo>
                    <a:pt x="13060" y="548"/>
                  </a:lnTo>
                  <a:lnTo>
                    <a:pt x="12228" y="791"/>
                  </a:lnTo>
                  <a:lnTo>
                    <a:pt x="11417" y="1055"/>
                  </a:lnTo>
                  <a:lnTo>
                    <a:pt x="10626" y="1359"/>
                  </a:lnTo>
                  <a:lnTo>
                    <a:pt x="9856" y="1724"/>
                  </a:lnTo>
                  <a:lnTo>
                    <a:pt x="9105" y="2109"/>
                  </a:lnTo>
                  <a:lnTo>
                    <a:pt x="8375" y="2515"/>
                  </a:lnTo>
                  <a:lnTo>
                    <a:pt x="7686" y="2981"/>
                  </a:lnTo>
                  <a:lnTo>
                    <a:pt x="6996" y="3468"/>
                  </a:lnTo>
                  <a:lnTo>
                    <a:pt x="6347" y="3975"/>
                  </a:lnTo>
                  <a:lnTo>
                    <a:pt x="5699" y="4522"/>
                  </a:lnTo>
                  <a:lnTo>
                    <a:pt x="5110" y="5090"/>
                  </a:lnTo>
                  <a:lnTo>
                    <a:pt x="4522" y="5698"/>
                  </a:lnTo>
                  <a:lnTo>
                    <a:pt x="3975" y="6327"/>
                  </a:lnTo>
                  <a:lnTo>
                    <a:pt x="3468" y="6996"/>
                  </a:lnTo>
                  <a:lnTo>
                    <a:pt x="2981" y="7686"/>
                  </a:lnTo>
                  <a:lnTo>
                    <a:pt x="2515" y="8375"/>
                  </a:lnTo>
                  <a:lnTo>
                    <a:pt x="2109" y="9105"/>
                  </a:lnTo>
                  <a:lnTo>
                    <a:pt x="1724" y="9856"/>
                  </a:lnTo>
                  <a:lnTo>
                    <a:pt x="1379" y="10626"/>
                  </a:lnTo>
                  <a:lnTo>
                    <a:pt x="1055" y="11417"/>
                  </a:lnTo>
                  <a:lnTo>
                    <a:pt x="791" y="12228"/>
                  </a:lnTo>
                  <a:lnTo>
                    <a:pt x="548" y="13060"/>
                  </a:lnTo>
                  <a:lnTo>
                    <a:pt x="365" y="13911"/>
                  </a:lnTo>
                  <a:lnTo>
                    <a:pt x="203" y="14763"/>
                  </a:lnTo>
                  <a:lnTo>
                    <a:pt x="102" y="15635"/>
                  </a:lnTo>
                  <a:lnTo>
                    <a:pt x="20" y="16507"/>
                  </a:lnTo>
                  <a:lnTo>
                    <a:pt x="0" y="17420"/>
                  </a:lnTo>
                  <a:lnTo>
                    <a:pt x="20" y="18312"/>
                  </a:lnTo>
                  <a:lnTo>
                    <a:pt x="102" y="19184"/>
                  </a:lnTo>
                  <a:lnTo>
                    <a:pt x="203" y="20056"/>
                  </a:lnTo>
                  <a:lnTo>
                    <a:pt x="365" y="20928"/>
                  </a:lnTo>
                  <a:lnTo>
                    <a:pt x="548" y="21759"/>
                  </a:lnTo>
                  <a:lnTo>
                    <a:pt x="791" y="22591"/>
                  </a:lnTo>
                  <a:lnTo>
                    <a:pt x="1055" y="23402"/>
                  </a:lnTo>
                  <a:lnTo>
                    <a:pt x="1379" y="24193"/>
                  </a:lnTo>
                  <a:lnTo>
                    <a:pt x="1724" y="24963"/>
                  </a:lnTo>
                  <a:lnTo>
                    <a:pt x="2109" y="25714"/>
                  </a:lnTo>
                  <a:lnTo>
                    <a:pt x="2515" y="26444"/>
                  </a:lnTo>
                  <a:lnTo>
                    <a:pt x="2981" y="27153"/>
                  </a:lnTo>
                  <a:lnTo>
                    <a:pt x="3468" y="27823"/>
                  </a:lnTo>
                  <a:lnTo>
                    <a:pt x="3975" y="28492"/>
                  </a:lnTo>
                  <a:lnTo>
                    <a:pt x="4522" y="29120"/>
                  </a:lnTo>
                  <a:lnTo>
                    <a:pt x="5110" y="29729"/>
                  </a:lnTo>
                  <a:lnTo>
                    <a:pt x="5699" y="30297"/>
                  </a:lnTo>
                  <a:lnTo>
                    <a:pt x="6347" y="30844"/>
                  </a:lnTo>
                  <a:lnTo>
                    <a:pt x="6996" y="31371"/>
                  </a:lnTo>
                  <a:lnTo>
                    <a:pt x="7686" y="31858"/>
                  </a:lnTo>
                  <a:lnTo>
                    <a:pt x="8375" y="32304"/>
                  </a:lnTo>
                  <a:lnTo>
                    <a:pt x="9105" y="32730"/>
                  </a:lnTo>
                  <a:lnTo>
                    <a:pt x="9856" y="33115"/>
                  </a:lnTo>
                  <a:lnTo>
                    <a:pt x="10626" y="33460"/>
                  </a:lnTo>
                  <a:lnTo>
                    <a:pt x="11417" y="33764"/>
                  </a:lnTo>
                  <a:lnTo>
                    <a:pt x="12228" y="34048"/>
                  </a:lnTo>
                  <a:lnTo>
                    <a:pt x="13060" y="34271"/>
                  </a:lnTo>
                  <a:lnTo>
                    <a:pt x="13911" y="34474"/>
                  </a:lnTo>
                  <a:lnTo>
                    <a:pt x="14763" y="34616"/>
                  </a:lnTo>
                  <a:lnTo>
                    <a:pt x="15635" y="34738"/>
                  </a:lnTo>
                  <a:lnTo>
                    <a:pt x="16527" y="34799"/>
                  </a:lnTo>
                  <a:lnTo>
                    <a:pt x="17420" y="34819"/>
                  </a:lnTo>
                  <a:lnTo>
                    <a:pt x="18312" y="34799"/>
                  </a:lnTo>
                  <a:lnTo>
                    <a:pt x="19204" y="34738"/>
                  </a:lnTo>
                  <a:lnTo>
                    <a:pt x="20056" y="34616"/>
                  </a:lnTo>
                  <a:lnTo>
                    <a:pt x="20928" y="34474"/>
                  </a:lnTo>
                  <a:lnTo>
                    <a:pt x="21759" y="34271"/>
                  </a:lnTo>
                  <a:lnTo>
                    <a:pt x="22591" y="34048"/>
                  </a:lnTo>
                  <a:lnTo>
                    <a:pt x="23402" y="33764"/>
                  </a:lnTo>
                  <a:lnTo>
                    <a:pt x="24193" y="33460"/>
                  </a:lnTo>
                  <a:lnTo>
                    <a:pt x="24963" y="33115"/>
                  </a:lnTo>
                  <a:lnTo>
                    <a:pt x="25714" y="32730"/>
                  </a:lnTo>
                  <a:lnTo>
                    <a:pt x="26444" y="32304"/>
                  </a:lnTo>
                  <a:lnTo>
                    <a:pt x="27154" y="31858"/>
                  </a:lnTo>
                  <a:lnTo>
                    <a:pt x="27823" y="31371"/>
                  </a:lnTo>
                  <a:lnTo>
                    <a:pt x="28492" y="30844"/>
                  </a:lnTo>
                  <a:lnTo>
                    <a:pt x="29121" y="30297"/>
                  </a:lnTo>
                  <a:lnTo>
                    <a:pt x="29729" y="29729"/>
                  </a:lnTo>
                  <a:lnTo>
                    <a:pt x="30297" y="29120"/>
                  </a:lnTo>
                  <a:lnTo>
                    <a:pt x="30844" y="28492"/>
                  </a:lnTo>
                  <a:lnTo>
                    <a:pt x="31372" y="27823"/>
                  </a:lnTo>
                  <a:lnTo>
                    <a:pt x="31858" y="27153"/>
                  </a:lnTo>
                  <a:lnTo>
                    <a:pt x="32304" y="26444"/>
                  </a:lnTo>
                  <a:lnTo>
                    <a:pt x="32730" y="25714"/>
                  </a:lnTo>
                  <a:lnTo>
                    <a:pt x="33116" y="24963"/>
                  </a:lnTo>
                  <a:lnTo>
                    <a:pt x="33460" y="24193"/>
                  </a:lnTo>
                  <a:lnTo>
                    <a:pt x="33765" y="23402"/>
                  </a:lnTo>
                  <a:lnTo>
                    <a:pt x="34048" y="22591"/>
                  </a:lnTo>
                  <a:lnTo>
                    <a:pt x="34271" y="21759"/>
                  </a:lnTo>
                  <a:lnTo>
                    <a:pt x="34474" y="20928"/>
                  </a:lnTo>
                  <a:lnTo>
                    <a:pt x="34616" y="20056"/>
                  </a:lnTo>
                  <a:lnTo>
                    <a:pt x="34738" y="19184"/>
                  </a:lnTo>
                  <a:lnTo>
                    <a:pt x="34799" y="18312"/>
                  </a:lnTo>
                  <a:lnTo>
                    <a:pt x="34819" y="17420"/>
                  </a:lnTo>
                  <a:lnTo>
                    <a:pt x="34799" y="16507"/>
                  </a:lnTo>
                  <a:lnTo>
                    <a:pt x="34738" y="15635"/>
                  </a:lnTo>
                  <a:lnTo>
                    <a:pt x="34616" y="14763"/>
                  </a:lnTo>
                  <a:lnTo>
                    <a:pt x="34474" y="13911"/>
                  </a:lnTo>
                  <a:lnTo>
                    <a:pt x="34271" y="13060"/>
                  </a:lnTo>
                  <a:lnTo>
                    <a:pt x="34048" y="12228"/>
                  </a:lnTo>
                  <a:lnTo>
                    <a:pt x="33765" y="11417"/>
                  </a:lnTo>
                  <a:lnTo>
                    <a:pt x="33460" y="10626"/>
                  </a:lnTo>
                  <a:lnTo>
                    <a:pt x="33116" y="9856"/>
                  </a:lnTo>
                  <a:lnTo>
                    <a:pt x="32730" y="9105"/>
                  </a:lnTo>
                  <a:lnTo>
                    <a:pt x="32304" y="8375"/>
                  </a:lnTo>
                  <a:lnTo>
                    <a:pt x="31858" y="7686"/>
                  </a:lnTo>
                  <a:lnTo>
                    <a:pt x="31372" y="6996"/>
                  </a:lnTo>
                  <a:lnTo>
                    <a:pt x="30844" y="6327"/>
                  </a:lnTo>
                  <a:lnTo>
                    <a:pt x="30297" y="5698"/>
                  </a:lnTo>
                  <a:lnTo>
                    <a:pt x="29729" y="5090"/>
                  </a:lnTo>
                  <a:lnTo>
                    <a:pt x="29121" y="4522"/>
                  </a:lnTo>
                  <a:lnTo>
                    <a:pt x="28492" y="3975"/>
                  </a:lnTo>
                  <a:lnTo>
                    <a:pt x="27823" y="3468"/>
                  </a:lnTo>
                  <a:lnTo>
                    <a:pt x="27154" y="2981"/>
                  </a:lnTo>
                  <a:lnTo>
                    <a:pt x="26444" y="2515"/>
                  </a:lnTo>
                  <a:lnTo>
                    <a:pt x="25714" y="2109"/>
                  </a:lnTo>
                  <a:lnTo>
                    <a:pt x="24963" y="1724"/>
                  </a:lnTo>
                  <a:lnTo>
                    <a:pt x="24193" y="1359"/>
                  </a:lnTo>
                  <a:lnTo>
                    <a:pt x="23402" y="1055"/>
                  </a:lnTo>
                  <a:lnTo>
                    <a:pt x="22591" y="791"/>
                  </a:lnTo>
                  <a:lnTo>
                    <a:pt x="21759" y="548"/>
                  </a:lnTo>
                  <a:lnTo>
                    <a:pt x="20928" y="345"/>
                  </a:lnTo>
                  <a:lnTo>
                    <a:pt x="20056" y="203"/>
                  </a:lnTo>
                  <a:lnTo>
                    <a:pt x="19204" y="81"/>
                  </a:lnTo>
                  <a:lnTo>
                    <a:pt x="18312" y="20"/>
                  </a:lnTo>
                  <a:lnTo>
                    <a:pt x="17420" y="0"/>
                  </a:lnTo>
                  <a:close/>
                </a:path>
              </a:pathLst>
            </a:custGeom>
            <a:solidFill>
              <a:srgbClr val="70AD4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5"/>
            <p:cNvSpPr/>
            <p:nvPr/>
          </p:nvSpPr>
          <p:spPr>
            <a:xfrm>
              <a:off x="7110645" y="1418821"/>
              <a:ext cx="579445" cy="579445"/>
            </a:xfrm>
            <a:custGeom>
              <a:avLst/>
              <a:gdLst/>
              <a:ahLst/>
              <a:cxnLst/>
              <a:rect l="l" t="t" r="r" b="b"/>
              <a:pathLst>
                <a:path w="28453" h="28453" extrusionOk="0">
                  <a:moveTo>
                    <a:pt x="14237" y="1"/>
                  </a:moveTo>
                  <a:lnTo>
                    <a:pt x="13507" y="21"/>
                  </a:lnTo>
                  <a:lnTo>
                    <a:pt x="12777" y="82"/>
                  </a:lnTo>
                  <a:lnTo>
                    <a:pt x="12067" y="163"/>
                  </a:lnTo>
                  <a:lnTo>
                    <a:pt x="11357" y="285"/>
                  </a:lnTo>
                  <a:lnTo>
                    <a:pt x="10668" y="447"/>
                  </a:lnTo>
                  <a:lnTo>
                    <a:pt x="9998" y="650"/>
                  </a:lnTo>
                  <a:lnTo>
                    <a:pt x="9350" y="873"/>
                  </a:lnTo>
                  <a:lnTo>
                    <a:pt x="8701" y="1116"/>
                  </a:lnTo>
                  <a:lnTo>
                    <a:pt x="8072" y="1400"/>
                  </a:lnTo>
                  <a:lnTo>
                    <a:pt x="7443" y="1724"/>
                  </a:lnTo>
                  <a:lnTo>
                    <a:pt x="6855" y="2069"/>
                  </a:lnTo>
                  <a:lnTo>
                    <a:pt x="6287" y="2434"/>
                  </a:lnTo>
                  <a:lnTo>
                    <a:pt x="5720" y="2840"/>
                  </a:lnTo>
                  <a:lnTo>
                    <a:pt x="5192" y="3245"/>
                  </a:lnTo>
                  <a:lnTo>
                    <a:pt x="4665" y="3692"/>
                  </a:lnTo>
                  <a:lnTo>
                    <a:pt x="4178" y="4178"/>
                  </a:lnTo>
                  <a:lnTo>
                    <a:pt x="3712" y="4665"/>
                  </a:lnTo>
                  <a:lnTo>
                    <a:pt x="3246" y="5172"/>
                  </a:lnTo>
                  <a:lnTo>
                    <a:pt x="2840" y="5719"/>
                  </a:lnTo>
                  <a:lnTo>
                    <a:pt x="2434" y="6267"/>
                  </a:lnTo>
                  <a:lnTo>
                    <a:pt x="2069" y="6855"/>
                  </a:lnTo>
                  <a:lnTo>
                    <a:pt x="1725" y="7443"/>
                  </a:lnTo>
                  <a:lnTo>
                    <a:pt x="1400" y="8072"/>
                  </a:lnTo>
                  <a:lnTo>
                    <a:pt x="1116" y="8700"/>
                  </a:lnTo>
                  <a:lnTo>
                    <a:pt x="873" y="9329"/>
                  </a:lnTo>
                  <a:lnTo>
                    <a:pt x="650" y="9998"/>
                  </a:lnTo>
                  <a:lnTo>
                    <a:pt x="447" y="10667"/>
                  </a:lnTo>
                  <a:lnTo>
                    <a:pt x="305" y="11357"/>
                  </a:lnTo>
                  <a:lnTo>
                    <a:pt x="163" y="12067"/>
                  </a:lnTo>
                  <a:lnTo>
                    <a:pt x="82" y="12776"/>
                  </a:lnTo>
                  <a:lnTo>
                    <a:pt x="21" y="13507"/>
                  </a:lnTo>
                  <a:lnTo>
                    <a:pt x="1" y="14237"/>
                  </a:lnTo>
                  <a:lnTo>
                    <a:pt x="21" y="14967"/>
                  </a:lnTo>
                  <a:lnTo>
                    <a:pt x="82" y="15676"/>
                  </a:lnTo>
                  <a:lnTo>
                    <a:pt x="163" y="16386"/>
                  </a:lnTo>
                  <a:lnTo>
                    <a:pt x="305" y="17096"/>
                  </a:lnTo>
                  <a:lnTo>
                    <a:pt x="447" y="17785"/>
                  </a:lnTo>
                  <a:lnTo>
                    <a:pt x="650" y="18455"/>
                  </a:lnTo>
                  <a:lnTo>
                    <a:pt x="873" y="19124"/>
                  </a:lnTo>
                  <a:lnTo>
                    <a:pt x="1116" y="19773"/>
                  </a:lnTo>
                  <a:lnTo>
                    <a:pt x="1400" y="20401"/>
                  </a:lnTo>
                  <a:lnTo>
                    <a:pt x="1725" y="21010"/>
                  </a:lnTo>
                  <a:lnTo>
                    <a:pt x="2069" y="21598"/>
                  </a:lnTo>
                  <a:lnTo>
                    <a:pt x="2434" y="22186"/>
                  </a:lnTo>
                  <a:lnTo>
                    <a:pt x="2840" y="22733"/>
                  </a:lnTo>
                  <a:lnTo>
                    <a:pt x="3246" y="23281"/>
                  </a:lnTo>
                  <a:lnTo>
                    <a:pt x="3712" y="23788"/>
                  </a:lnTo>
                  <a:lnTo>
                    <a:pt x="4178" y="24295"/>
                  </a:lnTo>
                  <a:lnTo>
                    <a:pt x="4665" y="24761"/>
                  </a:lnTo>
                  <a:lnTo>
                    <a:pt x="5192" y="25207"/>
                  </a:lnTo>
                  <a:lnTo>
                    <a:pt x="5720" y="25633"/>
                  </a:lnTo>
                  <a:lnTo>
                    <a:pt x="6287" y="26019"/>
                  </a:lnTo>
                  <a:lnTo>
                    <a:pt x="6855" y="26384"/>
                  </a:lnTo>
                  <a:lnTo>
                    <a:pt x="7443" y="26728"/>
                  </a:lnTo>
                  <a:lnTo>
                    <a:pt x="8072" y="27053"/>
                  </a:lnTo>
                  <a:lnTo>
                    <a:pt x="8701" y="27337"/>
                  </a:lnTo>
                  <a:lnTo>
                    <a:pt x="9350" y="27580"/>
                  </a:lnTo>
                  <a:lnTo>
                    <a:pt x="9998" y="27803"/>
                  </a:lnTo>
                  <a:lnTo>
                    <a:pt x="10668" y="28006"/>
                  </a:lnTo>
                  <a:lnTo>
                    <a:pt x="11357" y="28168"/>
                  </a:lnTo>
                  <a:lnTo>
                    <a:pt x="12067" y="28290"/>
                  </a:lnTo>
                  <a:lnTo>
                    <a:pt x="12777" y="28371"/>
                  </a:lnTo>
                  <a:lnTo>
                    <a:pt x="13507" y="28432"/>
                  </a:lnTo>
                  <a:lnTo>
                    <a:pt x="14237" y="28452"/>
                  </a:lnTo>
                  <a:lnTo>
                    <a:pt x="14967" y="28432"/>
                  </a:lnTo>
                  <a:lnTo>
                    <a:pt x="15677" y="28371"/>
                  </a:lnTo>
                  <a:lnTo>
                    <a:pt x="16407" y="28290"/>
                  </a:lnTo>
                  <a:lnTo>
                    <a:pt x="17096" y="28168"/>
                  </a:lnTo>
                  <a:lnTo>
                    <a:pt x="17786" y="28006"/>
                  </a:lnTo>
                  <a:lnTo>
                    <a:pt x="18455" y="27803"/>
                  </a:lnTo>
                  <a:lnTo>
                    <a:pt x="19124" y="27580"/>
                  </a:lnTo>
                  <a:lnTo>
                    <a:pt x="19773" y="27337"/>
                  </a:lnTo>
                  <a:lnTo>
                    <a:pt x="20402" y="27053"/>
                  </a:lnTo>
                  <a:lnTo>
                    <a:pt x="21010" y="26728"/>
                  </a:lnTo>
                  <a:lnTo>
                    <a:pt x="21598" y="26384"/>
                  </a:lnTo>
                  <a:lnTo>
                    <a:pt x="22186" y="26019"/>
                  </a:lnTo>
                  <a:lnTo>
                    <a:pt x="22734" y="25633"/>
                  </a:lnTo>
                  <a:lnTo>
                    <a:pt x="23281" y="25207"/>
                  </a:lnTo>
                  <a:lnTo>
                    <a:pt x="23788" y="24761"/>
                  </a:lnTo>
                  <a:lnTo>
                    <a:pt x="24295" y="24295"/>
                  </a:lnTo>
                  <a:lnTo>
                    <a:pt x="24761" y="23788"/>
                  </a:lnTo>
                  <a:lnTo>
                    <a:pt x="25208" y="23281"/>
                  </a:lnTo>
                  <a:lnTo>
                    <a:pt x="25633" y="22733"/>
                  </a:lnTo>
                  <a:lnTo>
                    <a:pt x="26019" y="22186"/>
                  </a:lnTo>
                  <a:lnTo>
                    <a:pt x="26404" y="21598"/>
                  </a:lnTo>
                  <a:lnTo>
                    <a:pt x="26729" y="21010"/>
                  </a:lnTo>
                  <a:lnTo>
                    <a:pt x="27053" y="20401"/>
                  </a:lnTo>
                  <a:lnTo>
                    <a:pt x="27337" y="19773"/>
                  </a:lnTo>
                  <a:lnTo>
                    <a:pt x="27601" y="19124"/>
                  </a:lnTo>
                  <a:lnTo>
                    <a:pt x="27824" y="18455"/>
                  </a:lnTo>
                  <a:lnTo>
                    <a:pt x="28006" y="17785"/>
                  </a:lnTo>
                  <a:lnTo>
                    <a:pt x="28168" y="17096"/>
                  </a:lnTo>
                  <a:lnTo>
                    <a:pt x="28290" y="16386"/>
                  </a:lnTo>
                  <a:lnTo>
                    <a:pt x="28371" y="15676"/>
                  </a:lnTo>
                  <a:lnTo>
                    <a:pt x="28432" y="14967"/>
                  </a:lnTo>
                  <a:lnTo>
                    <a:pt x="28452" y="14237"/>
                  </a:lnTo>
                  <a:lnTo>
                    <a:pt x="28432" y="13507"/>
                  </a:lnTo>
                  <a:lnTo>
                    <a:pt x="28371" y="12776"/>
                  </a:lnTo>
                  <a:lnTo>
                    <a:pt x="28290" y="12067"/>
                  </a:lnTo>
                  <a:lnTo>
                    <a:pt x="28168" y="11357"/>
                  </a:lnTo>
                  <a:lnTo>
                    <a:pt x="28006" y="10667"/>
                  </a:lnTo>
                  <a:lnTo>
                    <a:pt x="27824" y="9998"/>
                  </a:lnTo>
                  <a:lnTo>
                    <a:pt x="27601" y="9329"/>
                  </a:lnTo>
                  <a:lnTo>
                    <a:pt x="27337" y="8700"/>
                  </a:lnTo>
                  <a:lnTo>
                    <a:pt x="27053" y="8072"/>
                  </a:lnTo>
                  <a:lnTo>
                    <a:pt x="26729" y="7443"/>
                  </a:lnTo>
                  <a:lnTo>
                    <a:pt x="26404" y="6855"/>
                  </a:lnTo>
                  <a:lnTo>
                    <a:pt x="26019" y="6267"/>
                  </a:lnTo>
                  <a:lnTo>
                    <a:pt x="25633" y="5719"/>
                  </a:lnTo>
                  <a:lnTo>
                    <a:pt x="25208" y="5172"/>
                  </a:lnTo>
                  <a:lnTo>
                    <a:pt x="24761" y="4665"/>
                  </a:lnTo>
                  <a:lnTo>
                    <a:pt x="24295" y="4178"/>
                  </a:lnTo>
                  <a:lnTo>
                    <a:pt x="23788" y="3692"/>
                  </a:lnTo>
                  <a:lnTo>
                    <a:pt x="23281" y="3245"/>
                  </a:lnTo>
                  <a:lnTo>
                    <a:pt x="22734" y="2840"/>
                  </a:lnTo>
                  <a:lnTo>
                    <a:pt x="22186" y="2434"/>
                  </a:lnTo>
                  <a:lnTo>
                    <a:pt x="21598" y="2069"/>
                  </a:lnTo>
                  <a:lnTo>
                    <a:pt x="21010" y="1724"/>
                  </a:lnTo>
                  <a:lnTo>
                    <a:pt x="20402" y="1400"/>
                  </a:lnTo>
                  <a:lnTo>
                    <a:pt x="19773" y="1116"/>
                  </a:lnTo>
                  <a:lnTo>
                    <a:pt x="19124" y="873"/>
                  </a:lnTo>
                  <a:lnTo>
                    <a:pt x="18455" y="650"/>
                  </a:lnTo>
                  <a:lnTo>
                    <a:pt x="17786" y="447"/>
                  </a:lnTo>
                  <a:lnTo>
                    <a:pt x="17096" y="285"/>
                  </a:lnTo>
                  <a:lnTo>
                    <a:pt x="16407" y="163"/>
                  </a:lnTo>
                  <a:lnTo>
                    <a:pt x="15677" y="82"/>
                  </a:lnTo>
                  <a:lnTo>
                    <a:pt x="14967" y="21"/>
                  </a:lnTo>
                  <a:lnTo>
                    <a:pt x="14237" y="1"/>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5"/>
            <p:cNvSpPr/>
            <p:nvPr/>
          </p:nvSpPr>
          <p:spPr>
            <a:xfrm>
              <a:off x="7383225" y="1468798"/>
              <a:ext cx="161902" cy="277534"/>
            </a:xfrm>
            <a:custGeom>
              <a:avLst/>
              <a:gdLst/>
              <a:ahLst/>
              <a:cxnLst/>
              <a:rect l="l" t="t" r="r" b="b"/>
              <a:pathLst>
                <a:path w="7950" h="13628" extrusionOk="0">
                  <a:moveTo>
                    <a:pt x="669" y="1"/>
                  </a:moveTo>
                  <a:lnTo>
                    <a:pt x="527" y="61"/>
                  </a:lnTo>
                  <a:lnTo>
                    <a:pt x="365" y="142"/>
                  </a:lnTo>
                  <a:lnTo>
                    <a:pt x="243" y="244"/>
                  </a:lnTo>
                  <a:lnTo>
                    <a:pt x="142" y="366"/>
                  </a:lnTo>
                  <a:lnTo>
                    <a:pt x="61" y="507"/>
                  </a:lnTo>
                  <a:lnTo>
                    <a:pt x="20" y="670"/>
                  </a:lnTo>
                  <a:lnTo>
                    <a:pt x="0" y="832"/>
                  </a:lnTo>
                  <a:lnTo>
                    <a:pt x="0" y="13628"/>
                  </a:lnTo>
                  <a:lnTo>
                    <a:pt x="7665" y="6936"/>
                  </a:lnTo>
                  <a:lnTo>
                    <a:pt x="7767" y="6814"/>
                  </a:lnTo>
                  <a:lnTo>
                    <a:pt x="7868" y="6672"/>
                  </a:lnTo>
                  <a:lnTo>
                    <a:pt x="7929" y="6530"/>
                  </a:lnTo>
                  <a:lnTo>
                    <a:pt x="7949" y="6368"/>
                  </a:lnTo>
                  <a:lnTo>
                    <a:pt x="7949" y="6206"/>
                  </a:lnTo>
                  <a:lnTo>
                    <a:pt x="7909" y="6044"/>
                  </a:lnTo>
                  <a:lnTo>
                    <a:pt x="7848" y="5881"/>
                  </a:lnTo>
                  <a:lnTo>
                    <a:pt x="7747" y="5760"/>
                  </a:lnTo>
                  <a:lnTo>
                    <a:pt x="7625" y="5638"/>
                  </a:lnTo>
                  <a:lnTo>
                    <a:pt x="7483" y="5537"/>
                  </a:lnTo>
                  <a:lnTo>
                    <a:pt x="7321" y="5496"/>
                  </a:lnTo>
                  <a:lnTo>
                    <a:pt x="7158" y="5456"/>
                  </a:lnTo>
                  <a:lnTo>
                    <a:pt x="6996" y="5476"/>
                  </a:lnTo>
                  <a:lnTo>
                    <a:pt x="6834" y="5496"/>
                  </a:lnTo>
                  <a:lnTo>
                    <a:pt x="6692" y="5577"/>
                  </a:lnTo>
                  <a:lnTo>
                    <a:pt x="6550" y="5679"/>
                  </a:lnTo>
                  <a:lnTo>
                    <a:pt x="1683" y="9917"/>
                  </a:lnTo>
                  <a:lnTo>
                    <a:pt x="1683" y="832"/>
                  </a:lnTo>
                  <a:lnTo>
                    <a:pt x="1663" y="670"/>
                  </a:lnTo>
                  <a:lnTo>
                    <a:pt x="1622" y="507"/>
                  </a:lnTo>
                  <a:lnTo>
                    <a:pt x="1541" y="366"/>
                  </a:lnTo>
                  <a:lnTo>
                    <a:pt x="1440" y="244"/>
                  </a:lnTo>
                  <a:lnTo>
                    <a:pt x="1318" y="142"/>
                  </a:lnTo>
                  <a:lnTo>
                    <a:pt x="1176" y="61"/>
                  </a:lnTo>
                  <a:lnTo>
                    <a:pt x="1014" y="1"/>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5"/>
            <p:cNvSpPr/>
            <p:nvPr/>
          </p:nvSpPr>
          <p:spPr>
            <a:xfrm>
              <a:off x="7343982" y="1652169"/>
              <a:ext cx="113168" cy="112761"/>
            </a:xfrm>
            <a:custGeom>
              <a:avLst/>
              <a:gdLst/>
              <a:ahLst/>
              <a:cxnLst/>
              <a:rect l="l" t="t" r="r" b="b"/>
              <a:pathLst>
                <a:path w="5557" h="5537" extrusionOk="0">
                  <a:moveTo>
                    <a:pt x="2495" y="0"/>
                  </a:moveTo>
                  <a:lnTo>
                    <a:pt x="2211" y="61"/>
                  </a:lnTo>
                  <a:lnTo>
                    <a:pt x="1947" y="122"/>
                  </a:lnTo>
                  <a:lnTo>
                    <a:pt x="1684" y="223"/>
                  </a:lnTo>
                  <a:lnTo>
                    <a:pt x="1440" y="325"/>
                  </a:lnTo>
                  <a:lnTo>
                    <a:pt x="1217" y="467"/>
                  </a:lnTo>
                  <a:lnTo>
                    <a:pt x="1014" y="629"/>
                  </a:lnTo>
                  <a:lnTo>
                    <a:pt x="812" y="812"/>
                  </a:lnTo>
                  <a:lnTo>
                    <a:pt x="629" y="1014"/>
                  </a:lnTo>
                  <a:lnTo>
                    <a:pt x="467" y="1217"/>
                  </a:lnTo>
                  <a:lnTo>
                    <a:pt x="325" y="1440"/>
                  </a:lnTo>
                  <a:lnTo>
                    <a:pt x="224" y="1683"/>
                  </a:lnTo>
                  <a:lnTo>
                    <a:pt x="122" y="1947"/>
                  </a:lnTo>
                  <a:lnTo>
                    <a:pt x="61" y="2211"/>
                  </a:lnTo>
                  <a:lnTo>
                    <a:pt x="21" y="2495"/>
                  </a:lnTo>
                  <a:lnTo>
                    <a:pt x="1" y="2779"/>
                  </a:lnTo>
                  <a:lnTo>
                    <a:pt x="21" y="3062"/>
                  </a:lnTo>
                  <a:lnTo>
                    <a:pt x="61" y="3326"/>
                  </a:lnTo>
                  <a:lnTo>
                    <a:pt x="122" y="3590"/>
                  </a:lnTo>
                  <a:lnTo>
                    <a:pt x="224" y="3853"/>
                  </a:lnTo>
                  <a:lnTo>
                    <a:pt x="325" y="4097"/>
                  </a:lnTo>
                  <a:lnTo>
                    <a:pt x="467" y="4320"/>
                  </a:lnTo>
                  <a:lnTo>
                    <a:pt x="629" y="4543"/>
                  </a:lnTo>
                  <a:lnTo>
                    <a:pt x="812" y="4725"/>
                  </a:lnTo>
                  <a:lnTo>
                    <a:pt x="1014" y="4908"/>
                  </a:lnTo>
                  <a:lnTo>
                    <a:pt x="1217" y="5070"/>
                  </a:lnTo>
                  <a:lnTo>
                    <a:pt x="1440" y="5212"/>
                  </a:lnTo>
                  <a:lnTo>
                    <a:pt x="1684" y="5334"/>
                  </a:lnTo>
                  <a:lnTo>
                    <a:pt x="1947" y="5415"/>
                  </a:lnTo>
                  <a:lnTo>
                    <a:pt x="2211" y="5496"/>
                  </a:lnTo>
                  <a:lnTo>
                    <a:pt x="2495" y="5536"/>
                  </a:lnTo>
                  <a:lnTo>
                    <a:pt x="3063" y="5536"/>
                  </a:lnTo>
                  <a:lnTo>
                    <a:pt x="3326" y="5496"/>
                  </a:lnTo>
                  <a:lnTo>
                    <a:pt x="3590" y="5415"/>
                  </a:lnTo>
                  <a:lnTo>
                    <a:pt x="3853" y="5334"/>
                  </a:lnTo>
                  <a:lnTo>
                    <a:pt x="4097" y="5212"/>
                  </a:lnTo>
                  <a:lnTo>
                    <a:pt x="4320" y="5070"/>
                  </a:lnTo>
                  <a:lnTo>
                    <a:pt x="4543" y="4908"/>
                  </a:lnTo>
                  <a:lnTo>
                    <a:pt x="4725" y="4725"/>
                  </a:lnTo>
                  <a:lnTo>
                    <a:pt x="4908" y="4543"/>
                  </a:lnTo>
                  <a:lnTo>
                    <a:pt x="5070" y="4320"/>
                  </a:lnTo>
                  <a:lnTo>
                    <a:pt x="5212" y="4097"/>
                  </a:lnTo>
                  <a:lnTo>
                    <a:pt x="5334" y="3853"/>
                  </a:lnTo>
                  <a:lnTo>
                    <a:pt x="5415" y="3590"/>
                  </a:lnTo>
                  <a:lnTo>
                    <a:pt x="5496" y="3326"/>
                  </a:lnTo>
                  <a:lnTo>
                    <a:pt x="5537" y="3062"/>
                  </a:lnTo>
                  <a:lnTo>
                    <a:pt x="5557" y="2779"/>
                  </a:lnTo>
                  <a:lnTo>
                    <a:pt x="5537" y="2495"/>
                  </a:lnTo>
                  <a:lnTo>
                    <a:pt x="5496" y="2211"/>
                  </a:lnTo>
                  <a:lnTo>
                    <a:pt x="5415" y="1947"/>
                  </a:lnTo>
                  <a:lnTo>
                    <a:pt x="5334" y="1683"/>
                  </a:lnTo>
                  <a:lnTo>
                    <a:pt x="5212" y="1440"/>
                  </a:lnTo>
                  <a:lnTo>
                    <a:pt x="5070" y="1217"/>
                  </a:lnTo>
                  <a:lnTo>
                    <a:pt x="4908" y="1014"/>
                  </a:lnTo>
                  <a:lnTo>
                    <a:pt x="4725" y="812"/>
                  </a:lnTo>
                  <a:lnTo>
                    <a:pt x="4543" y="629"/>
                  </a:lnTo>
                  <a:lnTo>
                    <a:pt x="4320" y="467"/>
                  </a:lnTo>
                  <a:lnTo>
                    <a:pt x="4097" y="325"/>
                  </a:lnTo>
                  <a:lnTo>
                    <a:pt x="3853" y="223"/>
                  </a:lnTo>
                  <a:lnTo>
                    <a:pt x="3590" y="122"/>
                  </a:lnTo>
                  <a:lnTo>
                    <a:pt x="3326" y="61"/>
                  </a:lnTo>
                  <a:lnTo>
                    <a:pt x="3063"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5"/>
            <p:cNvSpPr/>
            <p:nvPr/>
          </p:nvSpPr>
          <p:spPr>
            <a:xfrm>
              <a:off x="7701364" y="3146653"/>
              <a:ext cx="709094" cy="231589"/>
            </a:xfrm>
            <a:custGeom>
              <a:avLst/>
              <a:gdLst/>
              <a:ahLst/>
              <a:cxnLst/>
              <a:rect l="l" t="t" r="r" b="b"/>
              <a:pathLst>
                <a:path w="46075" h="15048" extrusionOk="0">
                  <a:moveTo>
                    <a:pt x="1" y="0"/>
                  </a:moveTo>
                  <a:lnTo>
                    <a:pt x="1" y="15047"/>
                  </a:lnTo>
                  <a:lnTo>
                    <a:pt x="40802" y="15047"/>
                  </a:lnTo>
                  <a:lnTo>
                    <a:pt x="41086" y="15027"/>
                  </a:lnTo>
                  <a:lnTo>
                    <a:pt x="41350" y="14986"/>
                  </a:lnTo>
                  <a:lnTo>
                    <a:pt x="41634" y="14946"/>
                  </a:lnTo>
                  <a:lnTo>
                    <a:pt x="41897" y="14885"/>
                  </a:lnTo>
                  <a:lnTo>
                    <a:pt x="42161" y="14804"/>
                  </a:lnTo>
                  <a:lnTo>
                    <a:pt x="42424" y="14723"/>
                  </a:lnTo>
                  <a:lnTo>
                    <a:pt x="42688" y="14621"/>
                  </a:lnTo>
                  <a:lnTo>
                    <a:pt x="42931" y="14500"/>
                  </a:lnTo>
                  <a:lnTo>
                    <a:pt x="43175" y="14378"/>
                  </a:lnTo>
                  <a:lnTo>
                    <a:pt x="43398" y="14256"/>
                  </a:lnTo>
                  <a:lnTo>
                    <a:pt x="43621" y="14094"/>
                  </a:lnTo>
                  <a:lnTo>
                    <a:pt x="43844" y="13952"/>
                  </a:lnTo>
                  <a:lnTo>
                    <a:pt x="44047" y="13790"/>
                  </a:lnTo>
                  <a:lnTo>
                    <a:pt x="44250" y="13607"/>
                  </a:lnTo>
                  <a:lnTo>
                    <a:pt x="44452" y="13425"/>
                  </a:lnTo>
                  <a:lnTo>
                    <a:pt x="44635" y="13222"/>
                  </a:lnTo>
                  <a:lnTo>
                    <a:pt x="44817" y="13019"/>
                  </a:lnTo>
                  <a:lnTo>
                    <a:pt x="44980" y="12816"/>
                  </a:lnTo>
                  <a:lnTo>
                    <a:pt x="45122" y="12593"/>
                  </a:lnTo>
                  <a:lnTo>
                    <a:pt x="45284" y="12370"/>
                  </a:lnTo>
                  <a:lnTo>
                    <a:pt x="45405" y="12127"/>
                  </a:lnTo>
                  <a:lnTo>
                    <a:pt x="45527" y="11904"/>
                  </a:lnTo>
                  <a:lnTo>
                    <a:pt x="45649" y="11640"/>
                  </a:lnTo>
                  <a:lnTo>
                    <a:pt x="45750" y="11397"/>
                  </a:lnTo>
                  <a:lnTo>
                    <a:pt x="45831" y="11133"/>
                  </a:lnTo>
                  <a:lnTo>
                    <a:pt x="45912" y="10870"/>
                  </a:lnTo>
                  <a:lnTo>
                    <a:pt x="45973" y="10606"/>
                  </a:lnTo>
                  <a:lnTo>
                    <a:pt x="46014" y="10322"/>
                  </a:lnTo>
                  <a:lnTo>
                    <a:pt x="46054" y="10058"/>
                  </a:lnTo>
                  <a:lnTo>
                    <a:pt x="46075" y="9775"/>
                  </a:lnTo>
                  <a:lnTo>
                    <a:pt x="46075" y="9491"/>
                  </a:lnTo>
                  <a:lnTo>
                    <a:pt x="46075" y="5577"/>
                  </a:lnTo>
                  <a:lnTo>
                    <a:pt x="46075" y="5293"/>
                  </a:lnTo>
                  <a:lnTo>
                    <a:pt x="46054" y="5009"/>
                  </a:lnTo>
                  <a:lnTo>
                    <a:pt x="46014" y="4725"/>
                  </a:lnTo>
                  <a:lnTo>
                    <a:pt x="45973" y="4441"/>
                  </a:lnTo>
                  <a:lnTo>
                    <a:pt x="45912" y="4178"/>
                  </a:lnTo>
                  <a:lnTo>
                    <a:pt x="45831" y="3914"/>
                  </a:lnTo>
                  <a:lnTo>
                    <a:pt x="45750" y="3650"/>
                  </a:lnTo>
                  <a:lnTo>
                    <a:pt x="45649" y="3407"/>
                  </a:lnTo>
                  <a:lnTo>
                    <a:pt x="45527" y="3164"/>
                  </a:lnTo>
                  <a:lnTo>
                    <a:pt x="45405" y="2920"/>
                  </a:lnTo>
                  <a:lnTo>
                    <a:pt x="45284" y="2677"/>
                  </a:lnTo>
                  <a:lnTo>
                    <a:pt x="45122" y="2454"/>
                  </a:lnTo>
                  <a:lnTo>
                    <a:pt x="44980" y="2231"/>
                  </a:lnTo>
                  <a:lnTo>
                    <a:pt x="44817" y="2028"/>
                  </a:lnTo>
                  <a:lnTo>
                    <a:pt x="44635" y="1825"/>
                  </a:lnTo>
                  <a:lnTo>
                    <a:pt x="44452" y="1622"/>
                  </a:lnTo>
                  <a:lnTo>
                    <a:pt x="44250" y="1440"/>
                  </a:lnTo>
                  <a:lnTo>
                    <a:pt x="44047" y="1278"/>
                  </a:lnTo>
                  <a:lnTo>
                    <a:pt x="43844" y="1115"/>
                  </a:lnTo>
                  <a:lnTo>
                    <a:pt x="43621" y="953"/>
                  </a:lnTo>
                  <a:lnTo>
                    <a:pt x="43398" y="811"/>
                  </a:lnTo>
                  <a:lnTo>
                    <a:pt x="43175" y="669"/>
                  </a:lnTo>
                  <a:lnTo>
                    <a:pt x="42931" y="548"/>
                  </a:lnTo>
                  <a:lnTo>
                    <a:pt x="42688" y="446"/>
                  </a:lnTo>
                  <a:lnTo>
                    <a:pt x="42424" y="345"/>
                  </a:lnTo>
                  <a:lnTo>
                    <a:pt x="42161" y="243"/>
                  </a:lnTo>
                  <a:lnTo>
                    <a:pt x="41897" y="183"/>
                  </a:lnTo>
                  <a:lnTo>
                    <a:pt x="41634" y="122"/>
                  </a:lnTo>
                  <a:lnTo>
                    <a:pt x="41350" y="61"/>
                  </a:lnTo>
                  <a:lnTo>
                    <a:pt x="41086" y="20"/>
                  </a:lnTo>
                  <a:lnTo>
                    <a:pt x="40802" y="0"/>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5"/>
            <p:cNvSpPr/>
            <p:nvPr/>
          </p:nvSpPr>
          <p:spPr>
            <a:xfrm>
              <a:off x="7598697" y="3146653"/>
              <a:ext cx="136709" cy="231589"/>
            </a:xfrm>
            <a:custGeom>
              <a:avLst/>
              <a:gdLst/>
              <a:ahLst/>
              <a:cxnLst/>
              <a:rect l="l" t="t" r="r" b="b"/>
              <a:pathLst>
                <a:path w="8883" h="15048" extrusionOk="0">
                  <a:moveTo>
                    <a:pt x="0" y="0"/>
                  </a:moveTo>
                  <a:lnTo>
                    <a:pt x="0" y="15047"/>
                  </a:lnTo>
                  <a:lnTo>
                    <a:pt x="8882" y="15047"/>
                  </a:lnTo>
                  <a:lnTo>
                    <a:pt x="8882"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5"/>
            <p:cNvSpPr/>
            <p:nvPr/>
          </p:nvSpPr>
          <p:spPr>
            <a:xfrm>
              <a:off x="7934815" y="2392005"/>
              <a:ext cx="219415" cy="293380"/>
            </a:xfrm>
            <a:custGeom>
              <a:avLst/>
              <a:gdLst/>
              <a:ahLst/>
              <a:cxnLst/>
              <a:rect l="l" t="t" r="r" b="b"/>
              <a:pathLst>
                <a:path w="14257" h="19063" extrusionOk="0">
                  <a:moveTo>
                    <a:pt x="7058" y="1"/>
                  </a:moveTo>
                  <a:lnTo>
                    <a:pt x="6652" y="41"/>
                  </a:lnTo>
                  <a:lnTo>
                    <a:pt x="6287" y="102"/>
                  </a:lnTo>
                  <a:lnTo>
                    <a:pt x="5942" y="183"/>
                  </a:lnTo>
                  <a:lnTo>
                    <a:pt x="5598" y="285"/>
                  </a:lnTo>
                  <a:lnTo>
                    <a:pt x="5293" y="406"/>
                  </a:lnTo>
                  <a:lnTo>
                    <a:pt x="4969" y="548"/>
                  </a:lnTo>
                  <a:lnTo>
                    <a:pt x="4685" y="711"/>
                  </a:lnTo>
                  <a:lnTo>
                    <a:pt x="4401" y="893"/>
                  </a:lnTo>
                  <a:lnTo>
                    <a:pt x="4117" y="1076"/>
                  </a:lnTo>
                  <a:lnTo>
                    <a:pt x="3854" y="1299"/>
                  </a:lnTo>
                  <a:lnTo>
                    <a:pt x="3610" y="1522"/>
                  </a:lnTo>
                  <a:lnTo>
                    <a:pt x="3367" y="1765"/>
                  </a:lnTo>
                  <a:lnTo>
                    <a:pt x="3144" y="2029"/>
                  </a:lnTo>
                  <a:lnTo>
                    <a:pt x="2921" y="2313"/>
                  </a:lnTo>
                  <a:lnTo>
                    <a:pt x="2698" y="2597"/>
                  </a:lnTo>
                  <a:lnTo>
                    <a:pt x="2515" y="2901"/>
                  </a:lnTo>
                  <a:lnTo>
                    <a:pt x="2312" y="3205"/>
                  </a:lnTo>
                  <a:lnTo>
                    <a:pt x="2130" y="3529"/>
                  </a:lnTo>
                  <a:lnTo>
                    <a:pt x="1968" y="3874"/>
                  </a:lnTo>
                  <a:lnTo>
                    <a:pt x="1643" y="4564"/>
                  </a:lnTo>
                  <a:lnTo>
                    <a:pt x="1380" y="5294"/>
                  </a:lnTo>
                  <a:lnTo>
                    <a:pt x="1116" y="6064"/>
                  </a:lnTo>
                  <a:lnTo>
                    <a:pt x="913" y="6835"/>
                  </a:lnTo>
                  <a:lnTo>
                    <a:pt x="731" y="7646"/>
                  </a:lnTo>
                  <a:lnTo>
                    <a:pt x="568" y="8457"/>
                  </a:lnTo>
                  <a:lnTo>
                    <a:pt x="426" y="9268"/>
                  </a:lnTo>
                  <a:lnTo>
                    <a:pt x="305" y="10079"/>
                  </a:lnTo>
                  <a:lnTo>
                    <a:pt x="224" y="10891"/>
                  </a:lnTo>
                  <a:lnTo>
                    <a:pt x="143" y="11681"/>
                  </a:lnTo>
                  <a:lnTo>
                    <a:pt x="82" y="12452"/>
                  </a:lnTo>
                  <a:lnTo>
                    <a:pt x="61" y="13202"/>
                  </a:lnTo>
                  <a:lnTo>
                    <a:pt x="21" y="13932"/>
                  </a:lnTo>
                  <a:lnTo>
                    <a:pt x="1" y="15271"/>
                  </a:lnTo>
                  <a:lnTo>
                    <a:pt x="21" y="16427"/>
                  </a:lnTo>
                  <a:lnTo>
                    <a:pt x="61" y="17339"/>
                  </a:lnTo>
                  <a:lnTo>
                    <a:pt x="102" y="18272"/>
                  </a:lnTo>
                  <a:lnTo>
                    <a:pt x="143" y="18434"/>
                  </a:lnTo>
                  <a:lnTo>
                    <a:pt x="203" y="18576"/>
                  </a:lnTo>
                  <a:lnTo>
                    <a:pt x="284" y="18718"/>
                  </a:lnTo>
                  <a:lnTo>
                    <a:pt x="386" y="18840"/>
                  </a:lnTo>
                  <a:lnTo>
                    <a:pt x="508" y="18921"/>
                  </a:lnTo>
                  <a:lnTo>
                    <a:pt x="650" y="19002"/>
                  </a:lnTo>
                  <a:lnTo>
                    <a:pt x="791" y="19043"/>
                  </a:lnTo>
                  <a:lnTo>
                    <a:pt x="954" y="19063"/>
                  </a:lnTo>
                  <a:lnTo>
                    <a:pt x="1015" y="19043"/>
                  </a:lnTo>
                  <a:lnTo>
                    <a:pt x="1197" y="19022"/>
                  </a:lnTo>
                  <a:lnTo>
                    <a:pt x="1339" y="18962"/>
                  </a:lnTo>
                  <a:lnTo>
                    <a:pt x="1481" y="18860"/>
                  </a:lnTo>
                  <a:lnTo>
                    <a:pt x="1603" y="18759"/>
                  </a:lnTo>
                  <a:lnTo>
                    <a:pt x="1684" y="18617"/>
                  </a:lnTo>
                  <a:lnTo>
                    <a:pt x="1745" y="18475"/>
                  </a:lnTo>
                  <a:lnTo>
                    <a:pt x="1785" y="18313"/>
                  </a:lnTo>
                  <a:lnTo>
                    <a:pt x="1785" y="18150"/>
                  </a:lnTo>
                  <a:lnTo>
                    <a:pt x="1745" y="17258"/>
                  </a:lnTo>
                  <a:lnTo>
                    <a:pt x="1704" y="16224"/>
                  </a:lnTo>
                  <a:lnTo>
                    <a:pt x="1684" y="15068"/>
                  </a:lnTo>
                  <a:lnTo>
                    <a:pt x="1704" y="13831"/>
                  </a:lnTo>
                  <a:lnTo>
                    <a:pt x="1765" y="12533"/>
                  </a:lnTo>
                  <a:lnTo>
                    <a:pt x="1887" y="11215"/>
                  </a:lnTo>
                  <a:lnTo>
                    <a:pt x="1947" y="10546"/>
                  </a:lnTo>
                  <a:lnTo>
                    <a:pt x="2049" y="9877"/>
                  </a:lnTo>
                  <a:lnTo>
                    <a:pt x="2130" y="9207"/>
                  </a:lnTo>
                  <a:lnTo>
                    <a:pt x="2252" y="8538"/>
                  </a:lnTo>
                  <a:lnTo>
                    <a:pt x="2393" y="7889"/>
                  </a:lnTo>
                  <a:lnTo>
                    <a:pt x="2535" y="7261"/>
                  </a:lnTo>
                  <a:lnTo>
                    <a:pt x="2698" y="6652"/>
                  </a:lnTo>
                  <a:lnTo>
                    <a:pt x="2900" y="6064"/>
                  </a:lnTo>
                  <a:lnTo>
                    <a:pt x="3103" y="5476"/>
                  </a:lnTo>
                  <a:lnTo>
                    <a:pt x="3326" y="4949"/>
                  </a:lnTo>
                  <a:lnTo>
                    <a:pt x="3570" y="4422"/>
                  </a:lnTo>
                  <a:lnTo>
                    <a:pt x="3833" y="3955"/>
                  </a:lnTo>
                  <a:lnTo>
                    <a:pt x="4117" y="3509"/>
                  </a:lnTo>
                  <a:lnTo>
                    <a:pt x="4442" y="3103"/>
                  </a:lnTo>
                  <a:lnTo>
                    <a:pt x="4604" y="2921"/>
                  </a:lnTo>
                  <a:lnTo>
                    <a:pt x="4786" y="2738"/>
                  </a:lnTo>
                  <a:lnTo>
                    <a:pt x="4949" y="2576"/>
                  </a:lnTo>
                  <a:lnTo>
                    <a:pt x="5151" y="2434"/>
                  </a:lnTo>
                  <a:lnTo>
                    <a:pt x="5334" y="2292"/>
                  </a:lnTo>
                  <a:lnTo>
                    <a:pt x="5537" y="2171"/>
                  </a:lnTo>
                  <a:lnTo>
                    <a:pt x="5740" y="2069"/>
                  </a:lnTo>
                  <a:lnTo>
                    <a:pt x="5942" y="1968"/>
                  </a:lnTo>
                  <a:lnTo>
                    <a:pt x="6165" y="1887"/>
                  </a:lnTo>
                  <a:lnTo>
                    <a:pt x="6388" y="1806"/>
                  </a:lnTo>
                  <a:lnTo>
                    <a:pt x="6611" y="1765"/>
                  </a:lnTo>
                  <a:lnTo>
                    <a:pt x="6855" y="1725"/>
                  </a:lnTo>
                  <a:lnTo>
                    <a:pt x="7179" y="1684"/>
                  </a:lnTo>
                  <a:lnTo>
                    <a:pt x="7808" y="1684"/>
                  </a:lnTo>
                  <a:lnTo>
                    <a:pt x="8112" y="1725"/>
                  </a:lnTo>
                  <a:lnTo>
                    <a:pt x="8396" y="1785"/>
                  </a:lnTo>
                  <a:lnTo>
                    <a:pt x="8700" y="1866"/>
                  </a:lnTo>
                  <a:lnTo>
                    <a:pt x="8984" y="1948"/>
                  </a:lnTo>
                  <a:lnTo>
                    <a:pt x="9268" y="2069"/>
                  </a:lnTo>
                  <a:lnTo>
                    <a:pt x="9532" y="2211"/>
                  </a:lnTo>
                  <a:lnTo>
                    <a:pt x="9795" y="2373"/>
                  </a:lnTo>
                  <a:lnTo>
                    <a:pt x="10059" y="2556"/>
                  </a:lnTo>
                  <a:lnTo>
                    <a:pt x="10302" y="2759"/>
                  </a:lnTo>
                  <a:lnTo>
                    <a:pt x="10546" y="2982"/>
                  </a:lnTo>
                  <a:lnTo>
                    <a:pt x="10789" y="3225"/>
                  </a:lnTo>
                  <a:lnTo>
                    <a:pt x="11012" y="3489"/>
                  </a:lnTo>
                  <a:lnTo>
                    <a:pt x="11235" y="3773"/>
                  </a:lnTo>
                  <a:lnTo>
                    <a:pt x="11580" y="4259"/>
                  </a:lnTo>
                  <a:lnTo>
                    <a:pt x="11864" y="4726"/>
                  </a:lnTo>
                  <a:lnTo>
                    <a:pt x="12087" y="5172"/>
                  </a:lnTo>
                  <a:lnTo>
                    <a:pt x="12269" y="5578"/>
                  </a:lnTo>
                  <a:lnTo>
                    <a:pt x="12411" y="5943"/>
                  </a:lnTo>
                  <a:lnTo>
                    <a:pt x="12513" y="6206"/>
                  </a:lnTo>
                  <a:lnTo>
                    <a:pt x="12594" y="6450"/>
                  </a:lnTo>
                  <a:lnTo>
                    <a:pt x="12655" y="6612"/>
                  </a:lnTo>
                  <a:lnTo>
                    <a:pt x="12756" y="6754"/>
                  </a:lnTo>
                  <a:lnTo>
                    <a:pt x="12857" y="6855"/>
                  </a:lnTo>
                  <a:lnTo>
                    <a:pt x="12999" y="6956"/>
                  </a:lnTo>
                  <a:lnTo>
                    <a:pt x="13141" y="7017"/>
                  </a:lnTo>
                  <a:lnTo>
                    <a:pt x="13304" y="7058"/>
                  </a:lnTo>
                  <a:lnTo>
                    <a:pt x="13466" y="7058"/>
                  </a:lnTo>
                  <a:lnTo>
                    <a:pt x="13628" y="7038"/>
                  </a:lnTo>
                  <a:lnTo>
                    <a:pt x="13790" y="6977"/>
                  </a:lnTo>
                  <a:lnTo>
                    <a:pt x="13932" y="6875"/>
                  </a:lnTo>
                  <a:lnTo>
                    <a:pt x="14054" y="6774"/>
                  </a:lnTo>
                  <a:lnTo>
                    <a:pt x="14135" y="6632"/>
                  </a:lnTo>
                  <a:lnTo>
                    <a:pt x="14216" y="6490"/>
                  </a:lnTo>
                  <a:lnTo>
                    <a:pt x="14236" y="6328"/>
                  </a:lnTo>
                  <a:lnTo>
                    <a:pt x="14257" y="6166"/>
                  </a:lnTo>
                  <a:lnTo>
                    <a:pt x="14216" y="5983"/>
                  </a:lnTo>
                  <a:lnTo>
                    <a:pt x="14074" y="5537"/>
                  </a:lnTo>
                  <a:lnTo>
                    <a:pt x="13892" y="5050"/>
                  </a:lnTo>
                  <a:lnTo>
                    <a:pt x="13669" y="4543"/>
                  </a:lnTo>
                  <a:lnTo>
                    <a:pt x="13405" y="4016"/>
                  </a:lnTo>
                  <a:lnTo>
                    <a:pt x="13080" y="3469"/>
                  </a:lnTo>
                  <a:lnTo>
                    <a:pt x="12736" y="2941"/>
                  </a:lnTo>
                  <a:lnTo>
                    <a:pt x="12330" y="2434"/>
                  </a:lnTo>
                  <a:lnTo>
                    <a:pt x="12107" y="2191"/>
                  </a:lnTo>
                  <a:lnTo>
                    <a:pt x="11884" y="1948"/>
                  </a:lnTo>
                  <a:lnTo>
                    <a:pt x="11641" y="1704"/>
                  </a:lnTo>
                  <a:lnTo>
                    <a:pt x="11397" y="1481"/>
                  </a:lnTo>
                  <a:lnTo>
                    <a:pt x="11134" y="1278"/>
                  </a:lnTo>
                  <a:lnTo>
                    <a:pt x="10850" y="1076"/>
                  </a:lnTo>
                  <a:lnTo>
                    <a:pt x="10566" y="873"/>
                  </a:lnTo>
                  <a:lnTo>
                    <a:pt x="10282" y="711"/>
                  </a:lnTo>
                  <a:lnTo>
                    <a:pt x="9978" y="548"/>
                  </a:lnTo>
                  <a:lnTo>
                    <a:pt x="9653" y="406"/>
                  </a:lnTo>
                  <a:lnTo>
                    <a:pt x="9309" y="285"/>
                  </a:lnTo>
                  <a:lnTo>
                    <a:pt x="8964" y="183"/>
                  </a:lnTo>
                  <a:lnTo>
                    <a:pt x="8619" y="102"/>
                  </a:lnTo>
                  <a:lnTo>
                    <a:pt x="8254" y="41"/>
                  </a:lnTo>
                  <a:lnTo>
                    <a:pt x="7869" y="1"/>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5"/>
            <p:cNvSpPr/>
            <p:nvPr/>
          </p:nvSpPr>
          <p:spPr>
            <a:xfrm>
              <a:off x="8014704" y="2706915"/>
              <a:ext cx="525584" cy="170413"/>
            </a:xfrm>
            <a:custGeom>
              <a:avLst/>
              <a:gdLst/>
              <a:ahLst/>
              <a:cxnLst/>
              <a:rect l="l" t="t" r="r" b="b"/>
              <a:pathLst>
                <a:path w="34151" h="11073" extrusionOk="0">
                  <a:moveTo>
                    <a:pt x="25268" y="0"/>
                  </a:moveTo>
                  <a:lnTo>
                    <a:pt x="23950" y="20"/>
                  </a:lnTo>
                  <a:lnTo>
                    <a:pt x="22592" y="81"/>
                  </a:lnTo>
                  <a:lnTo>
                    <a:pt x="21192" y="183"/>
                  </a:lnTo>
                  <a:lnTo>
                    <a:pt x="19773" y="345"/>
                  </a:lnTo>
                  <a:lnTo>
                    <a:pt x="18333" y="527"/>
                  </a:lnTo>
                  <a:lnTo>
                    <a:pt x="16873" y="751"/>
                  </a:lnTo>
                  <a:lnTo>
                    <a:pt x="15413" y="1034"/>
                  </a:lnTo>
                  <a:lnTo>
                    <a:pt x="13973" y="1339"/>
                  </a:lnTo>
                  <a:lnTo>
                    <a:pt x="12533" y="1683"/>
                  </a:lnTo>
                  <a:lnTo>
                    <a:pt x="11134" y="2089"/>
                  </a:lnTo>
                  <a:lnTo>
                    <a:pt x="10445" y="2292"/>
                  </a:lnTo>
                  <a:lnTo>
                    <a:pt x="9775" y="2515"/>
                  </a:lnTo>
                  <a:lnTo>
                    <a:pt x="9106" y="2758"/>
                  </a:lnTo>
                  <a:lnTo>
                    <a:pt x="8457" y="3001"/>
                  </a:lnTo>
                  <a:lnTo>
                    <a:pt x="7808" y="3245"/>
                  </a:lnTo>
                  <a:lnTo>
                    <a:pt x="7200" y="3508"/>
                  </a:lnTo>
                  <a:lnTo>
                    <a:pt x="6592" y="3772"/>
                  </a:lnTo>
                  <a:lnTo>
                    <a:pt x="6004" y="4056"/>
                  </a:lnTo>
                  <a:lnTo>
                    <a:pt x="5436" y="4360"/>
                  </a:lnTo>
                  <a:lnTo>
                    <a:pt x="4888" y="4664"/>
                  </a:lnTo>
                  <a:lnTo>
                    <a:pt x="4361" y="4969"/>
                  </a:lnTo>
                  <a:lnTo>
                    <a:pt x="3854" y="5293"/>
                  </a:lnTo>
                  <a:lnTo>
                    <a:pt x="3367" y="5638"/>
                  </a:lnTo>
                  <a:lnTo>
                    <a:pt x="2921" y="5982"/>
                  </a:lnTo>
                  <a:lnTo>
                    <a:pt x="2475" y="6327"/>
                  </a:lnTo>
                  <a:lnTo>
                    <a:pt x="2090" y="6692"/>
                  </a:lnTo>
                  <a:lnTo>
                    <a:pt x="1704" y="7078"/>
                  </a:lnTo>
                  <a:lnTo>
                    <a:pt x="1360" y="7463"/>
                  </a:lnTo>
                  <a:lnTo>
                    <a:pt x="1055" y="7848"/>
                  </a:lnTo>
                  <a:lnTo>
                    <a:pt x="772" y="8254"/>
                  </a:lnTo>
                  <a:lnTo>
                    <a:pt x="528" y="8680"/>
                  </a:lnTo>
                  <a:lnTo>
                    <a:pt x="305" y="9105"/>
                  </a:lnTo>
                  <a:lnTo>
                    <a:pt x="143" y="9531"/>
                  </a:lnTo>
                  <a:lnTo>
                    <a:pt x="1" y="9977"/>
                  </a:lnTo>
                  <a:lnTo>
                    <a:pt x="954" y="10200"/>
                  </a:lnTo>
                  <a:lnTo>
                    <a:pt x="1988" y="10383"/>
                  </a:lnTo>
                  <a:lnTo>
                    <a:pt x="3063" y="10545"/>
                  </a:lnTo>
                  <a:lnTo>
                    <a:pt x="4178" y="10687"/>
                  </a:lnTo>
                  <a:lnTo>
                    <a:pt x="5355" y="10809"/>
                  </a:lnTo>
                  <a:lnTo>
                    <a:pt x="6571" y="10890"/>
                  </a:lnTo>
                  <a:lnTo>
                    <a:pt x="7808" y="10971"/>
                  </a:lnTo>
                  <a:lnTo>
                    <a:pt x="9066" y="11012"/>
                  </a:lnTo>
                  <a:lnTo>
                    <a:pt x="10343" y="11052"/>
                  </a:lnTo>
                  <a:lnTo>
                    <a:pt x="11641" y="11072"/>
                  </a:lnTo>
                  <a:lnTo>
                    <a:pt x="14237" y="11072"/>
                  </a:lnTo>
                  <a:lnTo>
                    <a:pt x="16812" y="11012"/>
                  </a:lnTo>
                  <a:lnTo>
                    <a:pt x="19327" y="10910"/>
                  </a:lnTo>
                  <a:lnTo>
                    <a:pt x="21720" y="10768"/>
                  </a:lnTo>
                  <a:lnTo>
                    <a:pt x="23950" y="10626"/>
                  </a:lnTo>
                  <a:lnTo>
                    <a:pt x="25958" y="10484"/>
                  </a:lnTo>
                  <a:lnTo>
                    <a:pt x="27722" y="10322"/>
                  </a:lnTo>
                  <a:lnTo>
                    <a:pt x="30277" y="10079"/>
                  </a:lnTo>
                  <a:lnTo>
                    <a:pt x="31210" y="9977"/>
                  </a:lnTo>
                  <a:lnTo>
                    <a:pt x="31393" y="9815"/>
                  </a:lnTo>
                  <a:lnTo>
                    <a:pt x="31616" y="9612"/>
                  </a:lnTo>
                  <a:lnTo>
                    <a:pt x="31879" y="9349"/>
                  </a:lnTo>
                  <a:lnTo>
                    <a:pt x="32204" y="9004"/>
                  </a:lnTo>
                  <a:lnTo>
                    <a:pt x="32528" y="8619"/>
                  </a:lnTo>
                  <a:lnTo>
                    <a:pt x="32873" y="8152"/>
                  </a:lnTo>
                  <a:lnTo>
                    <a:pt x="33218" y="7625"/>
                  </a:lnTo>
                  <a:lnTo>
                    <a:pt x="33360" y="7361"/>
                  </a:lnTo>
                  <a:lnTo>
                    <a:pt x="33522" y="7057"/>
                  </a:lnTo>
                  <a:lnTo>
                    <a:pt x="33664" y="6773"/>
                  </a:lnTo>
                  <a:lnTo>
                    <a:pt x="33786" y="6449"/>
                  </a:lnTo>
                  <a:lnTo>
                    <a:pt x="33887" y="6124"/>
                  </a:lnTo>
                  <a:lnTo>
                    <a:pt x="33988" y="5800"/>
                  </a:lnTo>
                  <a:lnTo>
                    <a:pt x="34049" y="5455"/>
                  </a:lnTo>
                  <a:lnTo>
                    <a:pt x="34110" y="5090"/>
                  </a:lnTo>
                  <a:lnTo>
                    <a:pt x="34151" y="4745"/>
                  </a:lnTo>
                  <a:lnTo>
                    <a:pt x="34151" y="4360"/>
                  </a:lnTo>
                  <a:lnTo>
                    <a:pt x="34130" y="3995"/>
                  </a:lnTo>
                  <a:lnTo>
                    <a:pt x="34070" y="3610"/>
                  </a:lnTo>
                  <a:lnTo>
                    <a:pt x="33988" y="3225"/>
                  </a:lnTo>
                  <a:lnTo>
                    <a:pt x="33867" y="2819"/>
                  </a:lnTo>
                  <a:lnTo>
                    <a:pt x="33705" y="2434"/>
                  </a:lnTo>
                  <a:lnTo>
                    <a:pt x="33522" y="2028"/>
                  </a:lnTo>
                  <a:lnTo>
                    <a:pt x="33400" y="1825"/>
                  </a:lnTo>
                  <a:lnTo>
                    <a:pt x="33238" y="1623"/>
                  </a:lnTo>
                  <a:lnTo>
                    <a:pt x="33035" y="1460"/>
                  </a:lnTo>
                  <a:lnTo>
                    <a:pt x="32792" y="1278"/>
                  </a:lnTo>
                  <a:lnTo>
                    <a:pt x="32528" y="1136"/>
                  </a:lnTo>
                  <a:lnTo>
                    <a:pt x="32224" y="974"/>
                  </a:lnTo>
                  <a:lnTo>
                    <a:pt x="31900" y="852"/>
                  </a:lnTo>
                  <a:lnTo>
                    <a:pt x="31535" y="710"/>
                  </a:lnTo>
                  <a:lnTo>
                    <a:pt x="31149" y="609"/>
                  </a:lnTo>
                  <a:lnTo>
                    <a:pt x="30724" y="487"/>
                  </a:lnTo>
                  <a:lnTo>
                    <a:pt x="30277" y="406"/>
                  </a:lnTo>
                  <a:lnTo>
                    <a:pt x="29811" y="304"/>
                  </a:lnTo>
                  <a:lnTo>
                    <a:pt x="29304" y="244"/>
                  </a:lnTo>
                  <a:lnTo>
                    <a:pt x="28797" y="162"/>
                  </a:lnTo>
                  <a:lnTo>
                    <a:pt x="27682" y="81"/>
                  </a:lnTo>
                  <a:lnTo>
                    <a:pt x="26506" y="20"/>
                  </a:lnTo>
                  <a:lnTo>
                    <a:pt x="25268" y="0"/>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5"/>
            <p:cNvSpPr/>
            <p:nvPr/>
          </p:nvSpPr>
          <p:spPr>
            <a:xfrm>
              <a:off x="8172005" y="2381093"/>
              <a:ext cx="350492" cy="428504"/>
            </a:xfrm>
            <a:custGeom>
              <a:avLst/>
              <a:gdLst/>
              <a:ahLst/>
              <a:cxnLst/>
              <a:rect l="l" t="t" r="r" b="b"/>
              <a:pathLst>
                <a:path w="22774" h="27843" extrusionOk="0">
                  <a:moveTo>
                    <a:pt x="12432" y="0"/>
                  </a:moveTo>
                  <a:lnTo>
                    <a:pt x="11843" y="345"/>
                  </a:lnTo>
                  <a:lnTo>
                    <a:pt x="11296" y="710"/>
                  </a:lnTo>
                  <a:lnTo>
                    <a:pt x="10809" y="1075"/>
                  </a:lnTo>
                  <a:lnTo>
                    <a:pt x="10343" y="1480"/>
                  </a:lnTo>
                  <a:lnTo>
                    <a:pt x="9957" y="1866"/>
                  </a:lnTo>
                  <a:lnTo>
                    <a:pt x="9592" y="2271"/>
                  </a:lnTo>
                  <a:lnTo>
                    <a:pt x="9268" y="2697"/>
                  </a:lnTo>
                  <a:lnTo>
                    <a:pt x="8984" y="3123"/>
                  </a:lnTo>
                  <a:lnTo>
                    <a:pt x="8741" y="3549"/>
                  </a:lnTo>
                  <a:lnTo>
                    <a:pt x="8538" y="3975"/>
                  </a:lnTo>
                  <a:lnTo>
                    <a:pt x="8376" y="4401"/>
                  </a:lnTo>
                  <a:lnTo>
                    <a:pt x="8214" y="4826"/>
                  </a:lnTo>
                  <a:lnTo>
                    <a:pt x="8112" y="5252"/>
                  </a:lnTo>
                  <a:lnTo>
                    <a:pt x="8011" y="5658"/>
                  </a:lnTo>
                  <a:lnTo>
                    <a:pt x="7950" y="6084"/>
                  </a:lnTo>
                  <a:lnTo>
                    <a:pt x="7909" y="6469"/>
                  </a:lnTo>
                  <a:lnTo>
                    <a:pt x="7869" y="6875"/>
                  </a:lnTo>
                  <a:lnTo>
                    <a:pt x="7869" y="7240"/>
                  </a:lnTo>
                  <a:lnTo>
                    <a:pt x="7869" y="7605"/>
                  </a:lnTo>
                  <a:lnTo>
                    <a:pt x="7889" y="7949"/>
                  </a:lnTo>
                  <a:lnTo>
                    <a:pt x="7970" y="8598"/>
                  </a:lnTo>
                  <a:lnTo>
                    <a:pt x="8072" y="9166"/>
                  </a:lnTo>
                  <a:lnTo>
                    <a:pt x="8173" y="9612"/>
                  </a:lnTo>
                  <a:lnTo>
                    <a:pt x="8274" y="9957"/>
                  </a:lnTo>
                  <a:lnTo>
                    <a:pt x="8355" y="10261"/>
                  </a:lnTo>
                  <a:lnTo>
                    <a:pt x="7950" y="10565"/>
                  </a:lnTo>
                  <a:lnTo>
                    <a:pt x="7463" y="10910"/>
                  </a:lnTo>
                  <a:lnTo>
                    <a:pt x="6835" y="11417"/>
                  </a:lnTo>
                  <a:lnTo>
                    <a:pt x="6125" y="12025"/>
                  </a:lnTo>
                  <a:lnTo>
                    <a:pt x="5314" y="12735"/>
                  </a:lnTo>
                  <a:lnTo>
                    <a:pt x="4908" y="13141"/>
                  </a:lnTo>
                  <a:lnTo>
                    <a:pt x="4482" y="13567"/>
                  </a:lnTo>
                  <a:lnTo>
                    <a:pt x="4056" y="14013"/>
                  </a:lnTo>
                  <a:lnTo>
                    <a:pt x="3630" y="14479"/>
                  </a:lnTo>
                  <a:lnTo>
                    <a:pt x="3205" y="14966"/>
                  </a:lnTo>
                  <a:lnTo>
                    <a:pt x="2799" y="15473"/>
                  </a:lnTo>
                  <a:lnTo>
                    <a:pt x="2393" y="16000"/>
                  </a:lnTo>
                  <a:lnTo>
                    <a:pt x="2028" y="16548"/>
                  </a:lnTo>
                  <a:lnTo>
                    <a:pt x="1663" y="17095"/>
                  </a:lnTo>
                  <a:lnTo>
                    <a:pt x="1319" y="17683"/>
                  </a:lnTo>
                  <a:lnTo>
                    <a:pt x="1014" y="18271"/>
                  </a:lnTo>
                  <a:lnTo>
                    <a:pt x="751" y="18859"/>
                  </a:lnTo>
                  <a:lnTo>
                    <a:pt x="508" y="19488"/>
                  </a:lnTo>
                  <a:lnTo>
                    <a:pt x="305" y="20096"/>
                  </a:lnTo>
                  <a:lnTo>
                    <a:pt x="163" y="20725"/>
                  </a:lnTo>
                  <a:lnTo>
                    <a:pt x="102" y="21050"/>
                  </a:lnTo>
                  <a:lnTo>
                    <a:pt x="61" y="21374"/>
                  </a:lnTo>
                  <a:lnTo>
                    <a:pt x="21" y="21698"/>
                  </a:lnTo>
                  <a:lnTo>
                    <a:pt x="21" y="22023"/>
                  </a:lnTo>
                  <a:lnTo>
                    <a:pt x="1" y="22347"/>
                  </a:lnTo>
                  <a:lnTo>
                    <a:pt x="21" y="22672"/>
                  </a:lnTo>
                  <a:lnTo>
                    <a:pt x="41" y="22996"/>
                  </a:lnTo>
                  <a:lnTo>
                    <a:pt x="82" y="23321"/>
                  </a:lnTo>
                  <a:lnTo>
                    <a:pt x="142" y="23645"/>
                  </a:lnTo>
                  <a:lnTo>
                    <a:pt x="224" y="23990"/>
                  </a:lnTo>
                  <a:lnTo>
                    <a:pt x="284" y="24152"/>
                  </a:lnTo>
                  <a:lnTo>
                    <a:pt x="366" y="24355"/>
                  </a:lnTo>
                  <a:lnTo>
                    <a:pt x="508" y="24619"/>
                  </a:lnTo>
                  <a:lnTo>
                    <a:pt x="710" y="24923"/>
                  </a:lnTo>
                  <a:lnTo>
                    <a:pt x="974" y="25268"/>
                  </a:lnTo>
                  <a:lnTo>
                    <a:pt x="1136" y="25450"/>
                  </a:lnTo>
                  <a:lnTo>
                    <a:pt x="1319" y="25633"/>
                  </a:lnTo>
                  <a:lnTo>
                    <a:pt x="1521" y="25815"/>
                  </a:lnTo>
                  <a:lnTo>
                    <a:pt x="1745" y="25998"/>
                  </a:lnTo>
                  <a:lnTo>
                    <a:pt x="1988" y="26180"/>
                  </a:lnTo>
                  <a:lnTo>
                    <a:pt x="2272" y="26363"/>
                  </a:lnTo>
                  <a:lnTo>
                    <a:pt x="2576" y="26545"/>
                  </a:lnTo>
                  <a:lnTo>
                    <a:pt x="2900" y="26728"/>
                  </a:lnTo>
                  <a:lnTo>
                    <a:pt x="3245" y="26890"/>
                  </a:lnTo>
                  <a:lnTo>
                    <a:pt x="3630" y="27052"/>
                  </a:lnTo>
                  <a:lnTo>
                    <a:pt x="4036" y="27194"/>
                  </a:lnTo>
                  <a:lnTo>
                    <a:pt x="4482" y="27336"/>
                  </a:lnTo>
                  <a:lnTo>
                    <a:pt x="4969" y="27458"/>
                  </a:lnTo>
                  <a:lnTo>
                    <a:pt x="5476" y="27579"/>
                  </a:lnTo>
                  <a:lnTo>
                    <a:pt x="6003" y="27660"/>
                  </a:lnTo>
                  <a:lnTo>
                    <a:pt x="6591" y="27742"/>
                  </a:lnTo>
                  <a:lnTo>
                    <a:pt x="7200" y="27802"/>
                  </a:lnTo>
                  <a:lnTo>
                    <a:pt x="7848" y="27843"/>
                  </a:lnTo>
                  <a:lnTo>
                    <a:pt x="9268" y="27843"/>
                  </a:lnTo>
                  <a:lnTo>
                    <a:pt x="10424" y="27782"/>
                  </a:lnTo>
                  <a:lnTo>
                    <a:pt x="11012" y="27742"/>
                  </a:lnTo>
                  <a:lnTo>
                    <a:pt x="11580" y="27681"/>
                  </a:lnTo>
                  <a:lnTo>
                    <a:pt x="12127" y="27600"/>
                  </a:lnTo>
                  <a:lnTo>
                    <a:pt x="12695" y="27518"/>
                  </a:lnTo>
                  <a:lnTo>
                    <a:pt x="13243" y="27417"/>
                  </a:lnTo>
                  <a:lnTo>
                    <a:pt x="13770" y="27316"/>
                  </a:lnTo>
                  <a:lnTo>
                    <a:pt x="14297" y="27174"/>
                  </a:lnTo>
                  <a:lnTo>
                    <a:pt x="14804" y="27032"/>
                  </a:lnTo>
                  <a:lnTo>
                    <a:pt x="15291" y="26870"/>
                  </a:lnTo>
                  <a:lnTo>
                    <a:pt x="15778" y="26687"/>
                  </a:lnTo>
                  <a:lnTo>
                    <a:pt x="16244" y="26505"/>
                  </a:lnTo>
                  <a:lnTo>
                    <a:pt x="16690" y="26281"/>
                  </a:lnTo>
                  <a:lnTo>
                    <a:pt x="17136" y="26058"/>
                  </a:lnTo>
                  <a:lnTo>
                    <a:pt x="17542" y="25815"/>
                  </a:lnTo>
                  <a:lnTo>
                    <a:pt x="17927" y="25551"/>
                  </a:lnTo>
                  <a:lnTo>
                    <a:pt x="18292" y="25268"/>
                  </a:lnTo>
                  <a:lnTo>
                    <a:pt x="18657" y="24943"/>
                  </a:lnTo>
                  <a:lnTo>
                    <a:pt x="18982" y="24619"/>
                  </a:lnTo>
                  <a:lnTo>
                    <a:pt x="19266" y="24274"/>
                  </a:lnTo>
                  <a:lnTo>
                    <a:pt x="19549" y="23909"/>
                  </a:lnTo>
                  <a:lnTo>
                    <a:pt x="19793" y="23524"/>
                  </a:lnTo>
                  <a:lnTo>
                    <a:pt x="20016" y="23118"/>
                  </a:lnTo>
                  <a:lnTo>
                    <a:pt x="20198" y="22672"/>
                  </a:lnTo>
                  <a:lnTo>
                    <a:pt x="20361" y="22226"/>
                  </a:lnTo>
                  <a:lnTo>
                    <a:pt x="20503" y="21739"/>
                  </a:lnTo>
                  <a:lnTo>
                    <a:pt x="20584" y="21232"/>
                  </a:lnTo>
                  <a:lnTo>
                    <a:pt x="20644" y="20705"/>
                  </a:lnTo>
                  <a:lnTo>
                    <a:pt x="20685" y="20137"/>
                  </a:lnTo>
                  <a:lnTo>
                    <a:pt x="20665" y="19569"/>
                  </a:lnTo>
                  <a:lnTo>
                    <a:pt x="20624" y="18961"/>
                  </a:lnTo>
                  <a:lnTo>
                    <a:pt x="20847" y="18839"/>
                  </a:lnTo>
                  <a:lnTo>
                    <a:pt x="21050" y="18717"/>
                  </a:lnTo>
                  <a:lnTo>
                    <a:pt x="21253" y="18555"/>
                  </a:lnTo>
                  <a:lnTo>
                    <a:pt x="21435" y="18393"/>
                  </a:lnTo>
                  <a:lnTo>
                    <a:pt x="21598" y="18210"/>
                  </a:lnTo>
                  <a:lnTo>
                    <a:pt x="21760" y="18008"/>
                  </a:lnTo>
                  <a:lnTo>
                    <a:pt x="21902" y="17785"/>
                  </a:lnTo>
                  <a:lnTo>
                    <a:pt x="22044" y="17562"/>
                  </a:lnTo>
                  <a:lnTo>
                    <a:pt x="22165" y="17298"/>
                  </a:lnTo>
                  <a:lnTo>
                    <a:pt x="22287" y="17055"/>
                  </a:lnTo>
                  <a:lnTo>
                    <a:pt x="22388" y="16771"/>
                  </a:lnTo>
                  <a:lnTo>
                    <a:pt x="22470" y="16487"/>
                  </a:lnTo>
                  <a:lnTo>
                    <a:pt x="22551" y="16183"/>
                  </a:lnTo>
                  <a:lnTo>
                    <a:pt x="22612" y="15878"/>
                  </a:lnTo>
                  <a:lnTo>
                    <a:pt x="22672" y="15554"/>
                  </a:lnTo>
                  <a:lnTo>
                    <a:pt x="22713" y="15229"/>
                  </a:lnTo>
                  <a:lnTo>
                    <a:pt x="22774" y="14540"/>
                  </a:lnTo>
                  <a:lnTo>
                    <a:pt x="22774" y="13810"/>
                  </a:lnTo>
                  <a:lnTo>
                    <a:pt x="22733" y="13060"/>
                  </a:lnTo>
                  <a:lnTo>
                    <a:pt x="22652" y="12289"/>
                  </a:lnTo>
                  <a:lnTo>
                    <a:pt x="22530" y="11498"/>
                  </a:lnTo>
                  <a:lnTo>
                    <a:pt x="22368" y="10687"/>
                  </a:lnTo>
                  <a:lnTo>
                    <a:pt x="22145" y="9876"/>
                  </a:lnTo>
                  <a:lnTo>
                    <a:pt x="21902" y="9065"/>
                  </a:lnTo>
                  <a:lnTo>
                    <a:pt x="21598" y="8254"/>
                  </a:lnTo>
                  <a:lnTo>
                    <a:pt x="21273" y="7463"/>
                  </a:lnTo>
                  <a:lnTo>
                    <a:pt x="20888" y="6672"/>
                  </a:lnTo>
                  <a:lnTo>
                    <a:pt x="20482" y="5901"/>
                  </a:lnTo>
                  <a:lnTo>
                    <a:pt x="20016" y="5151"/>
                  </a:lnTo>
                  <a:lnTo>
                    <a:pt x="19772" y="4806"/>
                  </a:lnTo>
                  <a:lnTo>
                    <a:pt x="19529" y="4441"/>
                  </a:lnTo>
                  <a:lnTo>
                    <a:pt x="19266" y="4096"/>
                  </a:lnTo>
                  <a:lnTo>
                    <a:pt x="18982" y="3752"/>
                  </a:lnTo>
                  <a:lnTo>
                    <a:pt x="18698" y="3427"/>
                  </a:lnTo>
                  <a:lnTo>
                    <a:pt x="18414" y="3123"/>
                  </a:lnTo>
                  <a:lnTo>
                    <a:pt x="18110" y="2819"/>
                  </a:lnTo>
                  <a:lnTo>
                    <a:pt x="17785" y="2515"/>
                  </a:lnTo>
                  <a:lnTo>
                    <a:pt x="17481" y="2231"/>
                  </a:lnTo>
                  <a:lnTo>
                    <a:pt x="17136" y="1967"/>
                  </a:lnTo>
                  <a:lnTo>
                    <a:pt x="16791" y="1724"/>
                  </a:lnTo>
                  <a:lnTo>
                    <a:pt x="16447" y="1480"/>
                  </a:lnTo>
                  <a:lnTo>
                    <a:pt x="16082" y="1257"/>
                  </a:lnTo>
                  <a:lnTo>
                    <a:pt x="15717" y="1034"/>
                  </a:lnTo>
                  <a:lnTo>
                    <a:pt x="15352" y="852"/>
                  </a:lnTo>
                  <a:lnTo>
                    <a:pt x="14946" y="669"/>
                  </a:lnTo>
                  <a:lnTo>
                    <a:pt x="14561" y="507"/>
                  </a:lnTo>
                  <a:lnTo>
                    <a:pt x="14155" y="365"/>
                  </a:lnTo>
                  <a:lnTo>
                    <a:pt x="13729" y="243"/>
                  </a:lnTo>
                  <a:lnTo>
                    <a:pt x="13324" y="142"/>
                  </a:lnTo>
                  <a:lnTo>
                    <a:pt x="12878" y="61"/>
                  </a:lnTo>
                  <a:lnTo>
                    <a:pt x="12432"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5"/>
            <p:cNvSpPr/>
            <p:nvPr/>
          </p:nvSpPr>
          <p:spPr>
            <a:xfrm>
              <a:off x="7986940" y="2475649"/>
              <a:ext cx="423517" cy="326776"/>
            </a:xfrm>
            <a:custGeom>
              <a:avLst/>
              <a:gdLst/>
              <a:ahLst/>
              <a:cxnLst/>
              <a:rect l="l" t="t" r="r" b="b"/>
              <a:pathLst>
                <a:path w="27519" h="21233" extrusionOk="0">
                  <a:moveTo>
                    <a:pt x="21252" y="1"/>
                  </a:moveTo>
                  <a:lnTo>
                    <a:pt x="20604" y="61"/>
                  </a:lnTo>
                  <a:lnTo>
                    <a:pt x="19955" y="122"/>
                  </a:lnTo>
                  <a:lnTo>
                    <a:pt x="19285" y="244"/>
                  </a:lnTo>
                  <a:lnTo>
                    <a:pt x="18616" y="386"/>
                  </a:lnTo>
                  <a:lnTo>
                    <a:pt x="17947" y="548"/>
                  </a:lnTo>
                  <a:lnTo>
                    <a:pt x="17258" y="751"/>
                  </a:lnTo>
                  <a:lnTo>
                    <a:pt x="16588" y="954"/>
                  </a:lnTo>
                  <a:lnTo>
                    <a:pt x="15919" y="1197"/>
                  </a:lnTo>
                  <a:lnTo>
                    <a:pt x="15270" y="1461"/>
                  </a:lnTo>
                  <a:lnTo>
                    <a:pt x="14621" y="1724"/>
                  </a:lnTo>
                  <a:lnTo>
                    <a:pt x="13993" y="2008"/>
                  </a:lnTo>
                  <a:lnTo>
                    <a:pt x="13364" y="2292"/>
                  </a:lnTo>
                  <a:lnTo>
                    <a:pt x="12776" y="2596"/>
                  </a:lnTo>
                  <a:lnTo>
                    <a:pt x="12188" y="2921"/>
                  </a:lnTo>
                  <a:lnTo>
                    <a:pt x="11640" y="3225"/>
                  </a:lnTo>
                  <a:lnTo>
                    <a:pt x="11093" y="3549"/>
                  </a:lnTo>
                  <a:lnTo>
                    <a:pt x="10606" y="3874"/>
                  </a:lnTo>
                  <a:lnTo>
                    <a:pt x="10140" y="4178"/>
                  </a:lnTo>
                  <a:lnTo>
                    <a:pt x="9693" y="4502"/>
                  </a:lnTo>
                  <a:lnTo>
                    <a:pt x="9308" y="4807"/>
                  </a:lnTo>
                  <a:lnTo>
                    <a:pt x="8943" y="5111"/>
                  </a:lnTo>
                  <a:lnTo>
                    <a:pt x="8639" y="5395"/>
                  </a:lnTo>
                  <a:lnTo>
                    <a:pt x="8375" y="5658"/>
                  </a:lnTo>
                  <a:lnTo>
                    <a:pt x="8152" y="5922"/>
                  </a:lnTo>
                  <a:lnTo>
                    <a:pt x="7970" y="6145"/>
                  </a:lnTo>
                  <a:lnTo>
                    <a:pt x="7868" y="6368"/>
                  </a:lnTo>
                  <a:lnTo>
                    <a:pt x="7828" y="6470"/>
                  </a:lnTo>
                  <a:lnTo>
                    <a:pt x="7808" y="6571"/>
                  </a:lnTo>
                  <a:lnTo>
                    <a:pt x="7686" y="7301"/>
                  </a:lnTo>
                  <a:lnTo>
                    <a:pt x="7605" y="8051"/>
                  </a:lnTo>
                  <a:lnTo>
                    <a:pt x="7463" y="9390"/>
                  </a:lnTo>
                  <a:lnTo>
                    <a:pt x="7382" y="10363"/>
                  </a:lnTo>
                  <a:lnTo>
                    <a:pt x="7361" y="10728"/>
                  </a:lnTo>
                  <a:lnTo>
                    <a:pt x="0" y="11580"/>
                  </a:lnTo>
                  <a:lnTo>
                    <a:pt x="4401" y="21233"/>
                  </a:lnTo>
                  <a:lnTo>
                    <a:pt x="10140" y="19245"/>
                  </a:lnTo>
                  <a:lnTo>
                    <a:pt x="17724" y="16609"/>
                  </a:lnTo>
                  <a:lnTo>
                    <a:pt x="17886" y="16913"/>
                  </a:lnTo>
                  <a:lnTo>
                    <a:pt x="18048" y="17197"/>
                  </a:lnTo>
                  <a:lnTo>
                    <a:pt x="18231" y="17461"/>
                  </a:lnTo>
                  <a:lnTo>
                    <a:pt x="18413" y="17684"/>
                  </a:lnTo>
                  <a:lnTo>
                    <a:pt x="18616" y="17887"/>
                  </a:lnTo>
                  <a:lnTo>
                    <a:pt x="18839" y="18069"/>
                  </a:lnTo>
                  <a:lnTo>
                    <a:pt x="19062" y="18231"/>
                  </a:lnTo>
                  <a:lnTo>
                    <a:pt x="19285" y="18353"/>
                  </a:lnTo>
                  <a:lnTo>
                    <a:pt x="19508" y="18454"/>
                  </a:lnTo>
                  <a:lnTo>
                    <a:pt x="19752" y="18535"/>
                  </a:lnTo>
                  <a:lnTo>
                    <a:pt x="19995" y="18617"/>
                  </a:lnTo>
                  <a:lnTo>
                    <a:pt x="20239" y="18657"/>
                  </a:lnTo>
                  <a:lnTo>
                    <a:pt x="20482" y="18677"/>
                  </a:lnTo>
                  <a:lnTo>
                    <a:pt x="20969" y="18677"/>
                  </a:lnTo>
                  <a:lnTo>
                    <a:pt x="21212" y="18637"/>
                  </a:lnTo>
                  <a:lnTo>
                    <a:pt x="21455" y="18596"/>
                  </a:lnTo>
                  <a:lnTo>
                    <a:pt x="21678" y="18556"/>
                  </a:lnTo>
                  <a:lnTo>
                    <a:pt x="21901" y="18475"/>
                  </a:lnTo>
                  <a:lnTo>
                    <a:pt x="22124" y="18393"/>
                  </a:lnTo>
                  <a:lnTo>
                    <a:pt x="22327" y="18292"/>
                  </a:lnTo>
                  <a:lnTo>
                    <a:pt x="22530" y="18191"/>
                  </a:lnTo>
                  <a:lnTo>
                    <a:pt x="22713" y="18069"/>
                  </a:lnTo>
                  <a:lnTo>
                    <a:pt x="22875" y="17947"/>
                  </a:lnTo>
                  <a:lnTo>
                    <a:pt x="23037" y="17805"/>
                  </a:lnTo>
                  <a:lnTo>
                    <a:pt x="23179" y="17663"/>
                  </a:lnTo>
                  <a:lnTo>
                    <a:pt x="23301" y="17522"/>
                  </a:lnTo>
                  <a:lnTo>
                    <a:pt x="23402" y="17359"/>
                  </a:lnTo>
                  <a:lnTo>
                    <a:pt x="23503" y="17217"/>
                  </a:lnTo>
                  <a:lnTo>
                    <a:pt x="23564" y="17055"/>
                  </a:lnTo>
                  <a:lnTo>
                    <a:pt x="23625" y="16873"/>
                  </a:lnTo>
                  <a:lnTo>
                    <a:pt x="23645" y="16710"/>
                  </a:lnTo>
                  <a:lnTo>
                    <a:pt x="23645" y="16548"/>
                  </a:lnTo>
                  <a:lnTo>
                    <a:pt x="23625" y="16386"/>
                  </a:lnTo>
                  <a:lnTo>
                    <a:pt x="23585" y="16244"/>
                  </a:lnTo>
                  <a:lnTo>
                    <a:pt x="23524" y="16102"/>
                  </a:lnTo>
                  <a:lnTo>
                    <a:pt x="23463" y="15980"/>
                  </a:lnTo>
                  <a:lnTo>
                    <a:pt x="23361" y="15859"/>
                  </a:lnTo>
                  <a:lnTo>
                    <a:pt x="23260" y="15737"/>
                  </a:lnTo>
                  <a:lnTo>
                    <a:pt x="23159" y="15615"/>
                  </a:lnTo>
                  <a:lnTo>
                    <a:pt x="22895" y="15413"/>
                  </a:lnTo>
                  <a:lnTo>
                    <a:pt x="22611" y="15250"/>
                  </a:lnTo>
                  <a:lnTo>
                    <a:pt x="22307" y="15088"/>
                  </a:lnTo>
                  <a:lnTo>
                    <a:pt x="21982" y="14966"/>
                  </a:lnTo>
                  <a:lnTo>
                    <a:pt x="21658" y="14865"/>
                  </a:lnTo>
                  <a:lnTo>
                    <a:pt x="21334" y="14764"/>
                  </a:lnTo>
                  <a:lnTo>
                    <a:pt x="20766" y="14642"/>
                  </a:lnTo>
                  <a:lnTo>
                    <a:pt x="20360" y="14581"/>
                  </a:lnTo>
                  <a:lnTo>
                    <a:pt x="20218" y="14561"/>
                  </a:lnTo>
                  <a:lnTo>
                    <a:pt x="19752" y="12452"/>
                  </a:lnTo>
                  <a:lnTo>
                    <a:pt x="27052" y="10667"/>
                  </a:lnTo>
                  <a:lnTo>
                    <a:pt x="27133" y="10282"/>
                  </a:lnTo>
                  <a:lnTo>
                    <a:pt x="27235" y="9856"/>
                  </a:lnTo>
                  <a:lnTo>
                    <a:pt x="27316" y="9288"/>
                  </a:lnTo>
                  <a:lnTo>
                    <a:pt x="27417" y="8619"/>
                  </a:lnTo>
                  <a:lnTo>
                    <a:pt x="27478" y="7869"/>
                  </a:lnTo>
                  <a:lnTo>
                    <a:pt x="27519" y="7037"/>
                  </a:lnTo>
                  <a:lnTo>
                    <a:pt x="27519" y="6591"/>
                  </a:lnTo>
                  <a:lnTo>
                    <a:pt x="27519" y="6165"/>
                  </a:lnTo>
                  <a:lnTo>
                    <a:pt x="27498" y="5719"/>
                  </a:lnTo>
                  <a:lnTo>
                    <a:pt x="27458" y="5273"/>
                  </a:lnTo>
                  <a:lnTo>
                    <a:pt x="27397" y="4827"/>
                  </a:lnTo>
                  <a:lnTo>
                    <a:pt x="27316" y="4381"/>
                  </a:lnTo>
                  <a:lnTo>
                    <a:pt x="27214" y="3955"/>
                  </a:lnTo>
                  <a:lnTo>
                    <a:pt x="27093" y="3509"/>
                  </a:lnTo>
                  <a:lnTo>
                    <a:pt x="26951" y="3103"/>
                  </a:lnTo>
                  <a:lnTo>
                    <a:pt x="26768" y="2698"/>
                  </a:lnTo>
                  <a:lnTo>
                    <a:pt x="26566" y="2312"/>
                  </a:lnTo>
                  <a:lnTo>
                    <a:pt x="26342" y="1947"/>
                  </a:lnTo>
                  <a:lnTo>
                    <a:pt x="26059" y="1623"/>
                  </a:lnTo>
                  <a:lnTo>
                    <a:pt x="25775" y="1298"/>
                  </a:lnTo>
                  <a:lnTo>
                    <a:pt x="25430" y="1015"/>
                  </a:lnTo>
                  <a:lnTo>
                    <a:pt x="25247" y="893"/>
                  </a:lnTo>
                  <a:lnTo>
                    <a:pt x="25065" y="771"/>
                  </a:lnTo>
                  <a:lnTo>
                    <a:pt x="24862" y="649"/>
                  </a:lnTo>
                  <a:lnTo>
                    <a:pt x="24659" y="548"/>
                  </a:lnTo>
                  <a:lnTo>
                    <a:pt x="24436" y="447"/>
                  </a:lnTo>
                  <a:lnTo>
                    <a:pt x="24193" y="366"/>
                  </a:lnTo>
                  <a:lnTo>
                    <a:pt x="23929" y="284"/>
                  </a:lnTo>
                  <a:lnTo>
                    <a:pt x="23645" y="203"/>
                  </a:lnTo>
                  <a:lnTo>
                    <a:pt x="23078" y="102"/>
                  </a:lnTo>
                  <a:lnTo>
                    <a:pt x="22489" y="21"/>
                  </a:lnTo>
                  <a:lnTo>
                    <a:pt x="21881" y="1"/>
                  </a:lnTo>
                  <a:close/>
                </a:path>
              </a:pathLst>
            </a:custGeom>
            <a:solidFill>
              <a:srgbClr val="FCB58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5"/>
            <p:cNvSpPr/>
            <p:nvPr/>
          </p:nvSpPr>
          <p:spPr>
            <a:xfrm>
              <a:off x="7986940" y="2475649"/>
              <a:ext cx="423517" cy="326776"/>
            </a:xfrm>
            <a:custGeom>
              <a:avLst/>
              <a:gdLst/>
              <a:ahLst/>
              <a:cxnLst/>
              <a:rect l="l" t="t" r="r" b="b"/>
              <a:pathLst>
                <a:path w="27519" h="21233" fill="none" extrusionOk="0">
                  <a:moveTo>
                    <a:pt x="0" y="11580"/>
                  </a:moveTo>
                  <a:lnTo>
                    <a:pt x="7361" y="10728"/>
                  </a:lnTo>
                  <a:lnTo>
                    <a:pt x="7361" y="10728"/>
                  </a:lnTo>
                  <a:lnTo>
                    <a:pt x="7382" y="10363"/>
                  </a:lnTo>
                  <a:lnTo>
                    <a:pt x="7463" y="9390"/>
                  </a:lnTo>
                  <a:lnTo>
                    <a:pt x="7605" y="8051"/>
                  </a:lnTo>
                  <a:lnTo>
                    <a:pt x="7686" y="7301"/>
                  </a:lnTo>
                  <a:lnTo>
                    <a:pt x="7808" y="6571"/>
                  </a:lnTo>
                  <a:lnTo>
                    <a:pt x="7808" y="6571"/>
                  </a:lnTo>
                  <a:lnTo>
                    <a:pt x="7828" y="6470"/>
                  </a:lnTo>
                  <a:lnTo>
                    <a:pt x="7868" y="6368"/>
                  </a:lnTo>
                  <a:lnTo>
                    <a:pt x="7970" y="6145"/>
                  </a:lnTo>
                  <a:lnTo>
                    <a:pt x="8152" y="5922"/>
                  </a:lnTo>
                  <a:lnTo>
                    <a:pt x="8375" y="5658"/>
                  </a:lnTo>
                  <a:lnTo>
                    <a:pt x="8639" y="5395"/>
                  </a:lnTo>
                  <a:lnTo>
                    <a:pt x="8943" y="5111"/>
                  </a:lnTo>
                  <a:lnTo>
                    <a:pt x="9308" y="4807"/>
                  </a:lnTo>
                  <a:lnTo>
                    <a:pt x="9693" y="4502"/>
                  </a:lnTo>
                  <a:lnTo>
                    <a:pt x="10140" y="4178"/>
                  </a:lnTo>
                  <a:lnTo>
                    <a:pt x="10606" y="3874"/>
                  </a:lnTo>
                  <a:lnTo>
                    <a:pt x="11093" y="3549"/>
                  </a:lnTo>
                  <a:lnTo>
                    <a:pt x="11640" y="3225"/>
                  </a:lnTo>
                  <a:lnTo>
                    <a:pt x="12188" y="2921"/>
                  </a:lnTo>
                  <a:lnTo>
                    <a:pt x="12776" y="2596"/>
                  </a:lnTo>
                  <a:lnTo>
                    <a:pt x="13364" y="2292"/>
                  </a:lnTo>
                  <a:lnTo>
                    <a:pt x="13993" y="2008"/>
                  </a:lnTo>
                  <a:lnTo>
                    <a:pt x="14621" y="1724"/>
                  </a:lnTo>
                  <a:lnTo>
                    <a:pt x="15270" y="1461"/>
                  </a:lnTo>
                  <a:lnTo>
                    <a:pt x="15919" y="1197"/>
                  </a:lnTo>
                  <a:lnTo>
                    <a:pt x="16588" y="954"/>
                  </a:lnTo>
                  <a:lnTo>
                    <a:pt x="17258" y="751"/>
                  </a:lnTo>
                  <a:lnTo>
                    <a:pt x="17947" y="548"/>
                  </a:lnTo>
                  <a:lnTo>
                    <a:pt x="18616" y="386"/>
                  </a:lnTo>
                  <a:lnTo>
                    <a:pt x="19285" y="244"/>
                  </a:lnTo>
                  <a:lnTo>
                    <a:pt x="19955" y="122"/>
                  </a:lnTo>
                  <a:lnTo>
                    <a:pt x="20604" y="61"/>
                  </a:lnTo>
                  <a:lnTo>
                    <a:pt x="21252" y="1"/>
                  </a:lnTo>
                  <a:lnTo>
                    <a:pt x="21881" y="1"/>
                  </a:lnTo>
                  <a:lnTo>
                    <a:pt x="22489" y="21"/>
                  </a:lnTo>
                  <a:lnTo>
                    <a:pt x="23078" y="102"/>
                  </a:lnTo>
                  <a:lnTo>
                    <a:pt x="23645" y="203"/>
                  </a:lnTo>
                  <a:lnTo>
                    <a:pt x="23929" y="284"/>
                  </a:lnTo>
                  <a:lnTo>
                    <a:pt x="24193" y="366"/>
                  </a:lnTo>
                  <a:lnTo>
                    <a:pt x="24193" y="366"/>
                  </a:lnTo>
                  <a:lnTo>
                    <a:pt x="24436" y="447"/>
                  </a:lnTo>
                  <a:lnTo>
                    <a:pt x="24659" y="548"/>
                  </a:lnTo>
                  <a:lnTo>
                    <a:pt x="24862" y="649"/>
                  </a:lnTo>
                  <a:lnTo>
                    <a:pt x="25065" y="771"/>
                  </a:lnTo>
                  <a:lnTo>
                    <a:pt x="25247" y="893"/>
                  </a:lnTo>
                  <a:lnTo>
                    <a:pt x="25430" y="1015"/>
                  </a:lnTo>
                  <a:lnTo>
                    <a:pt x="25775" y="1298"/>
                  </a:lnTo>
                  <a:lnTo>
                    <a:pt x="26059" y="1623"/>
                  </a:lnTo>
                  <a:lnTo>
                    <a:pt x="26342" y="1947"/>
                  </a:lnTo>
                  <a:lnTo>
                    <a:pt x="26566" y="2312"/>
                  </a:lnTo>
                  <a:lnTo>
                    <a:pt x="26768" y="2698"/>
                  </a:lnTo>
                  <a:lnTo>
                    <a:pt x="26951" y="3103"/>
                  </a:lnTo>
                  <a:lnTo>
                    <a:pt x="27093" y="3509"/>
                  </a:lnTo>
                  <a:lnTo>
                    <a:pt x="27214" y="3955"/>
                  </a:lnTo>
                  <a:lnTo>
                    <a:pt x="27316" y="4381"/>
                  </a:lnTo>
                  <a:lnTo>
                    <a:pt x="27397" y="4827"/>
                  </a:lnTo>
                  <a:lnTo>
                    <a:pt x="27458" y="5273"/>
                  </a:lnTo>
                  <a:lnTo>
                    <a:pt x="27498" y="5719"/>
                  </a:lnTo>
                  <a:lnTo>
                    <a:pt x="27519" y="6165"/>
                  </a:lnTo>
                  <a:lnTo>
                    <a:pt x="27519" y="6591"/>
                  </a:lnTo>
                  <a:lnTo>
                    <a:pt x="27519" y="7037"/>
                  </a:lnTo>
                  <a:lnTo>
                    <a:pt x="27478" y="7869"/>
                  </a:lnTo>
                  <a:lnTo>
                    <a:pt x="27417" y="8619"/>
                  </a:lnTo>
                  <a:lnTo>
                    <a:pt x="27316" y="9288"/>
                  </a:lnTo>
                  <a:lnTo>
                    <a:pt x="27235" y="9856"/>
                  </a:lnTo>
                  <a:lnTo>
                    <a:pt x="27133" y="10282"/>
                  </a:lnTo>
                  <a:lnTo>
                    <a:pt x="27052" y="10667"/>
                  </a:lnTo>
                  <a:lnTo>
                    <a:pt x="19752" y="12452"/>
                  </a:lnTo>
                  <a:lnTo>
                    <a:pt x="20218" y="14561"/>
                  </a:lnTo>
                  <a:lnTo>
                    <a:pt x="20218" y="14561"/>
                  </a:lnTo>
                  <a:lnTo>
                    <a:pt x="20360" y="14581"/>
                  </a:lnTo>
                  <a:lnTo>
                    <a:pt x="20766" y="14642"/>
                  </a:lnTo>
                  <a:lnTo>
                    <a:pt x="21334" y="14764"/>
                  </a:lnTo>
                  <a:lnTo>
                    <a:pt x="21658" y="14865"/>
                  </a:lnTo>
                  <a:lnTo>
                    <a:pt x="21982" y="14966"/>
                  </a:lnTo>
                  <a:lnTo>
                    <a:pt x="22307" y="15088"/>
                  </a:lnTo>
                  <a:lnTo>
                    <a:pt x="22611" y="15250"/>
                  </a:lnTo>
                  <a:lnTo>
                    <a:pt x="22895" y="15413"/>
                  </a:lnTo>
                  <a:lnTo>
                    <a:pt x="23159" y="15615"/>
                  </a:lnTo>
                  <a:lnTo>
                    <a:pt x="23260" y="15737"/>
                  </a:lnTo>
                  <a:lnTo>
                    <a:pt x="23361" y="15859"/>
                  </a:lnTo>
                  <a:lnTo>
                    <a:pt x="23463" y="15980"/>
                  </a:lnTo>
                  <a:lnTo>
                    <a:pt x="23524" y="16102"/>
                  </a:lnTo>
                  <a:lnTo>
                    <a:pt x="23585" y="16244"/>
                  </a:lnTo>
                  <a:lnTo>
                    <a:pt x="23625" y="16386"/>
                  </a:lnTo>
                  <a:lnTo>
                    <a:pt x="23645" y="16548"/>
                  </a:lnTo>
                  <a:lnTo>
                    <a:pt x="23645" y="16710"/>
                  </a:lnTo>
                  <a:lnTo>
                    <a:pt x="23645" y="16710"/>
                  </a:lnTo>
                  <a:lnTo>
                    <a:pt x="23625" y="16873"/>
                  </a:lnTo>
                  <a:lnTo>
                    <a:pt x="23564" y="17055"/>
                  </a:lnTo>
                  <a:lnTo>
                    <a:pt x="23503" y="17217"/>
                  </a:lnTo>
                  <a:lnTo>
                    <a:pt x="23402" y="17359"/>
                  </a:lnTo>
                  <a:lnTo>
                    <a:pt x="23301" y="17522"/>
                  </a:lnTo>
                  <a:lnTo>
                    <a:pt x="23179" y="17663"/>
                  </a:lnTo>
                  <a:lnTo>
                    <a:pt x="23037" y="17805"/>
                  </a:lnTo>
                  <a:lnTo>
                    <a:pt x="22875" y="17947"/>
                  </a:lnTo>
                  <a:lnTo>
                    <a:pt x="22713" y="18069"/>
                  </a:lnTo>
                  <a:lnTo>
                    <a:pt x="22530" y="18191"/>
                  </a:lnTo>
                  <a:lnTo>
                    <a:pt x="22327" y="18292"/>
                  </a:lnTo>
                  <a:lnTo>
                    <a:pt x="22124" y="18393"/>
                  </a:lnTo>
                  <a:lnTo>
                    <a:pt x="21901" y="18475"/>
                  </a:lnTo>
                  <a:lnTo>
                    <a:pt x="21678" y="18556"/>
                  </a:lnTo>
                  <a:lnTo>
                    <a:pt x="21455" y="18596"/>
                  </a:lnTo>
                  <a:lnTo>
                    <a:pt x="21212" y="18637"/>
                  </a:lnTo>
                  <a:lnTo>
                    <a:pt x="20969" y="18677"/>
                  </a:lnTo>
                  <a:lnTo>
                    <a:pt x="20725" y="18677"/>
                  </a:lnTo>
                  <a:lnTo>
                    <a:pt x="20482" y="18677"/>
                  </a:lnTo>
                  <a:lnTo>
                    <a:pt x="20239" y="18657"/>
                  </a:lnTo>
                  <a:lnTo>
                    <a:pt x="19995" y="18617"/>
                  </a:lnTo>
                  <a:lnTo>
                    <a:pt x="19752" y="18535"/>
                  </a:lnTo>
                  <a:lnTo>
                    <a:pt x="19508" y="18454"/>
                  </a:lnTo>
                  <a:lnTo>
                    <a:pt x="19285" y="18353"/>
                  </a:lnTo>
                  <a:lnTo>
                    <a:pt x="19062" y="18231"/>
                  </a:lnTo>
                  <a:lnTo>
                    <a:pt x="18839" y="18069"/>
                  </a:lnTo>
                  <a:lnTo>
                    <a:pt x="18616" y="17887"/>
                  </a:lnTo>
                  <a:lnTo>
                    <a:pt x="18413" y="17684"/>
                  </a:lnTo>
                  <a:lnTo>
                    <a:pt x="18231" y="17461"/>
                  </a:lnTo>
                  <a:lnTo>
                    <a:pt x="18048" y="17197"/>
                  </a:lnTo>
                  <a:lnTo>
                    <a:pt x="17886" y="16913"/>
                  </a:lnTo>
                  <a:lnTo>
                    <a:pt x="17724" y="16609"/>
                  </a:lnTo>
                  <a:lnTo>
                    <a:pt x="10140" y="19245"/>
                  </a:lnTo>
                  <a:lnTo>
                    <a:pt x="4401" y="21233"/>
                  </a:lnTo>
                </a:path>
              </a:pathLst>
            </a:cu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5"/>
            <p:cNvSpPr/>
            <p:nvPr/>
          </p:nvSpPr>
          <p:spPr>
            <a:xfrm>
              <a:off x="6210504" y="2512785"/>
              <a:ext cx="1982740" cy="351123"/>
            </a:xfrm>
            <a:custGeom>
              <a:avLst/>
              <a:gdLst/>
              <a:ahLst/>
              <a:cxnLst/>
              <a:rect l="l" t="t" r="r" b="b"/>
              <a:pathLst>
                <a:path w="128833" h="22815" extrusionOk="0">
                  <a:moveTo>
                    <a:pt x="87017" y="1"/>
                  </a:moveTo>
                  <a:lnTo>
                    <a:pt x="85679" y="21"/>
                  </a:lnTo>
                  <a:lnTo>
                    <a:pt x="84320" y="41"/>
                  </a:lnTo>
                  <a:lnTo>
                    <a:pt x="82962" y="102"/>
                  </a:lnTo>
                  <a:lnTo>
                    <a:pt x="81562" y="163"/>
                  </a:lnTo>
                  <a:lnTo>
                    <a:pt x="80163" y="264"/>
                  </a:lnTo>
                  <a:lnTo>
                    <a:pt x="78764" y="345"/>
                  </a:lnTo>
                  <a:lnTo>
                    <a:pt x="75925" y="589"/>
                  </a:lnTo>
                  <a:lnTo>
                    <a:pt x="73086" y="852"/>
                  </a:lnTo>
                  <a:lnTo>
                    <a:pt x="70247" y="1157"/>
                  </a:lnTo>
                  <a:lnTo>
                    <a:pt x="67428" y="1481"/>
                  </a:lnTo>
                  <a:lnTo>
                    <a:pt x="64670" y="1826"/>
                  </a:lnTo>
                  <a:lnTo>
                    <a:pt x="61973" y="2171"/>
                  </a:lnTo>
                  <a:lnTo>
                    <a:pt x="56822" y="2860"/>
                  </a:lnTo>
                  <a:lnTo>
                    <a:pt x="52178" y="3468"/>
                  </a:lnTo>
                  <a:lnTo>
                    <a:pt x="50090" y="3712"/>
                  </a:lnTo>
                  <a:lnTo>
                    <a:pt x="48163" y="3935"/>
                  </a:lnTo>
                  <a:lnTo>
                    <a:pt x="37294" y="4989"/>
                  </a:lnTo>
                  <a:lnTo>
                    <a:pt x="30115" y="5719"/>
                  </a:lnTo>
                  <a:lnTo>
                    <a:pt x="26363" y="6105"/>
                  </a:lnTo>
                  <a:lnTo>
                    <a:pt x="22591" y="6531"/>
                  </a:lnTo>
                  <a:lnTo>
                    <a:pt x="18921" y="6956"/>
                  </a:lnTo>
                  <a:lnTo>
                    <a:pt x="15392" y="7403"/>
                  </a:lnTo>
                  <a:lnTo>
                    <a:pt x="12087" y="7869"/>
                  </a:lnTo>
                  <a:lnTo>
                    <a:pt x="10566" y="8092"/>
                  </a:lnTo>
                  <a:lnTo>
                    <a:pt x="9106" y="8315"/>
                  </a:lnTo>
                  <a:lnTo>
                    <a:pt x="7767" y="8558"/>
                  </a:lnTo>
                  <a:lnTo>
                    <a:pt x="6530" y="8781"/>
                  </a:lnTo>
                  <a:lnTo>
                    <a:pt x="5395" y="9005"/>
                  </a:lnTo>
                  <a:lnTo>
                    <a:pt x="4401" y="9228"/>
                  </a:lnTo>
                  <a:lnTo>
                    <a:pt x="3529" y="9451"/>
                  </a:lnTo>
                  <a:lnTo>
                    <a:pt x="2819" y="9674"/>
                  </a:lnTo>
                  <a:lnTo>
                    <a:pt x="2536" y="9795"/>
                  </a:lnTo>
                  <a:lnTo>
                    <a:pt x="2272" y="9897"/>
                  </a:lnTo>
                  <a:lnTo>
                    <a:pt x="2049" y="9998"/>
                  </a:lnTo>
                  <a:lnTo>
                    <a:pt x="1887" y="10120"/>
                  </a:lnTo>
                  <a:lnTo>
                    <a:pt x="1724" y="10221"/>
                  </a:lnTo>
                  <a:lnTo>
                    <a:pt x="1582" y="10343"/>
                  </a:lnTo>
                  <a:lnTo>
                    <a:pt x="1461" y="10485"/>
                  </a:lnTo>
                  <a:lnTo>
                    <a:pt x="1339" y="10627"/>
                  </a:lnTo>
                  <a:lnTo>
                    <a:pt x="1096" y="10951"/>
                  </a:lnTo>
                  <a:lnTo>
                    <a:pt x="893" y="11316"/>
                  </a:lnTo>
                  <a:lnTo>
                    <a:pt x="710" y="11702"/>
                  </a:lnTo>
                  <a:lnTo>
                    <a:pt x="548" y="12128"/>
                  </a:lnTo>
                  <a:lnTo>
                    <a:pt x="427" y="12594"/>
                  </a:lnTo>
                  <a:lnTo>
                    <a:pt x="305" y="13060"/>
                  </a:lnTo>
                  <a:lnTo>
                    <a:pt x="224" y="13567"/>
                  </a:lnTo>
                  <a:lnTo>
                    <a:pt x="143" y="14074"/>
                  </a:lnTo>
                  <a:lnTo>
                    <a:pt x="82" y="14602"/>
                  </a:lnTo>
                  <a:lnTo>
                    <a:pt x="41" y="15129"/>
                  </a:lnTo>
                  <a:lnTo>
                    <a:pt x="21" y="15676"/>
                  </a:lnTo>
                  <a:lnTo>
                    <a:pt x="1" y="16224"/>
                  </a:lnTo>
                  <a:lnTo>
                    <a:pt x="21" y="17319"/>
                  </a:lnTo>
                  <a:lnTo>
                    <a:pt x="61" y="18394"/>
                  </a:lnTo>
                  <a:lnTo>
                    <a:pt x="143" y="19408"/>
                  </a:lnTo>
                  <a:lnTo>
                    <a:pt x="224" y="20340"/>
                  </a:lnTo>
                  <a:lnTo>
                    <a:pt x="325" y="21152"/>
                  </a:lnTo>
                  <a:lnTo>
                    <a:pt x="508" y="22368"/>
                  </a:lnTo>
                  <a:lnTo>
                    <a:pt x="589" y="22814"/>
                  </a:lnTo>
                  <a:lnTo>
                    <a:pt x="128833" y="22814"/>
                  </a:lnTo>
                  <a:lnTo>
                    <a:pt x="128407" y="22125"/>
                  </a:lnTo>
                  <a:lnTo>
                    <a:pt x="127271" y="20320"/>
                  </a:lnTo>
                  <a:lnTo>
                    <a:pt x="125608" y="17724"/>
                  </a:lnTo>
                  <a:lnTo>
                    <a:pt x="124635" y="16244"/>
                  </a:lnTo>
                  <a:lnTo>
                    <a:pt x="123621" y="14723"/>
                  </a:lnTo>
                  <a:lnTo>
                    <a:pt x="122587" y="13162"/>
                  </a:lnTo>
                  <a:lnTo>
                    <a:pt x="121532" y="11641"/>
                  </a:lnTo>
                  <a:lnTo>
                    <a:pt x="120498" y="10201"/>
                  </a:lnTo>
                  <a:lnTo>
                    <a:pt x="119504" y="8863"/>
                  </a:lnTo>
                  <a:lnTo>
                    <a:pt x="119038" y="8254"/>
                  </a:lnTo>
                  <a:lnTo>
                    <a:pt x="118571" y="7707"/>
                  </a:lnTo>
                  <a:lnTo>
                    <a:pt x="118146" y="7200"/>
                  </a:lnTo>
                  <a:lnTo>
                    <a:pt x="117760" y="6754"/>
                  </a:lnTo>
                  <a:lnTo>
                    <a:pt x="117375" y="6368"/>
                  </a:lnTo>
                  <a:lnTo>
                    <a:pt x="117050" y="6044"/>
                  </a:lnTo>
                  <a:lnTo>
                    <a:pt x="116746" y="5801"/>
                  </a:lnTo>
                  <a:lnTo>
                    <a:pt x="116604" y="5699"/>
                  </a:lnTo>
                  <a:lnTo>
                    <a:pt x="116483" y="5638"/>
                  </a:lnTo>
                  <a:lnTo>
                    <a:pt x="115895" y="5354"/>
                  </a:lnTo>
                  <a:lnTo>
                    <a:pt x="115144" y="5030"/>
                  </a:lnTo>
                  <a:lnTo>
                    <a:pt x="114211" y="4665"/>
                  </a:lnTo>
                  <a:lnTo>
                    <a:pt x="113096" y="4259"/>
                  </a:lnTo>
                  <a:lnTo>
                    <a:pt x="111839" y="3813"/>
                  </a:lnTo>
                  <a:lnTo>
                    <a:pt x="110419" y="3367"/>
                  </a:lnTo>
                  <a:lnTo>
                    <a:pt x="108858" y="2921"/>
                  </a:lnTo>
                  <a:lnTo>
                    <a:pt x="107175" y="2454"/>
                  </a:lnTo>
                  <a:lnTo>
                    <a:pt x="105350" y="2008"/>
                  </a:lnTo>
                  <a:lnTo>
                    <a:pt x="104396" y="1806"/>
                  </a:lnTo>
                  <a:lnTo>
                    <a:pt x="103403" y="1603"/>
                  </a:lnTo>
                  <a:lnTo>
                    <a:pt x="102389" y="1400"/>
                  </a:lnTo>
                  <a:lnTo>
                    <a:pt x="101334" y="1197"/>
                  </a:lnTo>
                  <a:lnTo>
                    <a:pt x="100280" y="1015"/>
                  </a:lnTo>
                  <a:lnTo>
                    <a:pt x="99185" y="852"/>
                  </a:lnTo>
                  <a:lnTo>
                    <a:pt x="98069" y="690"/>
                  </a:lnTo>
                  <a:lnTo>
                    <a:pt x="96914" y="548"/>
                  </a:lnTo>
                  <a:lnTo>
                    <a:pt x="95758" y="406"/>
                  </a:lnTo>
                  <a:lnTo>
                    <a:pt x="94561" y="305"/>
                  </a:lnTo>
                  <a:lnTo>
                    <a:pt x="93344" y="204"/>
                  </a:lnTo>
                  <a:lnTo>
                    <a:pt x="92128" y="122"/>
                  </a:lnTo>
                  <a:lnTo>
                    <a:pt x="90870" y="62"/>
                  </a:lnTo>
                  <a:lnTo>
                    <a:pt x="89613" y="21"/>
                  </a:lnTo>
                  <a:lnTo>
                    <a:pt x="88315" y="1"/>
                  </a:lnTo>
                  <a:close/>
                </a:path>
              </a:pathLst>
            </a:custGeom>
            <a:solidFill>
              <a:srgbClr val="70AD4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5"/>
            <p:cNvSpPr/>
            <p:nvPr/>
          </p:nvSpPr>
          <p:spPr>
            <a:xfrm>
              <a:off x="6743567" y="2634197"/>
              <a:ext cx="1222166" cy="229711"/>
            </a:xfrm>
            <a:custGeom>
              <a:avLst/>
              <a:gdLst/>
              <a:ahLst/>
              <a:cxnLst/>
              <a:rect l="l" t="t" r="r" b="b"/>
              <a:pathLst>
                <a:path w="79413" h="14926" extrusionOk="0">
                  <a:moveTo>
                    <a:pt x="34778" y="0"/>
                  </a:moveTo>
                  <a:lnTo>
                    <a:pt x="33805" y="21"/>
                  </a:lnTo>
                  <a:lnTo>
                    <a:pt x="32811" y="61"/>
                  </a:lnTo>
                  <a:lnTo>
                    <a:pt x="31838" y="122"/>
                  </a:lnTo>
                  <a:lnTo>
                    <a:pt x="29891" y="244"/>
                  </a:lnTo>
                  <a:lnTo>
                    <a:pt x="27965" y="426"/>
                  </a:lnTo>
                  <a:lnTo>
                    <a:pt x="26058" y="649"/>
                  </a:lnTo>
                  <a:lnTo>
                    <a:pt x="24152" y="892"/>
                  </a:lnTo>
                  <a:lnTo>
                    <a:pt x="22307" y="1176"/>
                  </a:lnTo>
                  <a:lnTo>
                    <a:pt x="20461" y="1501"/>
                  </a:lnTo>
                  <a:lnTo>
                    <a:pt x="18677" y="1825"/>
                  </a:lnTo>
                  <a:lnTo>
                    <a:pt x="16933" y="2190"/>
                  </a:lnTo>
                  <a:lnTo>
                    <a:pt x="15250" y="2555"/>
                  </a:lnTo>
                  <a:lnTo>
                    <a:pt x="13627" y="2941"/>
                  </a:lnTo>
                  <a:lnTo>
                    <a:pt x="12046" y="3326"/>
                  </a:lnTo>
                  <a:lnTo>
                    <a:pt x="10545" y="3711"/>
                  </a:lnTo>
                  <a:lnTo>
                    <a:pt x="9126" y="4097"/>
                  </a:lnTo>
                  <a:lnTo>
                    <a:pt x="7787" y="4462"/>
                  </a:lnTo>
                  <a:lnTo>
                    <a:pt x="6530" y="4847"/>
                  </a:lnTo>
                  <a:lnTo>
                    <a:pt x="4299" y="5516"/>
                  </a:lnTo>
                  <a:lnTo>
                    <a:pt x="2474" y="6124"/>
                  </a:lnTo>
                  <a:lnTo>
                    <a:pt x="1136" y="6571"/>
                  </a:lnTo>
                  <a:lnTo>
                    <a:pt x="0" y="6996"/>
                  </a:lnTo>
                  <a:lnTo>
                    <a:pt x="1196" y="6773"/>
                  </a:lnTo>
                  <a:lnTo>
                    <a:pt x="2636" y="6530"/>
                  </a:lnTo>
                  <a:lnTo>
                    <a:pt x="4502" y="6226"/>
                  </a:lnTo>
                  <a:lnTo>
                    <a:pt x="6753" y="5861"/>
                  </a:lnTo>
                  <a:lnTo>
                    <a:pt x="9349" y="5496"/>
                  </a:lnTo>
                  <a:lnTo>
                    <a:pt x="12188" y="5090"/>
                  </a:lnTo>
                  <a:lnTo>
                    <a:pt x="15209" y="4705"/>
                  </a:lnTo>
                  <a:lnTo>
                    <a:pt x="18352" y="4340"/>
                  </a:lnTo>
                  <a:lnTo>
                    <a:pt x="19954" y="4178"/>
                  </a:lnTo>
                  <a:lnTo>
                    <a:pt x="21556" y="4036"/>
                  </a:lnTo>
                  <a:lnTo>
                    <a:pt x="23159" y="3894"/>
                  </a:lnTo>
                  <a:lnTo>
                    <a:pt x="24761" y="3772"/>
                  </a:lnTo>
                  <a:lnTo>
                    <a:pt x="26322" y="3671"/>
                  </a:lnTo>
                  <a:lnTo>
                    <a:pt x="27883" y="3590"/>
                  </a:lnTo>
                  <a:lnTo>
                    <a:pt x="29384" y="3549"/>
                  </a:lnTo>
                  <a:lnTo>
                    <a:pt x="30864" y="3508"/>
                  </a:lnTo>
                  <a:lnTo>
                    <a:pt x="32264" y="3529"/>
                  </a:lnTo>
                  <a:lnTo>
                    <a:pt x="33622" y="3549"/>
                  </a:lnTo>
                  <a:lnTo>
                    <a:pt x="34920" y="3630"/>
                  </a:lnTo>
                  <a:lnTo>
                    <a:pt x="36117" y="3732"/>
                  </a:lnTo>
                  <a:lnTo>
                    <a:pt x="36705" y="3792"/>
                  </a:lnTo>
                  <a:lnTo>
                    <a:pt x="37252" y="3873"/>
                  </a:lnTo>
                  <a:lnTo>
                    <a:pt x="37780" y="3955"/>
                  </a:lnTo>
                  <a:lnTo>
                    <a:pt x="38287" y="4056"/>
                  </a:lnTo>
                  <a:lnTo>
                    <a:pt x="39584" y="4340"/>
                  </a:lnTo>
                  <a:lnTo>
                    <a:pt x="40821" y="4664"/>
                  </a:lnTo>
                  <a:lnTo>
                    <a:pt x="42018" y="5009"/>
                  </a:lnTo>
                  <a:lnTo>
                    <a:pt x="43174" y="5374"/>
                  </a:lnTo>
                  <a:lnTo>
                    <a:pt x="44289" y="5759"/>
                  </a:lnTo>
                  <a:lnTo>
                    <a:pt x="45364" y="6145"/>
                  </a:lnTo>
                  <a:lnTo>
                    <a:pt x="46398" y="6571"/>
                  </a:lnTo>
                  <a:lnTo>
                    <a:pt x="47372" y="6996"/>
                  </a:lnTo>
                  <a:lnTo>
                    <a:pt x="48304" y="7443"/>
                  </a:lnTo>
                  <a:lnTo>
                    <a:pt x="49197" y="7889"/>
                  </a:lnTo>
                  <a:lnTo>
                    <a:pt x="50048" y="8335"/>
                  </a:lnTo>
                  <a:lnTo>
                    <a:pt x="50859" y="8781"/>
                  </a:lnTo>
                  <a:lnTo>
                    <a:pt x="51630" y="9247"/>
                  </a:lnTo>
                  <a:lnTo>
                    <a:pt x="52360" y="9694"/>
                  </a:lnTo>
                  <a:lnTo>
                    <a:pt x="53050" y="10140"/>
                  </a:lnTo>
                  <a:lnTo>
                    <a:pt x="53678" y="10586"/>
                  </a:lnTo>
                  <a:lnTo>
                    <a:pt x="54287" y="11032"/>
                  </a:lnTo>
                  <a:lnTo>
                    <a:pt x="54854" y="11458"/>
                  </a:lnTo>
                  <a:lnTo>
                    <a:pt x="55361" y="11863"/>
                  </a:lnTo>
                  <a:lnTo>
                    <a:pt x="55848" y="12269"/>
                  </a:lnTo>
                  <a:lnTo>
                    <a:pt x="56680" y="12999"/>
                  </a:lnTo>
                  <a:lnTo>
                    <a:pt x="57369" y="13648"/>
                  </a:lnTo>
                  <a:lnTo>
                    <a:pt x="57896" y="14175"/>
                  </a:lnTo>
                  <a:lnTo>
                    <a:pt x="58261" y="14581"/>
                  </a:lnTo>
                  <a:lnTo>
                    <a:pt x="58565" y="14925"/>
                  </a:lnTo>
                  <a:lnTo>
                    <a:pt x="79412" y="14784"/>
                  </a:lnTo>
                  <a:lnTo>
                    <a:pt x="78601" y="14297"/>
                  </a:lnTo>
                  <a:lnTo>
                    <a:pt x="77628" y="13729"/>
                  </a:lnTo>
                  <a:lnTo>
                    <a:pt x="76310" y="12979"/>
                  </a:lnTo>
                  <a:lnTo>
                    <a:pt x="74687" y="12086"/>
                  </a:lnTo>
                  <a:lnTo>
                    <a:pt x="72801" y="11093"/>
                  </a:lnTo>
                  <a:lnTo>
                    <a:pt x="70652" y="9977"/>
                  </a:lnTo>
                  <a:lnTo>
                    <a:pt x="68299" y="8822"/>
                  </a:lnTo>
                  <a:lnTo>
                    <a:pt x="67042" y="8233"/>
                  </a:lnTo>
                  <a:lnTo>
                    <a:pt x="65744" y="7625"/>
                  </a:lnTo>
                  <a:lnTo>
                    <a:pt x="64426" y="7017"/>
                  </a:lnTo>
                  <a:lnTo>
                    <a:pt x="63047" y="6429"/>
                  </a:lnTo>
                  <a:lnTo>
                    <a:pt x="61648" y="5841"/>
                  </a:lnTo>
                  <a:lnTo>
                    <a:pt x="60228" y="5252"/>
                  </a:lnTo>
                  <a:lnTo>
                    <a:pt x="58789" y="4685"/>
                  </a:lnTo>
                  <a:lnTo>
                    <a:pt x="57308" y="4137"/>
                  </a:lnTo>
                  <a:lnTo>
                    <a:pt x="55828" y="3590"/>
                  </a:lnTo>
                  <a:lnTo>
                    <a:pt x="54327" y="3083"/>
                  </a:lnTo>
                  <a:lnTo>
                    <a:pt x="52827" y="2616"/>
                  </a:lnTo>
                  <a:lnTo>
                    <a:pt x="51306" y="2170"/>
                  </a:lnTo>
                  <a:lnTo>
                    <a:pt x="49805" y="1744"/>
                  </a:lnTo>
                  <a:lnTo>
                    <a:pt x="48284" y="1379"/>
                  </a:lnTo>
                  <a:lnTo>
                    <a:pt x="46783" y="1034"/>
                  </a:lnTo>
                  <a:lnTo>
                    <a:pt x="45303" y="751"/>
                  </a:lnTo>
                  <a:lnTo>
                    <a:pt x="44370" y="588"/>
                  </a:lnTo>
                  <a:lnTo>
                    <a:pt x="43437" y="467"/>
                  </a:lnTo>
                  <a:lnTo>
                    <a:pt x="42484" y="345"/>
                  </a:lnTo>
                  <a:lnTo>
                    <a:pt x="41531" y="244"/>
                  </a:lnTo>
                  <a:lnTo>
                    <a:pt x="40578" y="162"/>
                  </a:lnTo>
                  <a:lnTo>
                    <a:pt x="39625" y="102"/>
                  </a:lnTo>
                  <a:lnTo>
                    <a:pt x="38652" y="41"/>
                  </a:lnTo>
                  <a:lnTo>
                    <a:pt x="37698" y="21"/>
                  </a:lnTo>
                  <a:lnTo>
                    <a:pt x="36725" y="0"/>
                  </a:lnTo>
                  <a:close/>
                </a:path>
              </a:pathLst>
            </a:custGeom>
            <a:solidFill>
              <a:srgbClr val="009FCA"/>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5"/>
            <p:cNvSpPr/>
            <p:nvPr/>
          </p:nvSpPr>
          <p:spPr>
            <a:xfrm>
              <a:off x="5838496" y="2832374"/>
              <a:ext cx="279652" cy="322097"/>
            </a:xfrm>
            <a:custGeom>
              <a:avLst/>
              <a:gdLst/>
              <a:ahLst/>
              <a:cxnLst/>
              <a:rect l="l" t="t" r="r" b="b"/>
              <a:pathLst>
                <a:path w="18171" h="20929" extrusionOk="0">
                  <a:moveTo>
                    <a:pt x="9247" y="0"/>
                  </a:moveTo>
                  <a:lnTo>
                    <a:pt x="9004" y="21"/>
                  </a:lnTo>
                  <a:lnTo>
                    <a:pt x="8781" y="81"/>
                  </a:lnTo>
                  <a:lnTo>
                    <a:pt x="8538" y="183"/>
                  </a:lnTo>
                  <a:lnTo>
                    <a:pt x="771" y="4421"/>
                  </a:lnTo>
                  <a:lnTo>
                    <a:pt x="629" y="4502"/>
                  </a:lnTo>
                  <a:lnTo>
                    <a:pt x="487" y="4604"/>
                  </a:lnTo>
                  <a:lnTo>
                    <a:pt x="365" y="4725"/>
                  </a:lnTo>
                  <a:lnTo>
                    <a:pt x="264" y="4867"/>
                  </a:lnTo>
                  <a:lnTo>
                    <a:pt x="183" y="5009"/>
                  </a:lnTo>
                  <a:lnTo>
                    <a:pt x="102" y="5151"/>
                  </a:lnTo>
                  <a:lnTo>
                    <a:pt x="61" y="5313"/>
                  </a:lnTo>
                  <a:lnTo>
                    <a:pt x="20" y="5476"/>
                  </a:lnTo>
                  <a:lnTo>
                    <a:pt x="0" y="5638"/>
                  </a:lnTo>
                  <a:lnTo>
                    <a:pt x="0" y="5820"/>
                  </a:lnTo>
                  <a:lnTo>
                    <a:pt x="20" y="5983"/>
                  </a:lnTo>
                  <a:lnTo>
                    <a:pt x="61" y="6145"/>
                  </a:lnTo>
                  <a:lnTo>
                    <a:pt x="122" y="6307"/>
                  </a:lnTo>
                  <a:lnTo>
                    <a:pt x="203" y="6449"/>
                  </a:lnTo>
                  <a:lnTo>
                    <a:pt x="284" y="6591"/>
                  </a:lnTo>
                  <a:lnTo>
                    <a:pt x="406" y="6733"/>
                  </a:lnTo>
                  <a:lnTo>
                    <a:pt x="13323" y="20462"/>
                  </a:lnTo>
                  <a:lnTo>
                    <a:pt x="13445" y="20583"/>
                  </a:lnTo>
                  <a:lnTo>
                    <a:pt x="13567" y="20664"/>
                  </a:lnTo>
                  <a:lnTo>
                    <a:pt x="13688" y="20746"/>
                  </a:lnTo>
                  <a:lnTo>
                    <a:pt x="13830" y="20806"/>
                  </a:lnTo>
                  <a:lnTo>
                    <a:pt x="13972" y="20867"/>
                  </a:lnTo>
                  <a:lnTo>
                    <a:pt x="14114" y="20908"/>
                  </a:lnTo>
                  <a:lnTo>
                    <a:pt x="14256" y="20928"/>
                  </a:lnTo>
                  <a:lnTo>
                    <a:pt x="14540" y="20928"/>
                  </a:lnTo>
                  <a:lnTo>
                    <a:pt x="14662" y="20908"/>
                  </a:lnTo>
                  <a:lnTo>
                    <a:pt x="14804" y="20867"/>
                  </a:lnTo>
                  <a:lnTo>
                    <a:pt x="14925" y="20827"/>
                  </a:lnTo>
                  <a:lnTo>
                    <a:pt x="15067" y="20766"/>
                  </a:lnTo>
                  <a:lnTo>
                    <a:pt x="15189" y="20705"/>
                  </a:lnTo>
                  <a:lnTo>
                    <a:pt x="15311" y="20624"/>
                  </a:lnTo>
                  <a:lnTo>
                    <a:pt x="15412" y="20523"/>
                  </a:lnTo>
                  <a:lnTo>
                    <a:pt x="15514" y="20421"/>
                  </a:lnTo>
                  <a:lnTo>
                    <a:pt x="15615" y="20299"/>
                  </a:lnTo>
                  <a:lnTo>
                    <a:pt x="15676" y="20178"/>
                  </a:lnTo>
                  <a:lnTo>
                    <a:pt x="15757" y="20056"/>
                  </a:lnTo>
                  <a:lnTo>
                    <a:pt x="15797" y="19914"/>
                  </a:lnTo>
                  <a:lnTo>
                    <a:pt x="15838" y="19772"/>
                  </a:lnTo>
                  <a:lnTo>
                    <a:pt x="15858" y="19651"/>
                  </a:lnTo>
                  <a:lnTo>
                    <a:pt x="15879" y="19509"/>
                  </a:lnTo>
                  <a:lnTo>
                    <a:pt x="15879" y="19367"/>
                  </a:lnTo>
                  <a:lnTo>
                    <a:pt x="15858" y="19225"/>
                  </a:lnTo>
                  <a:lnTo>
                    <a:pt x="15838" y="19083"/>
                  </a:lnTo>
                  <a:lnTo>
                    <a:pt x="15777" y="18941"/>
                  </a:lnTo>
                  <a:lnTo>
                    <a:pt x="15737" y="18799"/>
                  </a:lnTo>
                  <a:lnTo>
                    <a:pt x="15656" y="18677"/>
                  </a:lnTo>
                  <a:lnTo>
                    <a:pt x="15574" y="18555"/>
                  </a:lnTo>
                  <a:lnTo>
                    <a:pt x="15473" y="18434"/>
                  </a:lnTo>
                  <a:lnTo>
                    <a:pt x="3853" y="6084"/>
                  </a:lnTo>
                  <a:lnTo>
                    <a:pt x="8923" y="3326"/>
                  </a:lnTo>
                  <a:lnTo>
                    <a:pt x="15574" y="10829"/>
                  </a:lnTo>
                  <a:lnTo>
                    <a:pt x="15676" y="10951"/>
                  </a:lnTo>
                  <a:lnTo>
                    <a:pt x="15797" y="11032"/>
                  </a:lnTo>
                  <a:lnTo>
                    <a:pt x="15919" y="11113"/>
                  </a:lnTo>
                  <a:lnTo>
                    <a:pt x="16041" y="11194"/>
                  </a:lnTo>
                  <a:lnTo>
                    <a:pt x="16183" y="11235"/>
                  </a:lnTo>
                  <a:lnTo>
                    <a:pt x="16325" y="11275"/>
                  </a:lnTo>
                  <a:lnTo>
                    <a:pt x="16446" y="11316"/>
                  </a:lnTo>
                  <a:lnTo>
                    <a:pt x="16588" y="11336"/>
                  </a:lnTo>
                  <a:lnTo>
                    <a:pt x="16730" y="11336"/>
                  </a:lnTo>
                  <a:lnTo>
                    <a:pt x="16872" y="11316"/>
                  </a:lnTo>
                  <a:lnTo>
                    <a:pt x="17014" y="11296"/>
                  </a:lnTo>
                  <a:lnTo>
                    <a:pt x="17156" y="11255"/>
                  </a:lnTo>
                  <a:lnTo>
                    <a:pt x="17298" y="11194"/>
                  </a:lnTo>
                  <a:lnTo>
                    <a:pt x="17420" y="11133"/>
                  </a:lnTo>
                  <a:lnTo>
                    <a:pt x="17541" y="11052"/>
                  </a:lnTo>
                  <a:lnTo>
                    <a:pt x="17663" y="10951"/>
                  </a:lnTo>
                  <a:lnTo>
                    <a:pt x="17765" y="10850"/>
                  </a:lnTo>
                  <a:lnTo>
                    <a:pt x="17866" y="10728"/>
                  </a:lnTo>
                  <a:lnTo>
                    <a:pt x="17947" y="10626"/>
                  </a:lnTo>
                  <a:lnTo>
                    <a:pt x="18008" y="10484"/>
                  </a:lnTo>
                  <a:lnTo>
                    <a:pt x="18069" y="10363"/>
                  </a:lnTo>
                  <a:lnTo>
                    <a:pt x="18109" y="10221"/>
                  </a:lnTo>
                  <a:lnTo>
                    <a:pt x="18150" y="10079"/>
                  </a:lnTo>
                  <a:lnTo>
                    <a:pt x="18150" y="9937"/>
                  </a:lnTo>
                  <a:lnTo>
                    <a:pt x="18170" y="9795"/>
                  </a:lnTo>
                  <a:lnTo>
                    <a:pt x="18150" y="9653"/>
                  </a:lnTo>
                  <a:lnTo>
                    <a:pt x="18130" y="9511"/>
                  </a:lnTo>
                  <a:lnTo>
                    <a:pt x="18089" y="9389"/>
                  </a:lnTo>
                  <a:lnTo>
                    <a:pt x="18028" y="9247"/>
                  </a:lnTo>
                  <a:lnTo>
                    <a:pt x="17967" y="9106"/>
                  </a:lnTo>
                  <a:lnTo>
                    <a:pt x="17886" y="8984"/>
                  </a:lnTo>
                  <a:lnTo>
                    <a:pt x="17785" y="8882"/>
                  </a:lnTo>
                  <a:lnTo>
                    <a:pt x="10342" y="487"/>
                  </a:lnTo>
                  <a:lnTo>
                    <a:pt x="10160" y="325"/>
                  </a:lnTo>
                  <a:lnTo>
                    <a:pt x="9957" y="183"/>
                  </a:lnTo>
                  <a:lnTo>
                    <a:pt x="9734" y="81"/>
                  </a:lnTo>
                  <a:lnTo>
                    <a:pt x="9491" y="21"/>
                  </a:lnTo>
                  <a:lnTo>
                    <a:pt x="9247"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5"/>
            <p:cNvSpPr/>
            <p:nvPr/>
          </p:nvSpPr>
          <p:spPr>
            <a:xfrm>
              <a:off x="6084736" y="2826757"/>
              <a:ext cx="2488317" cy="270910"/>
            </a:xfrm>
            <a:custGeom>
              <a:avLst/>
              <a:gdLst/>
              <a:ahLst/>
              <a:cxnLst/>
              <a:rect l="l" t="t" r="r" b="b"/>
              <a:pathLst>
                <a:path w="161684" h="17603" extrusionOk="0">
                  <a:moveTo>
                    <a:pt x="5374" y="0"/>
                  </a:moveTo>
                  <a:lnTo>
                    <a:pt x="5090" y="21"/>
                  </a:lnTo>
                  <a:lnTo>
                    <a:pt x="4806" y="61"/>
                  </a:lnTo>
                  <a:lnTo>
                    <a:pt x="4522" y="122"/>
                  </a:lnTo>
                  <a:lnTo>
                    <a:pt x="4259" y="183"/>
                  </a:lnTo>
                  <a:lnTo>
                    <a:pt x="3995" y="264"/>
                  </a:lnTo>
                  <a:lnTo>
                    <a:pt x="3732" y="345"/>
                  </a:lnTo>
                  <a:lnTo>
                    <a:pt x="3468" y="446"/>
                  </a:lnTo>
                  <a:lnTo>
                    <a:pt x="3204" y="568"/>
                  </a:lnTo>
                  <a:lnTo>
                    <a:pt x="2961" y="690"/>
                  </a:lnTo>
                  <a:lnTo>
                    <a:pt x="2738" y="811"/>
                  </a:lnTo>
                  <a:lnTo>
                    <a:pt x="2495" y="974"/>
                  </a:lnTo>
                  <a:lnTo>
                    <a:pt x="2271" y="1136"/>
                  </a:lnTo>
                  <a:lnTo>
                    <a:pt x="2069" y="1298"/>
                  </a:lnTo>
                  <a:lnTo>
                    <a:pt x="1866" y="1481"/>
                  </a:lnTo>
                  <a:lnTo>
                    <a:pt x="1663" y="1663"/>
                  </a:lnTo>
                  <a:lnTo>
                    <a:pt x="1481" y="1866"/>
                  </a:lnTo>
                  <a:lnTo>
                    <a:pt x="1298" y="2069"/>
                  </a:lnTo>
                  <a:lnTo>
                    <a:pt x="1136" y="2272"/>
                  </a:lnTo>
                  <a:lnTo>
                    <a:pt x="974" y="2495"/>
                  </a:lnTo>
                  <a:lnTo>
                    <a:pt x="811" y="2738"/>
                  </a:lnTo>
                  <a:lnTo>
                    <a:pt x="690" y="2961"/>
                  </a:lnTo>
                  <a:lnTo>
                    <a:pt x="568" y="3204"/>
                  </a:lnTo>
                  <a:lnTo>
                    <a:pt x="446" y="3468"/>
                  </a:lnTo>
                  <a:lnTo>
                    <a:pt x="345" y="3732"/>
                  </a:lnTo>
                  <a:lnTo>
                    <a:pt x="264" y="3995"/>
                  </a:lnTo>
                  <a:lnTo>
                    <a:pt x="183" y="4259"/>
                  </a:lnTo>
                  <a:lnTo>
                    <a:pt x="122" y="4522"/>
                  </a:lnTo>
                  <a:lnTo>
                    <a:pt x="61" y="4806"/>
                  </a:lnTo>
                  <a:lnTo>
                    <a:pt x="21" y="5090"/>
                  </a:lnTo>
                  <a:lnTo>
                    <a:pt x="0" y="5374"/>
                  </a:lnTo>
                  <a:lnTo>
                    <a:pt x="0" y="5678"/>
                  </a:lnTo>
                  <a:lnTo>
                    <a:pt x="0" y="11924"/>
                  </a:lnTo>
                  <a:lnTo>
                    <a:pt x="0" y="12228"/>
                  </a:lnTo>
                  <a:lnTo>
                    <a:pt x="21" y="12512"/>
                  </a:lnTo>
                  <a:lnTo>
                    <a:pt x="61" y="12796"/>
                  </a:lnTo>
                  <a:lnTo>
                    <a:pt x="122" y="13060"/>
                  </a:lnTo>
                  <a:lnTo>
                    <a:pt x="183" y="13344"/>
                  </a:lnTo>
                  <a:lnTo>
                    <a:pt x="264" y="13607"/>
                  </a:lnTo>
                  <a:lnTo>
                    <a:pt x="345" y="13871"/>
                  </a:lnTo>
                  <a:lnTo>
                    <a:pt x="446" y="14135"/>
                  </a:lnTo>
                  <a:lnTo>
                    <a:pt x="568" y="14378"/>
                  </a:lnTo>
                  <a:lnTo>
                    <a:pt x="690" y="14621"/>
                  </a:lnTo>
                  <a:lnTo>
                    <a:pt x="811" y="14865"/>
                  </a:lnTo>
                  <a:lnTo>
                    <a:pt x="974" y="15108"/>
                  </a:lnTo>
                  <a:lnTo>
                    <a:pt x="1136" y="15331"/>
                  </a:lnTo>
                  <a:lnTo>
                    <a:pt x="1298" y="15534"/>
                  </a:lnTo>
                  <a:lnTo>
                    <a:pt x="1481" y="15737"/>
                  </a:lnTo>
                  <a:lnTo>
                    <a:pt x="1663" y="15939"/>
                  </a:lnTo>
                  <a:lnTo>
                    <a:pt x="1866" y="16122"/>
                  </a:lnTo>
                  <a:lnTo>
                    <a:pt x="2069" y="16305"/>
                  </a:lnTo>
                  <a:lnTo>
                    <a:pt x="2271" y="16467"/>
                  </a:lnTo>
                  <a:lnTo>
                    <a:pt x="2495" y="16629"/>
                  </a:lnTo>
                  <a:lnTo>
                    <a:pt x="2738" y="16771"/>
                  </a:lnTo>
                  <a:lnTo>
                    <a:pt x="2961" y="16913"/>
                  </a:lnTo>
                  <a:lnTo>
                    <a:pt x="3204" y="17035"/>
                  </a:lnTo>
                  <a:lnTo>
                    <a:pt x="3468" y="17156"/>
                  </a:lnTo>
                  <a:lnTo>
                    <a:pt x="3732" y="17258"/>
                  </a:lnTo>
                  <a:lnTo>
                    <a:pt x="3995" y="17339"/>
                  </a:lnTo>
                  <a:lnTo>
                    <a:pt x="4259" y="17420"/>
                  </a:lnTo>
                  <a:lnTo>
                    <a:pt x="4522" y="17481"/>
                  </a:lnTo>
                  <a:lnTo>
                    <a:pt x="4806" y="17542"/>
                  </a:lnTo>
                  <a:lnTo>
                    <a:pt x="5090" y="17562"/>
                  </a:lnTo>
                  <a:lnTo>
                    <a:pt x="5374" y="17602"/>
                  </a:lnTo>
                  <a:lnTo>
                    <a:pt x="156310" y="17602"/>
                  </a:lnTo>
                  <a:lnTo>
                    <a:pt x="156594" y="17562"/>
                  </a:lnTo>
                  <a:lnTo>
                    <a:pt x="156878" y="17542"/>
                  </a:lnTo>
                  <a:lnTo>
                    <a:pt x="157162" y="17481"/>
                  </a:lnTo>
                  <a:lnTo>
                    <a:pt x="157446" y="17420"/>
                  </a:lnTo>
                  <a:lnTo>
                    <a:pt x="157709" y="17339"/>
                  </a:lnTo>
                  <a:lnTo>
                    <a:pt x="157973" y="17258"/>
                  </a:lnTo>
                  <a:lnTo>
                    <a:pt x="158237" y="17156"/>
                  </a:lnTo>
                  <a:lnTo>
                    <a:pt x="158480" y="17035"/>
                  </a:lnTo>
                  <a:lnTo>
                    <a:pt x="158723" y="16913"/>
                  </a:lnTo>
                  <a:lnTo>
                    <a:pt x="158967" y="16771"/>
                  </a:lnTo>
                  <a:lnTo>
                    <a:pt x="159190" y="16629"/>
                  </a:lnTo>
                  <a:lnTo>
                    <a:pt x="159413" y="16467"/>
                  </a:lnTo>
                  <a:lnTo>
                    <a:pt x="159636" y="16305"/>
                  </a:lnTo>
                  <a:lnTo>
                    <a:pt x="159839" y="16122"/>
                  </a:lnTo>
                  <a:lnTo>
                    <a:pt x="160021" y="15939"/>
                  </a:lnTo>
                  <a:lnTo>
                    <a:pt x="160224" y="15737"/>
                  </a:lnTo>
                  <a:lnTo>
                    <a:pt x="160406" y="15534"/>
                  </a:lnTo>
                  <a:lnTo>
                    <a:pt x="160569" y="15331"/>
                  </a:lnTo>
                  <a:lnTo>
                    <a:pt x="160731" y="15108"/>
                  </a:lnTo>
                  <a:lnTo>
                    <a:pt x="160873" y="14865"/>
                  </a:lnTo>
                  <a:lnTo>
                    <a:pt x="161015" y="14621"/>
                  </a:lnTo>
                  <a:lnTo>
                    <a:pt x="161136" y="14378"/>
                  </a:lnTo>
                  <a:lnTo>
                    <a:pt x="161238" y="14135"/>
                  </a:lnTo>
                  <a:lnTo>
                    <a:pt x="161339" y="13871"/>
                  </a:lnTo>
                  <a:lnTo>
                    <a:pt x="161441" y="13607"/>
                  </a:lnTo>
                  <a:lnTo>
                    <a:pt x="161522" y="13344"/>
                  </a:lnTo>
                  <a:lnTo>
                    <a:pt x="161583" y="13060"/>
                  </a:lnTo>
                  <a:lnTo>
                    <a:pt x="161623" y="12796"/>
                  </a:lnTo>
                  <a:lnTo>
                    <a:pt x="161664" y="12512"/>
                  </a:lnTo>
                  <a:lnTo>
                    <a:pt x="161684" y="12228"/>
                  </a:lnTo>
                  <a:lnTo>
                    <a:pt x="161684" y="11924"/>
                  </a:lnTo>
                  <a:lnTo>
                    <a:pt x="161684" y="5678"/>
                  </a:lnTo>
                  <a:lnTo>
                    <a:pt x="161684" y="5374"/>
                  </a:lnTo>
                  <a:lnTo>
                    <a:pt x="161664" y="5090"/>
                  </a:lnTo>
                  <a:lnTo>
                    <a:pt x="161623" y="4806"/>
                  </a:lnTo>
                  <a:lnTo>
                    <a:pt x="161583" y="4522"/>
                  </a:lnTo>
                  <a:lnTo>
                    <a:pt x="161522" y="4259"/>
                  </a:lnTo>
                  <a:lnTo>
                    <a:pt x="161441" y="3995"/>
                  </a:lnTo>
                  <a:lnTo>
                    <a:pt x="161339" y="3732"/>
                  </a:lnTo>
                  <a:lnTo>
                    <a:pt x="161238" y="3468"/>
                  </a:lnTo>
                  <a:lnTo>
                    <a:pt x="161136" y="3204"/>
                  </a:lnTo>
                  <a:lnTo>
                    <a:pt x="161015" y="2961"/>
                  </a:lnTo>
                  <a:lnTo>
                    <a:pt x="160873" y="2738"/>
                  </a:lnTo>
                  <a:lnTo>
                    <a:pt x="160731" y="2495"/>
                  </a:lnTo>
                  <a:lnTo>
                    <a:pt x="160569" y="2272"/>
                  </a:lnTo>
                  <a:lnTo>
                    <a:pt x="160406" y="2069"/>
                  </a:lnTo>
                  <a:lnTo>
                    <a:pt x="160224" y="1866"/>
                  </a:lnTo>
                  <a:lnTo>
                    <a:pt x="160021" y="1663"/>
                  </a:lnTo>
                  <a:lnTo>
                    <a:pt x="159839" y="1481"/>
                  </a:lnTo>
                  <a:lnTo>
                    <a:pt x="159636" y="1298"/>
                  </a:lnTo>
                  <a:lnTo>
                    <a:pt x="159413" y="1136"/>
                  </a:lnTo>
                  <a:lnTo>
                    <a:pt x="159190" y="974"/>
                  </a:lnTo>
                  <a:lnTo>
                    <a:pt x="158967" y="811"/>
                  </a:lnTo>
                  <a:lnTo>
                    <a:pt x="158723" y="690"/>
                  </a:lnTo>
                  <a:lnTo>
                    <a:pt x="158480" y="568"/>
                  </a:lnTo>
                  <a:lnTo>
                    <a:pt x="158237" y="446"/>
                  </a:lnTo>
                  <a:lnTo>
                    <a:pt x="157973" y="345"/>
                  </a:lnTo>
                  <a:lnTo>
                    <a:pt x="157709" y="264"/>
                  </a:lnTo>
                  <a:lnTo>
                    <a:pt x="157446" y="183"/>
                  </a:lnTo>
                  <a:lnTo>
                    <a:pt x="157162" y="122"/>
                  </a:lnTo>
                  <a:lnTo>
                    <a:pt x="156878" y="61"/>
                  </a:lnTo>
                  <a:lnTo>
                    <a:pt x="156594" y="21"/>
                  </a:lnTo>
                  <a:lnTo>
                    <a:pt x="156310" y="0"/>
                  </a:lnTo>
                  <a:close/>
                </a:path>
              </a:pathLst>
            </a:custGeom>
            <a:solidFill>
              <a:srgbClr val="009FCA"/>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5"/>
            <p:cNvSpPr/>
            <p:nvPr/>
          </p:nvSpPr>
          <p:spPr>
            <a:xfrm>
              <a:off x="5992350" y="2962204"/>
              <a:ext cx="2673397" cy="235959"/>
            </a:xfrm>
            <a:custGeom>
              <a:avLst/>
              <a:gdLst/>
              <a:ahLst/>
              <a:cxnLst/>
              <a:rect l="l" t="t" r="r" b="b"/>
              <a:pathLst>
                <a:path w="173710" h="15332" extrusionOk="0">
                  <a:moveTo>
                    <a:pt x="5375" y="0"/>
                  </a:moveTo>
                  <a:lnTo>
                    <a:pt x="5091" y="21"/>
                  </a:lnTo>
                  <a:lnTo>
                    <a:pt x="4807" y="61"/>
                  </a:lnTo>
                  <a:lnTo>
                    <a:pt x="4523" y="122"/>
                  </a:lnTo>
                  <a:lnTo>
                    <a:pt x="4239" y="183"/>
                  </a:lnTo>
                  <a:lnTo>
                    <a:pt x="3975" y="264"/>
                  </a:lnTo>
                  <a:lnTo>
                    <a:pt x="3712" y="345"/>
                  </a:lnTo>
                  <a:lnTo>
                    <a:pt x="3448" y="446"/>
                  </a:lnTo>
                  <a:lnTo>
                    <a:pt x="3205" y="568"/>
                  </a:lnTo>
                  <a:lnTo>
                    <a:pt x="2961" y="690"/>
                  </a:lnTo>
                  <a:lnTo>
                    <a:pt x="2718" y="811"/>
                  </a:lnTo>
                  <a:lnTo>
                    <a:pt x="2495" y="974"/>
                  </a:lnTo>
                  <a:lnTo>
                    <a:pt x="2272" y="1136"/>
                  </a:lnTo>
                  <a:lnTo>
                    <a:pt x="2049" y="1298"/>
                  </a:lnTo>
                  <a:lnTo>
                    <a:pt x="1846" y="1481"/>
                  </a:lnTo>
                  <a:lnTo>
                    <a:pt x="1664" y="1663"/>
                  </a:lnTo>
                  <a:lnTo>
                    <a:pt x="1461" y="1866"/>
                  </a:lnTo>
                  <a:lnTo>
                    <a:pt x="1278" y="2069"/>
                  </a:lnTo>
                  <a:lnTo>
                    <a:pt x="1116" y="2272"/>
                  </a:lnTo>
                  <a:lnTo>
                    <a:pt x="954" y="2495"/>
                  </a:lnTo>
                  <a:lnTo>
                    <a:pt x="812" y="2738"/>
                  </a:lnTo>
                  <a:lnTo>
                    <a:pt x="670" y="2961"/>
                  </a:lnTo>
                  <a:lnTo>
                    <a:pt x="548" y="3204"/>
                  </a:lnTo>
                  <a:lnTo>
                    <a:pt x="447" y="3468"/>
                  </a:lnTo>
                  <a:lnTo>
                    <a:pt x="345" y="3732"/>
                  </a:lnTo>
                  <a:lnTo>
                    <a:pt x="244" y="3995"/>
                  </a:lnTo>
                  <a:lnTo>
                    <a:pt x="163" y="4259"/>
                  </a:lnTo>
                  <a:lnTo>
                    <a:pt x="102" y="4523"/>
                  </a:lnTo>
                  <a:lnTo>
                    <a:pt x="62" y="4806"/>
                  </a:lnTo>
                  <a:lnTo>
                    <a:pt x="21" y="5090"/>
                  </a:lnTo>
                  <a:lnTo>
                    <a:pt x="1" y="5374"/>
                  </a:lnTo>
                  <a:lnTo>
                    <a:pt x="1" y="5678"/>
                  </a:lnTo>
                  <a:lnTo>
                    <a:pt x="1" y="9653"/>
                  </a:lnTo>
                  <a:lnTo>
                    <a:pt x="1" y="9937"/>
                  </a:lnTo>
                  <a:lnTo>
                    <a:pt x="21" y="10241"/>
                  </a:lnTo>
                  <a:lnTo>
                    <a:pt x="62" y="10525"/>
                  </a:lnTo>
                  <a:lnTo>
                    <a:pt x="102" y="10789"/>
                  </a:lnTo>
                  <a:lnTo>
                    <a:pt x="163" y="11073"/>
                  </a:lnTo>
                  <a:lnTo>
                    <a:pt x="244" y="11336"/>
                  </a:lnTo>
                  <a:lnTo>
                    <a:pt x="345" y="11600"/>
                  </a:lnTo>
                  <a:lnTo>
                    <a:pt x="447" y="11863"/>
                  </a:lnTo>
                  <a:lnTo>
                    <a:pt x="548" y="12107"/>
                  </a:lnTo>
                  <a:lnTo>
                    <a:pt x="670" y="12350"/>
                  </a:lnTo>
                  <a:lnTo>
                    <a:pt x="812" y="12594"/>
                  </a:lnTo>
                  <a:lnTo>
                    <a:pt x="954" y="12817"/>
                  </a:lnTo>
                  <a:lnTo>
                    <a:pt x="1116" y="13040"/>
                  </a:lnTo>
                  <a:lnTo>
                    <a:pt x="1278" y="13263"/>
                  </a:lnTo>
                  <a:lnTo>
                    <a:pt x="1461" y="13465"/>
                  </a:lnTo>
                  <a:lnTo>
                    <a:pt x="1664" y="13668"/>
                  </a:lnTo>
                  <a:lnTo>
                    <a:pt x="1846" y="13851"/>
                  </a:lnTo>
                  <a:lnTo>
                    <a:pt x="2049" y="14033"/>
                  </a:lnTo>
                  <a:lnTo>
                    <a:pt x="2272" y="14196"/>
                  </a:lnTo>
                  <a:lnTo>
                    <a:pt x="2495" y="14358"/>
                  </a:lnTo>
                  <a:lnTo>
                    <a:pt x="2718" y="14500"/>
                  </a:lnTo>
                  <a:lnTo>
                    <a:pt x="2961" y="14642"/>
                  </a:lnTo>
                  <a:lnTo>
                    <a:pt x="3205" y="14763"/>
                  </a:lnTo>
                  <a:lnTo>
                    <a:pt x="3448" y="14885"/>
                  </a:lnTo>
                  <a:lnTo>
                    <a:pt x="3712" y="14986"/>
                  </a:lnTo>
                  <a:lnTo>
                    <a:pt x="3975" y="15068"/>
                  </a:lnTo>
                  <a:lnTo>
                    <a:pt x="4239" y="15149"/>
                  </a:lnTo>
                  <a:lnTo>
                    <a:pt x="4523" y="15209"/>
                  </a:lnTo>
                  <a:lnTo>
                    <a:pt x="4807" y="15270"/>
                  </a:lnTo>
                  <a:lnTo>
                    <a:pt x="5091" y="15291"/>
                  </a:lnTo>
                  <a:lnTo>
                    <a:pt x="5375" y="15311"/>
                  </a:lnTo>
                  <a:lnTo>
                    <a:pt x="5659" y="15331"/>
                  </a:lnTo>
                  <a:lnTo>
                    <a:pt x="168032" y="15331"/>
                  </a:lnTo>
                  <a:lnTo>
                    <a:pt x="168316" y="15311"/>
                  </a:lnTo>
                  <a:lnTo>
                    <a:pt x="168620" y="15291"/>
                  </a:lnTo>
                  <a:lnTo>
                    <a:pt x="168904" y="15270"/>
                  </a:lnTo>
                  <a:lnTo>
                    <a:pt x="169167" y="15209"/>
                  </a:lnTo>
                  <a:lnTo>
                    <a:pt x="169451" y="15149"/>
                  </a:lnTo>
                  <a:lnTo>
                    <a:pt x="169715" y="15068"/>
                  </a:lnTo>
                  <a:lnTo>
                    <a:pt x="169978" y="14986"/>
                  </a:lnTo>
                  <a:lnTo>
                    <a:pt x="170242" y="14885"/>
                  </a:lnTo>
                  <a:lnTo>
                    <a:pt x="170485" y="14763"/>
                  </a:lnTo>
                  <a:lnTo>
                    <a:pt x="170729" y="14642"/>
                  </a:lnTo>
                  <a:lnTo>
                    <a:pt x="170972" y="14500"/>
                  </a:lnTo>
                  <a:lnTo>
                    <a:pt x="171195" y="14358"/>
                  </a:lnTo>
                  <a:lnTo>
                    <a:pt x="171418" y="14196"/>
                  </a:lnTo>
                  <a:lnTo>
                    <a:pt x="171641" y="14033"/>
                  </a:lnTo>
                  <a:lnTo>
                    <a:pt x="171844" y="13851"/>
                  </a:lnTo>
                  <a:lnTo>
                    <a:pt x="172047" y="13668"/>
                  </a:lnTo>
                  <a:lnTo>
                    <a:pt x="172229" y="13465"/>
                  </a:lnTo>
                  <a:lnTo>
                    <a:pt x="172412" y="13263"/>
                  </a:lnTo>
                  <a:lnTo>
                    <a:pt x="172574" y="13040"/>
                  </a:lnTo>
                  <a:lnTo>
                    <a:pt x="172736" y="12817"/>
                  </a:lnTo>
                  <a:lnTo>
                    <a:pt x="172878" y="12594"/>
                  </a:lnTo>
                  <a:lnTo>
                    <a:pt x="173020" y="12350"/>
                  </a:lnTo>
                  <a:lnTo>
                    <a:pt x="173142" y="12107"/>
                  </a:lnTo>
                  <a:lnTo>
                    <a:pt x="173264" y="11863"/>
                  </a:lnTo>
                  <a:lnTo>
                    <a:pt x="173365" y="11600"/>
                  </a:lnTo>
                  <a:lnTo>
                    <a:pt x="173446" y="11336"/>
                  </a:lnTo>
                  <a:lnTo>
                    <a:pt x="173527" y="11073"/>
                  </a:lnTo>
                  <a:lnTo>
                    <a:pt x="173588" y="10789"/>
                  </a:lnTo>
                  <a:lnTo>
                    <a:pt x="173649" y="10525"/>
                  </a:lnTo>
                  <a:lnTo>
                    <a:pt x="173669" y="10241"/>
                  </a:lnTo>
                  <a:lnTo>
                    <a:pt x="173689" y="9937"/>
                  </a:lnTo>
                  <a:lnTo>
                    <a:pt x="173710" y="9653"/>
                  </a:lnTo>
                  <a:lnTo>
                    <a:pt x="173710" y="5678"/>
                  </a:lnTo>
                  <a:lnTo>
                    <a:pt x="173689" y="5374"/>
                  </a:lnTo>
                  <a:lnTo>
                    <a:pt x="173669" y="5090"/>
                  </a:lnTo>
                  <a:lnTo>
                    <a:pt x="173649" y="4806"/>
                  </a:lnTo>
                  <a:lnTo>
                    <a:pt x="173588" y="4523"/>
                  </a:lnTo>
                  <a:lnTo>
                    <a:pt x="173527" y="4259"/>
                  </a:lnTo>
                  <a:lnTo>
                    <a:pt x="173446" y="3995"/>
                  </a:lnTo>
                  <a:lnTo>
                    <a:pt x="173365" y="3732"/>
                  </a:lnTo>
                  <a:lnTo>
                    <a:pt x="173264" y="3468"/>
                  </a:lnTo>
                  <a:lnTo>
                    <a:pt x="173142" y="3204"/>
                  </a:lnTo>
                  <a:lnTo>
                    <a:pt x="173020" y="2961"/>
                  </a:lnTo>
                  <a:lnTo>
                    <a:pt x="172878" y="2738"/>
                  </a:lnTo>
                  <a:lnTo>
                    <a:pt x="172736" y="2495"/>
                  </a:lnTo>
                  <a:lnTo>
                    <a:pt x="172574" y="2272"/>
                  </a:lnTo>
                  <a:lnTo>
                    <a:pt x="172412" y="2069"/>
                  </a:lnTo>
                  <a:lnTo>
                    <a:pt x="172229" y="1866"/>
                  </a:lnTo>
                  <a:lnTo>
                    <a:pt x="172047" y="1663"/>
                  </a:lnTo>
                  <a:lnTo>
                    <a:pt x="171844" y="1481"/>
                  </a:lnTo>
                  <a:lnTo>
                    <a:pt x="171641" y="1298"/>
                  </a:lnTo>
                  <a:lnTo>
                    <a:pt x="171418" y="1136"/>
                  </a:lnTo>
                  <a:lnTo>
                    <a:pt x="171195" y="974"/>
                  </a:lnTo>
                  <a:lnTo>
                    <a:pt x="170972" y="811"/>
                  </a:lnTo>
                  <a:lnTo>
                    <a:pt x="170729" y="690"/>
                  </a:lnTo>
                  <a:lnTo>
                    <a:pt x="170485" y="568"/>
                  </a:lnTo>
                  <a:lnTo>
                    <a:pt x="170242" y="446"/>
                  </a:lnTo>
                  <a:lnTo>
                    <a:pt x="169978" y="345"/>
                  </a:lnTo>
                  <a:lnTo>
                    <a:pt x="169715" y="264"/>
                  </a:lnTo>
                  <a:lnTo>
                    <a:pt x="169451" y="183"/>
                  </a:lnTo>
                  <a:lnTo>
                    <a:pt x="169167" y="122"/>
                  </a:lnTo>
                  <a:lnTo>
                    <a:pt x="168904" y="61"/>
                  </a:lnTo>
                  <a:lnTo>
                    <a:pt x="168620" y="21"/>
                  </a:lnTo>
                  <a:lnTo>
                    <a:pt x="168316" y="0"/>
                  </a:lnTo>
                  <a:close/>
                </a:path>
              </a:pathLst>
            </a:custGeom>
            <a:solidFill>
              <a:srgbClr val="A5A5A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5"/>
            <p:cNvSpPr/>
            <p:nvPr/>
          </p:nvSpPr>
          <p:spPr>
            <a:xfrm>
              <a:off x="7798121" y="2989660"/>
              <a:ext cx="181033" cy="180725"/>
            </a:xfrm>
            <a:custGeom>
              <a:avLst/>
              <a:gdLst/>
              <a:ahLst/>
              <a:cxnLst/>
              <a:rect l="l" t="t" r="r" b="b"/>
              <a:pathLst>
                <a:path w="11763" h="11743" extrusionOk="0">
                  <a:moveTo>
                    <a:pt x="5881" y="1"/>
                  </a:moveTo>
                  <a:lnTo>
                    <a:pt x="5577" y="21"/>
                  </a:lnTo>
                  <a:lnTo>
                    <a:pt x="5273" y="41"/>
                  </a:lnTo>
                  <a:lnTo>
                    <a:pt x="4989" y="62"/>
                  </a:lnTo>
                  <a:lnTo>
                    <a:pt x="4705" y="123"/>
                  </a:lnTo>
                  <a:lnTo>
                    <a:pt x="4421" y="183"/>
                  </a:lnTo>
                  <a:lnTo>
                    <a:pt x="4137" y="264"/>
                  </a:lnTo>
                  <a:lnTo>
                    <a:pt x="3853" y="366"/>
                  </a:lnTo>
                  <a:lnTo>
                    <a:pt x="3590" y="467"/>
                  </a:lnTo>
                  <a:lnTo>
                    <a:pt x="3326" y="589"/>
                  </a:lnTo>
                  <a:lnTo>
                    <a:pt x="3083" y="711"/>
                  </a:lnTo>
                  <a:lnTo>
                    <a:pt x="2839" y="853"/>
                  </a:lnTo>
                  <a:lnTo>
                    <a:pt x="2596" y="1015"/>
                  </a:lnTo>
                  <a:lnTo>
                    <a:pt x="2373" y="1177"/>
                  </a:lnTo>
                  <a:lnTo>
                    <a:pt x="2150" y="1339"/>
                  </a:lnTo>
                  <a:lnTo>
                    <a:pt x="1927" y="1522"/>
                  </a:lnTo>
                  <a:lnTo>
                    <a:pt x="1724" y="1725"/>
                  </a:lnTo>
                  <a:lnTo>
                    <a:pt x="1542" y="1927"/>
                  </a:lnTo>
                  <a:lnTo>
                    <a:pt x="1359" y="2150"/>
                  </a:lnTo>
                  <a:lnTo>
                    <a:pt x="1177" y="2353"/>
                  </a:lnTo>
                  <a:lnTo>
                    <a:pt x="1014" y="2597"/>
                  </a:lnTo>
                  <a:lnTo>
                    <a:pt x="852" y="2840"/>
                  </a:lnTo>
                  <a:lnTo>
                    <a:pt x="710" y="3083"/>
                  </a:lnTo>
                  <a:lnTo>
                    <a:pt x="589" y="3327"/>
                  </a:lnTo>
                  <a:lnTo>
                    <a:pt x="467" y="3590"/>
                  </a:lnTo>
                  <a:lnTo>
                    <a:pt x="365" y="3854"/>
                  </a:lnTo>
                  <a:lnTo>
                    <a:pt x="264" y="4138"/>
                  </a:lnTo>
                  <a:lnTo>
                    <a:pt x="203" y="4401"/>
                  </a:lnTo>
                  <a:lnTo>
                    <a:pt x="122" y="4685"/>
                  </a:lnTo>
                  <a:lnTo>
                    <a:pt x="82" y="4989"/>
                  </a:lnTo>
                  <a:lnTo>
                    <a:pt x="41" y="5273"/>
                  </a:lnTo>
                  <a:lnTo>
                    <a:pt x="21" y="5578"/>
                  </a:lnTo>
                  <a:lnTo>
                    <a:pt x="0" y="5882"/>
                  </a:lnTo>
                  <a:lnTo>
                    <a:pt x="21" y="6186"/>
                  </a:lnTo>
                  <a:lnTo>
                    <a:pt x="41" y="6470"/>
                  </a:lnTo>
                  <a:lnTo>
                    <a:pt x="82" y="6774"/>
                  </a:lnTo>
                  <a:lnTo>
                    <a:pt x="122" y="7058"/>
                  </a:lnTo>
                  <a:lnTo>
                    <a:pt x="203" y="7342"/>
                  </a:lnTo>
                  <a:lnTo>
                    <a:pt x="264" y="7626"/>
                  </a:lnTo>
                  <a:lnTo>
                    <a:pt x="365" y="7889"/>
                  </a:lnTo>
                  <a:lnTo>
                    <a:pt x="467" y="8153"/>
                  </a:lnTo>
                  <a:lnTo>
                    <a:pt x="589" y="8417"/>
                  </a:lnTo>
                  <a:lnTo>
                    <a:pt x="710" y="8680"/>
                  </a:lnTo>
                  <a:lnTo>
                    <a:pt x="852" y="8924"/>
                  </a:lnTo>
                  <a:lnTo>
                    <a:pt x="1014" y="9167"/>
                  </a:lnTo>
                  <a:lnTo>
                    <a:pt x="1177" y="9390"/>
                  </a:lnTo>
                  <a:lnTo>
                    <a:pt x="1359" y="9613"/>
                  </a:lnTo>
                  <a:lnTo>
                    <a:pt x="1542" y="9816"/>
                  </a:lnTo>
                  <a:lnTo>
                    <a:pt x="1724" y="10019"/>
                  </a:lnTo>
                  <a:lnTo>
                    <a:pt x="1927" y="10221"/>
                  </a:lnTo>
                  <a:lnTo>
                    <a:pt x="2150" y="10404"/>
                  </a:lnTo>
                  <a:lnTo>
                    <a:pt x="2373" y="10586"/>
                  </a:lnTo>
                  <a:lnTo>
                    <a:pt x="2596" y="10749"/>
                  </a:lnTo>
                  <a:lnTo>
                    <a:pt x="2839" y="10891"/>
                  </a:lnTo>
                  <a:lnTo>
                    <a:pt x="3083" y="11033"/>
                  </a:lnTo>
                  <a:lnTo>
                    <a:pt x="3326" y="11175"/>
                  </a:lnTo>
                  <a:lnTo>
                    <a:pt x="3590" y="11276"/>
                  </a:lnTo>
                  <a:lnTo>
                    <a:pt x="3853" y="11398"/>
                  </a:lnTo>
                  <a:lnTo>
                    <a:pt x="4137" y="11479"/>
                  </a:lnTo>
                  <a:lnTo>
                    <a:pt x="4421" y="11560"/>
                  </a:lnTo>
                  <a:lnTo>
                    <a:pt x="4705" y="11621"/>
                  </a:lnTo>
                  <a:lnTo>
                    <a:pt x="4989" y="11681"/>
                  </a:lnTo>
                  <a:lnTo>
                    <a:pt x="5273" y="11722"/>
                  </a:lnTo>
                  <a:lnTo>
                    <a:pt x="5577" y="11742"/>
                  </a:lnTo>
                  <a:lnTo>
                    <a:pt x="6185" y="11742"/>
                  </a:lnTo>
                  <a:lnTo>
                    <a:pt x="6490" y="11722"/>
                  </a:lnTo>
                  <a:lnTo>
                    <a:pt x="6774" y="11681"/>
                  </a:lnTo>
                  <a:lnTo>
                    <a:pt x="7057" y="11621"/>
                  </a:lnTo>
                  <a:lnTo>
                    <a:pt x="7341" y="11560"/>
                  </a:lnTo>
                  <a:lnTo>
                    <a:pt x="7625" y="11479"/>
                  </a:lnTo>
                  <a:lnTo>
                    <a:pt x="7909" y="11398"/>
                  </a:lnTo>
                  <a:lnTo>
                    <a:pt x="8173" y="11276"/>
                  </a:lnTo>
                  <a:lnTo>
                    <a:pt x="8436" y="11175"/>
                  </a:lnTo>
                  <a:lnTo>
                    <a:pt x="8680" y="11033"/>
                  </a:lnTo>
                  <a:lnTo>
                    <a:pt x="8923" y="10891"/>
                  </a:lnTo>
                  <a:lnTo>
                    <a:pt x="9166" y="10749"/>
                  </a:lnTo>
                  <a:lnTo>
                    <a:pt x="9390" y="10586"/>
                  </a:lnTo>
                  <a:lnTo>
                    <a:pt x="9613" y="10404"/>
                  </a:lnTo>
                  <a:lnTo>
                    <a:pt x="9836" y="10221"/>
                  </a:lnTo>
                  <a:lnTo>
                    <a:pt x="10038" y="10019"/>
                  </a:lnTo>
                  <a:lnTo>
                    <a:pt x="10221" y="9816"/>
                  </a:lnTo>
                  <a:lnTo>
                    <a:pt x="10403" y="9613"/>
                  </a:lnTo>
                  <a:lnTo>
                    <a:pt x="10586" y="9390"/>
                  </a:lnTo>
                  <a:lnTo>
                    <a:pt x="10748" y="9167"/>
                  </a:lnTo>
                  <a:lnTo>
                    <a:pt x="10910" y="8924"/>
                  </a:lnTo>
                  <a:lnTo>
                    <a:pt x="11052" y="8680"/>
                  </a:lnTo>
                  <a:lnTo>
                    <a:pt x="11174" y="8417"/>
                  </a:lnTo>
                  <a:lnTo>
                    <a:pt x="11296" y="8153"/>
                  </a:lnTo>
                  <a:lnTo>
                    <a:pt x="11397" y="7889"/>
                  </a:lnTo>
                  <a:lnTo>
                    <a:pt x="11499" y="7626"/>
                  </a:lnTo>
                  <a:lnTo>
                    <a:pt x="11559" y="7342"/>
                  </a:lnTo>
                  <a:lnTo>
                    <a:pt x="11641" y="7058"/>
                  </a:lnTo>
                  <a:lnTo>
                    <a:pt x="11681" y="6774"/>
                  </a:lnTo>
                  <a:lnTo>
                    <a:pt x="11722" y="6470"/>
                  </a:lnTo>
                  <a:lnTo>
                    <a:pt x="11742" y="6186"/>
                  </a:lnTo>
                  <a:lnTo>
                    <a:pt x="11762" y="5882"/>
                  </a:lnTo>
                  <a:lnTo>
                    <a:pt x="11742" y="5578"/>
                  </a:lnTo>
                  <a:lnTo>
                    <a:pt x="11722" y="5273"/>
                  </a:lnTo>
                  <a:lnTo>
                    <a:pt x="11681" y="4989"/>
                  </a:lnTo>
                  <a:lnTo>
                    <a:pt x="11641" y="4685"/>
                  </a:lnTo>
                  <a:lnTo>
                    <a:pt x="11559" y="4401"/>
                  </a:lnTo>
                  <a:lnTo>
                    <a:pt x="11499" y="4138"/>
                  </a:lnTo>
                  <a:lnTo>
                    <a:pt x="11397" y="3854"/>
                  </a:lnTo>
                  <a:lnTo>
                    <a:pt x="11296" y="3590"/>
                  </a:lnTo>
                  <a:lnTo>
                    <a:pt x="11174" y="3327"/>
                  </a:lnTo>
                  <a:lnTo>
                    <a:pt x="11052" y="3083"/>
                  </a:lnTo>
                  <a:lnTo>
                    <a:pt x="10910" y="2840"/>
                  </a:lnTo>
                  <a:lnTo>
                    <a:pt x="10748" y="2597"/>
                  </a:lnTo>
                  <a:lnTo>
                    <a:pt x="10586" y="2353"/>
                  </a:lnTo>
                  <a:lnTo>
                    <a:pt x="10403" y="2150"/>
                  </a:lnTo>
                  <a:lnTo>
                    <a:pt x="10221" y="1927"/>
                  </a:lnTo>
                  <a:lnTo>
                    <a:pt x="10038" y="1725"/>
                  </a:lnTo>
                  <a:lnTo>
                    <a:pt x="9836" y="1522"/>
                  </a:lnTo>
                  <a:lnTo>
                    <a:pt x="9613" y="1339"/>
                  </a:lnTo>
                  <a:lnTo>
                    <a:pt x="9390" y="1177"/>
                  </a:lnTo>
                  <a:lnTo>
                    <a:pt x="9166" y="1015"/>
                  </a:lnTo>
                  <a:lnTo>
                    <a:pt x="8923" y="853"/>
                  </a:lnTo>
                  <a:lnTo>
                    <a:pt x="8680" y="711"/>
                  </a:lnTo>
                  <a:lnTo>
                    <a:pt x="8436" y="589"/>
                  </a:lnTo>
                  <a:lnTo>
                    <a:pt x="8173" y="467"/>
                  </a:lnTo>
                  <a:lnTo>
                    <a:pt x="7909" y="366"/>
                  </a:lnTo>
                  <a:lnTo>
                    <a:pt x="7625" y="264"/>
                  </a:lnTo>
                  <a:lnTo>
                    <a:pt x="7341" y="183"/>
                  </a:lnTo>
                  <a:lnTo>
                    <a:pt x="7057" y="123"/>
                  </a:lnTo>
                  <a:lnTo>
                    <a:pt x="6774" y="62"/>
                  </a:lnTo>
                  <a:lnTo>
                    <a:pt x="6490" y="41"/>
                  </a:lnTo>
                  <a:lnTo>
                    <a:pt x="6185" y="21"/>
                  </a:lnTo>
                  <a:lnTo>
                    <a:pt x="5881" y="1"/>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5"/>
            <p:cNvSpPr/>
            <p:nvPr/>
          </p:nvSpPr>
          <p:spPr>
            <a:xfrm>
              <a:off x="6681145" y="2993723"/>
              <a:ext cx="180709" cy="180709"/>
            </a:xfrm>
            <a:custGeom>
              <a:avLst/>
              <a:gdLst/>
              <a:ahLst/>
              <a:cxnLst/>
              <a:rect l="l" t="t" r="r" b="b"/>
              <a:pathLst>
                <a:path w="11742" h="11742" extrusionOk="0">
                  <a:moveTo>
                    <a:pt x="5557" y="0"/>
                  </a:moveTo>
                  <a:lnTo>
                    <a:pt x="5273" y="21"/>
                  </a:lnTo>
                  <a:lnTo>
                    <a:pt x="4969" y="61"/>
                  </a:lnTo>
                  <a:lnTo>
                    <a:pt x="4685" y="122"/>
                  </a:lnTo>
                  <a:lnTo>
                    <a:pt x="4401" y="183"/>
                  </a:lnTo>
                  <a:lnTo>
                    <a:pt x="4117" y="264"/>
                  </a:lnTo>
                  <a:lnTo>
                    <a:pt x="3853" y="345"/>
                  </a:lnTo>
                  <a:lnTo>
                    <a:pt x="3590" y="447"/>
                  </a:lnTo>
                  <a:lnTo>
                    <a:pt x="3326" y="568"/>
                  </a:lnTo>
                  <a:lnTo>
                    <a:pt x="3062" y="710"/>
                  </a:lnTo>
                  <a:lnTo>
                    <a:pt x="2819" y="852"/>
                  </a:lnTo>
                  <a:lnTo>
                    <a:pt x="2576" y="994"/>
                  </a:lnTo>
                  <a:lnTo>
                    <a:pt x="2353" y="1156"/>
                  </a:lnTo>
                  <a:lnTo>
                    <a:pt x="2130" y="1339"/>
                  </a:lnTo>
                  <a:lnTo>
                    <a:pt x="1927" y="1521"/>
                  </a:lnTo>
                  <a:lnTo>
                    <a:pt x="1724" y="1724"/>
                  </a:lnTo>
                  <a:lnTo>
                    <a:pt x="1521" y="1927"/>
                  </a:lnTo>
                  <a:lnTo>
                    <a:pt x="1339" y="2130"/>
                  </a:lnTo>
                  <a:lnTo>
                    <a:pt x="1156" y="2353"/>
                  </a:lnTo>
                  <a:lnTo>
                    <a:pt x="994" y="2576"/>
                  </a:lnTo>
                  <a:lnTo>
                    <a:pt x="852" y="2819"/>
                  </a:lnTo>
                  <a:lnTo>
                    <a:pt x="710" y="3063"/>
                  </a:lnTo>
                  <a:lnTo>
                    <a:pt x="568" y="3326"/>
                  </a:lnTo>
                  <a:lnTo>
                    <a:pt x="467" y="3590"/>
                  </a:lnTo>
                  <a:lnTo>
                    <a:pt x="345" y="3853"/>
                  </a:lnTo>
                  <a:lnTo>
                    <a:pt x="264" y="4117"/>
                  </a:lnTo>
                  <a:lnTo>
                    <a:pt x="183" y="4401"/>
                  </a:lnTo>
                  <a:lnTo>
                    <a:pt x="122" y="4685"/>
                  </a:lnTo>
                  <a:lnTo>
                    <a:pt x="61" y="4969"/>
                  </a:lnTo>
                  <a:lnTo>
                    <a:pt x="21" y="5273"/>
                  </a:lnTo>
                  <a:lnTo>
                    <a:pt x="0" y="5557"/>
                  </a:lnTo>
                  <a:lnTo>
                    <a:pt x="0" y="5861"/>
                  </a:lnTo>
                  <a:lnTo>
                    <a:pt x="0" y="6165"/>
                  </a:lnTo>
                  <a:lnTo>
                    <a:pt x="21" y="6469"/>
                  </a:lnTo>
                  <a:lnTo>
                    <a:pt x="61" y="6753"/>
                  </a:lnTo>
                  <a:lnTo>
                    <a:pt x="122" y="7058"/>
                  </a:lnTo>
                  <a:lnTo>
                    <a:pt x="183" y="7341"/>
                  </a:lnTo>
                  <a:lnTo>
                    <a:pt x="264" y="7605"/>
                  </a:lnTo>
                  <a:lnTo>
                    <a:pt x="345" y="7889"/>
                  </a:lnTo>
                  <a:lnTo>
                    <a:pt x="467" y="8153"/>
                  </a:lnTo>
                  <a:lnTo>
                    <a:pt x="568" y="8416"/>
                  </a:lnTo>
                  <a:lnTo>
                    <a:pt x="710" y="8660"/>
                  </a:lnTo>
                  <a:lnTo>
                    <a:pt x="852" y="8903"/>
                  </a:lnTo>
                  <a:lnTo>
                    <a:pt x="994" y="9146"/>
                  </a:lnTo>
                  <a:lnTo>
                    <a:pt x="1156" y="9369"/>
                  </a:lnTo>
                  <a:lnTo>
                    <a:pt x="1339" y="9592"/>
                  </a:lnTo>
                  <a:lnTo>
                    <a:pt x="1521" y="9815"/>
                  </a:lnTo>
                  <a:lnTo>
                    <a:pt x="1724" y="10018"/>
                  </a:lnTo>
                  <a:lnTo>
                    <a:pt x="1927" y="10221"/>
                  </a:lnTo>
                  <a:lnTo>
                    <a:pt x="2130" y="10404"/>
                  </a:lnTo>
                  <a:lnTo>
                    <a:pt x="2353" y="10566"/>
                  </a:lnTo>
                  <a:lnTo>
                    <a:pt x="2576" y="10728"/>
                  </a:lnTo>
                  <a:lnTo>
                    <a:pt x="2819" y="10890"/>
                  </a:lnTo>
                  <a:lnTo>
                    <a:pt x="3062" y="11032"/>
                  </a:lnTo>
                  <a:lnTo>
                    <a:pt x="3326" y="11154"/>
                  </a:lnTo>
                  <a:lnTo>
                    <a:pt x="3590" y="11276"/>
                  </a:lnTo>
                  <a:lnTo>
                    <a:pt x="3853" y="11377"/>
                  </a:lnTo>
                  <a:lnTo>
                    <a:pt x="4117" y="11478"/>
                  </a:lnTo>
                  <a:lnTo>
                    <a:pt x="4401" y="11559"/>
                  </a:lnTo>
                  <a:lnTo>
                    <a:pt x="4685" y="11620"/>
                  </a:lnTo>
                  <a:lnTo>
                    <a:pt x="4969" y="11661"/>
                  </a:lnTo>
                  <a:lnTo>
                    <a:pt x="5273" y="11701"/>
                  </a:lnTo>
                  <a:lnTo>
                    <a:pt x="5557" y="11722"/>
                  </a:lnTo>
                  <a:lnTo>
                    <a:pt x="5861" y="11742"/>
                  </a:lnTo>
                  <a:lnTo>
                    <a:pt x="6165" y="11722"/>
                  </a:lnTo>
                  <a:lnTo>
                    <a:pt x="6469" y="11701"/>
                  </a:lnTo>
                  <a:lnTo>
                    <a:pt x="6753" y="11661"/>
                  </a:lnTo>
                  <a:lnTo>
                    <a:pt x="7057" y="11620"/>
                  </a:lnTo>
                  <a:lnTo>
                    <a:pt x="7341" y="11559"/>
                  </a:lnTo>
                  <a:lnTo>
                    <a:pt x="7605" y="11478"/>
                  </a:lnTo>
                  <a:lnTo>
                    <a:pt x="7889" y="11377"/>
                  </a:lnTo>
                  <a:lnTo>
                    <a:pt x="8152" y="11276"/>
                  </a:lnTo>
                  <a:lnTo>
                    <a:pt x="8416" y="11154"/>
                  </a:lnTo>
                  <a:lnTo>
                    <a:pt x="8659" y="11032"/>
                  </a:lnTo>
                  <a:lnTo>
                    <a:pt x="8923" y="10890"/>
                  </a:lnTo>
                  <a:lnTo>
                    <a:pt x="9146" y="10728"/>
                  </a:lnTo>
                  <a:lnTo>
                    <a:pt x="9389" y="10566"/>
                  </a:lnTo>
                  <a:lnTo>
                    <a:pt x="9612" y="10404"/>
                  </a:lnTo>
                  <a:lnTo>
                    <a:pt x="9815" y="10221"/>
                  </a:lnTo>
                  <a:lnTo>
                    <a:pt x="10018" y="10018"/>
                  </a:lnTo>
                  <a:lnTo>
                    <a:pt x="10221" y="9815"/>
                  </a:lnTo>
                  <a:lnTo>
                    <a:pt x="10403" y="9592"/>
                  </a:lnTo>
                  <a:lnTo>
                    <a:pt x="10566" y="9369"/>
                  </a:lnTo>
                  <a:lnTo>
                    <a:pt x="10728" y="9146"/>
                  </a:lnTo>
                  <a:lnTo>
                    <a:pt x="10890" y="8903"/>
                  </a:lnTo>
                  <a:lnTo>
                    <a:pt x="11032" y="8660"/>
                  </a:lnTo>
                  <a:lnTo>
                    <a:pt x="11154" y="8416"/>
                  </a:lnTo>
                  <a:lnTo>
                    <a:pt x="11275" y="8153"/>
                  </a:lnTo>
                  <a:lnTo>
                    <a:pt x="11377" y="7889"/>
                  </a:lnTo>
                  <a:lnTo>
                    <a:pt x="11478" y="7605"/>
                  </a:lnTo>
                  <a:lnTo>
                    <a:pt x="11559" y="7341"/>
                  </a:lnTo>
                  <a:lnTo>
                    <a:pt x="11620" y="7058"/>
                  </a:lnTo>
                  <a:lnTo>
                    <a:pt x="11681" y="6753"/>
                  </a:lnTo>
                  <a:lnTo>
                    <a:pt x="11701" y="6469"/>
                  </a:lnTo>
                  <a:lnTo>
                    <a:pt x="11742" y="6165"/>
                  </a:lnTo>
                  <a:lnTo>
                    <a:pt x="11742" y="5861"/>
                  </a:lnTo>
                  <a:lnTo>
                    <a:pt x="11742" y="5557"/>
                  </a:lnTo>
                  <a:lnTo>
                    <a:pt x="11701" y="5273"/>
                  </a:lnTo>
                  <a:lnTo>
                    <a:pt x="11681" y="4969"/>
                  </a:lnTo>
                  <a:lnTo>
                    <a:pt x="11620" y="4685"/>
                  </a:lnTo>
                  <a:lnTo>
                    <a:pt x="11559" y="4401"/>
                  </a:lnTo>
                  <a:lnTo>
                    <a:pt x="11478" y="4117"/>
                  </a:lnTo>
                  <a:lnTo>
                    <a:pt x="11377" y="3853"/>
                  </a:lnTo>
                  <a:lnTo>
                    <a:pt x="11275" y="3590"/>
                  </a:lnTo>
                  <a:lnTo>
                    <a:pt x="11154" y="3326"/>
                  </a:lnTo>
                  <a:lnTo>
                    <a:pt x="11032" y="3063"/>
                  </a:lnTo>
                  <a:lnTo>
                    <a:pt x="10890" y="2819"/>
                  </a:lnTo>
                  <a:lnTo>
                    <a:pt x="10728" y="2576"/>
                  </a:lnTo>
                  <a:lnTo>
                    <a:pt x="10566" y="2353"/>
                  </a:lnTo>
                  <a:lnTo>
                    <a:pt x="10403" y="2130"/>
                  </a:lnTo>
                  <a:lnTo>
                    <a:pt x="10221" y="1927"/>
                  </a:lnTo>
                  <a:lnTo>
                    <a:pt x="10018" y="1724"/>
                  </a:lnTo>
                  <a:lnTo>
                    <a:pt x="9815" y="1521"/>
                  </a:lnTo>
                  <a:lnTo>
                    <a:pt x="9612" y="1339"/>
                  </a:lnTo>
                  <a:lnTo>
                    <a:pt x="9389" y="1156"/>
                  </a:lnTo>
                  <a:lnTo>
                    <a:pt x="9146" y="994"/>
                  </a:lnTo>
                  <a:lnTo>
                    <a:pt x="8923" y="852"/>
                  </a:lnTo>
                  <a:lnTo>
                    <a:pt x="8659" y="710"/>
                  </a:lnTo>
                  <a:lnTo>
                    <a:pt x="8416" y="568"/>
                  </a:lnTo>
                  <a:lnTo>
                    <a:pt x="8152" y="447"/>
                  </a:lnTo>
                  <a:lnTo>
                    <a:pt x="7889" y="345"/>
                  </a:lnTo>
                  <a:lnTo>
                    <a:pt x="7605" y="264"/>
                  </a:lnTo>
                  <a:lnTo>
                    <a:pt x="7341" y="183"/>
                  </a:lnTo>
                  <a:lnTo>
                    <a:pt x="7057" y="122"/>
                  </a:lnTo>
                  <a:lnTo>
                    <a:pt x="6753" y="61"/>
                  </a:lnTo>
                  <a:lnTo>
                    <a:pt x="6469" y="21"/>
                  </a:lnTo>
                  <a:lnTo>
                    <a:pt x="6165"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5"/>
            <p:cNvSpPr/>
            <p:nvPr/>
          </p:nvSpPr>
          <p:spPr>
            <a:xfrm>
              <a:off x="6724206" y="3044910"/>
              <a:ext cx="1209377" cy="804897"/>
            </a:xfrm>
            <a:custGeom>
              <a:avLst/>
              <a:gdLst/>
              <a:ahLst/>
              <a:cxnLst/>
              <a:rect l="l" t="t" r="r" b="b"/>
              <a:pathLst>
                <a:path w="78582" h="52300" extrusionOk="0">
                  <a:moveTo>
                    <a:pt x="76189" y="0"/>
                  </a:moveTo>
                  <a:lnTo>
                    <a:pt x="75945" y="21"/>
                  </a:lnTo>
                  <a:lnTo>
                    <a:pt x="75702" y="41"/>
                  </a:lnTo>
                  <a:lnTo>
                    <a:pt x="75459" y="81"/>
                  </a:lnTo>
                  <a:lnTo>
                    <a:pt x="75215" y="162"/>
                  </a:lnTo>
                  <a:lnTo>
                    <a:pt x="74992" y="264"/>
                  </a:lnTo>
                  <a:lnTo>
                    <a:pt x="74749" y="406"/>
                  </a:lnTo>
                  <a:lnTo>
                    <a:pt x="1157" y="47737"/>
                  </a:lnTo>
                  <a:lnTo>
                    <a:pt x="954" y="47879"/>
                  </a:lnTo>
                  <a:lnTo>
                    <a:pt x="771" y="48041"/>
                  </a:lnTo>
                  <a:lnTo>
                    <a:pt x="589" y="48223"/>
                  </a:lnTo>
                  <a:lnTo>
                    <a:pt x="447" y="48406"/>
                  </a:lnTo>
                  <a:lnTo>
                    <a:pt x="325" y="48609"/>
                  </a:lnTo>
                  <a:lnTo>
                    <a:pt x="224" y="48832"/>
                  </a:lnTo>
                  <a:lnTo>
                    <a:pt x="143" y="49035"/>
                  </a:lnTo>
                  <a:lnTo>
                    <a:pt x="82" y="49258"/>
                  </a:lnTo>
                  <a:lnTo>
                    <a:pt x="41" y="49501"/>
                  </a:lnTo>
                  <a:lnTo>
                    <a:pt x="1" y="49724"/>
                  </a:lnTo>
                  <a:lnTo>
                    <a:pt x="21" y="49967"/>
                  </a:lnTo>
                  <a:lnTo>
                    <a:pt x="41" y="50190"/>
                  </a:lnTo>
                  <a:lnTo>
                    <a:pt x="82" y="50434"/>
                  </a:lnTo>
                  <a:lnTo>
                    <a:pt x="143" y="50657"/>
                  </a:lnTo>
                  <a:lnTo>
                    <a:pt x="244" y="50880"/>
                  </a:lnTo>
                  <a:lnTo>
                    <a:pt x="366" y="51103"/>
                  </a:lnTo>
                  <a:lnTo>
                    <a:pt x="508" y="51326"/>
                  </a:lnTo>
                  <a:lnTo>
                    <a:pt x="670" y="51509"/>
                  </a:lnTo>
                  <a:lnTo>
                    <a:pt x="852" y="51691"/>
                  </a:lnTo>
                  <a:lnTo>
                    <a:pt x="1035" y="51853"/>
                  </a:lnTo>
                  <a:lnTo>
                    <a:pt x="1258" y="51975"/>
                  </a:lnTo>
                  <a:lnTo>
                    <a:pt x="1461" y="52097"/>
                  </a:lnTo>
                  <a:lnTo>
                    <a:pt x="1684" y="52178"/>
                  </a:lnTo>
                  <a:lnTo>
                    <a:pt x="1927" y="52239"/>
                  </a:lnTo>
                  <a:lnTo>
                    <a:pt x="2171" y="52279"/>
                  </a:lnTo>
                  <a:lnTo>
                    <a:pt x="2414" y="52299"/>
                  </a:lnTo>
                  <a:lnTo>
                    <a:pt x="2657" y="52299"/>
                  </a:lnTo>
                  <a:lnTo>
                    <a:pt x="2901" y="52279"/>
                  </a:lnTo>
                  <a:lnTo>
                    <a:pt x="3144" y="52218"/>
                  </a:lnTo>
                  <a:lnTo>
                    <a:pt x="3367" y="52137"/>
                  </a:lnTo>
                  <a:lnTo>
                    <a:pt x="3610" y="52036"/>
                  </a:lnTo>
                  <a:lnTo>
                    <a:pt x="3833" y="51914"/>
                  </a:lnTo>
                  <a:lnTo>
                    <a:pt x="77446" y="4563"/>
                  </a:lnTo>
                  <a:lnTo>
                    <a:pt x="77649" y="4421"/>
                  </a:lnTo>
                  <a:lnTo>
                    <a:pt x="77831" y="4259"/>
                  </a:lnTo>
                  <a:lnTo>
                    <a:pt x="77993" y="4097"/>
                  </a:lnTo>
                  <a:lnTo>
                    <a:pt x="78135" y="3894"/>
                  </a:lnTo>
                  <a:lnTo>
                    <a:pt x="78257" y="3711"/>
                  </a:lnTo>
                  <a:lnTo>
                    <a:pt x="78358" y="3488"/>
                  </a:lnTo>
                  <a:lnTo>
                    <a:pt x="78460" y="3265"/>
                  </a:lnTo>
                  <a:lnTo>
                    <a:pt x="78521" y="3042"/>
                  </a:lnTo>
                  <a:lnTo>
                    <a:pt x="78561" y="2819"/>
                  </a:lnTo>
                  <a:lnTo>
                    <a:pt x="78581" y="2596"/>
                  </a:lnTo>
                  <a:lnTo>
                    <a:pt x="78581" y="2353"/>
                  </a:lnTo>
                  <a:lnTo>
                    <a:pt x="78561" y="2109"/>
                  </a:lnTo>
                  <a:lnTo>
                    <a:pt x="78500" y="1886"/>
                  </a:lnTo>
                  <a:lnTo>
                    <a:pt x="78440" y="1663"/>
                  </a:lnTo>
                  <a:lnTo>
                    <a:pt x="78338" y="1420"/>
                  </a:lnTo>
                  <a:lnTo>
                    <a:pt x="78216" y="1217"/>
                  </a:lnTo>
                  <a:lnTo>
                    <a:pt x="78074" y="994"/>
                  </a:lnTo>
                  <a:lnTo>
                    <a:pt x="77912" y="791"/>
                  </a:lnTo>
                  <a:lnTo>
                    <a:pt x="77730" y="629"/>
                  </a:lnTo>
                  <a:lnTo>
                    <a:pt x="77547" y="467"/>
                  </a:lnTo>
                  <a:lnTo>
                    <a:pt x="77344" y="345"/>
                  </a:lnTo>
                  <a:lnTo>
                    <a:pt x="77121" y="223"/>
                  </a:lnTo>
                  <a:lnTo>
                    <a:pt x="76898" y="142"/>
                  </a:lnTo>
                  <a:lnTo>
                    <a:pt x="76655" y="61"/>
                  </a:lnTo>
                  <a:lnTo>
                    <a:pt x="76432" y="21"/>
                  </a:lnTo>
                  <a:lnTo>
                    <a:pt x="76189" y="0"/>
                  </a:lnTo>
                  <a:close/>
                </a:path>
              </a:pathLst>
            </a:custGeom>
            <a:solidFill>
              <a:srgbClr val="BBB39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5"/>
            <p:cNvSpPr/>
            <p:nvPr/>
          </p:nvSpPr>
          <p:spPr>
            <a:xfrm>
              <a:off x="6724206" y="3044910"/>
              <a:ext cx="1209377" cy="804897"/>
            </a:xfrm>
            <a:custGeom>
              <a:avLst/>
              <a:gdLst/>
              <a:ahLst/>
              <a:cxnLst/>
              <a:rect l="l" t="t" r="r" b="b"/>
              <a:pathLst>
                <a:path w="78582" h="52300" extrusionOk="0">
                  <a:moveTo>
                    <a:pt x="2414" y="0"/>
                  </a:moveTo>
                  <a:lnTo>
                    <a:pt x="2171" y="21"/>
                  </a:lnTo>
                  <a:lnTo>
                    <a:pt x="1927" y="61"/>
                  </a:lnTo>
                  <a:lnTo>
                    <a:pt x="1684" y="142"/>
                  </a:lnTo>
                  <a:lnTo>
                    <a:pt x="1461" y="223"/>
                  </a:lnTo>
                  <a:lnTo>
                    <a:pt x="1258" y="345"/>
                  </a:lnTo>
                  <a:lnTo>
                    <a:pt x="1035" y="467"/>
                  </a:lnTo>
                  <a:lnTo>
                    <a:pt x="852" y="629"/>
                  </a:lnTo>
                  <a:lnTo>
                    <a:pt x="670" y="791"/>
                  </a:lnTo>
                  <a:lnTo>
                    <a:pt x="508" y="994"/>
                  </a:lnTo>
                  <a:lnTo>
                    <a:pt x="366" y="1217"/>
                  </a:lnTo>
                  <a:lnTo>
                    <a:pt x="244" y="1420"/>
                  </a:lnTo>
                  <a:lnTo>
                    <a:pt x="143" y="1663"/>
                  </a:lnTo>
                  <a:lnTo>
                    <a:pt x="82" y="1886"/>
                  </a:lnTo>
                  <a:lnTo>
                    <a:pt x="41" y="2109"/>
                  </a:lnTo>
                  <a:lnTo>
                    <a:pt x="21" y="2353"/>
                  </a:lnTo>
                  <a:lnTo>
                    <a:pt x="1" y="2596"/>
                  </a:lnTo>
                  <a:lnTo>
                    <a:pt x="41" y="2819"/>
                  </a:lnTo>
                  <a:lnTo>
                    <a:pt x="82" y="3042"/>
                  </a:lnTo>
                  <a:lnTo>
                    <a:pt x="143" y="3265"/>
                  </a:lnTo>
                  <a:lnTo>
                    <a:pt x="224" y="3488"/>
                  </a:lnTo>
                  <a:lnTo>
                    <a:pt x="325" y="3711"/>
                  </a:lnTo>
                  <a:lnTo>
                    <a:pt x="447" y="3894"/>
                  </a:lnTo>
                  <a:lnTo>
                    <a:pt x="589" y="4097"/>
                  </a:lnTo>
                  <a:lnTo>
                    <a:pt x="771" y="4259"/>
                  </a:lnTo>
                  <a:lnTo>
                    <a:pt x="954" y="4421"/>
                  </a:lnTo>
                  <a:lnTo>
                    <a:pt x="1157" y="4563"/>
                  </a:lnTo>
                  <a:lnTo>
                    <a:pt x="74749" y="51914"/>
                  </a:lnTo>
                  <a:lnTo>
                    <a:pt x="74992" y="52036"/>
                  </a:lnTo>
                  <a:lnTo>
                    <a:pt x="75215" y="52137"/>
                  </a:lnTo>
                  <a:lnTo>
                    <a:pt x="75459" y="52218"/>
                  </a:lnTo>
                  <a:lnTo>
                    <a:pt x="75702" y="52279"/>
                  </a:lnTo>
                  <a:lnTo>
                    <a:pt x="75945" y="52299"/>
                  </a:lnTo>
                  <a:lnTo>
                    <a:pt x="76189" y="52299"/>
                  </a:lnTo>
                  <a:lnTo>
                    <a:pt x="76432" y="52279"/>
                  </a:lnTo>
                  <a:lnTo>
                    <a:pt x="76655" y="52239"/>
                  </a:lnTo>
                  <a:lnTo>
                    <a:pt x="76898" y="52178"/>
                  </a:lnTo>
                  <a:lnTo>
                    <a:pt x="77121" y="52097"/>
                  </a:lnTo>
                  <a:lnTo>
                    <a:pt x="77344" y="51975"/>
                  </a:lnTo>
                  <a:lnTo>
                    <a:pt x="77547" y="51853"/>
                  </a:lnTo>
                  <a:lnTo>
                    <a:pt x="77730" y="51691"/>
                  </a:lnTo>
                  <a:lnTo>
                    <a:pt x="77912" y="51509"/>
                  </a:lnTo>
                  <a:lnTo>
                    <a:pt x="78074" y="51326"/>
                  </a:lnTo>
                  <a:lnTo>
                    <a:pt x="78216" y="51103"/>
                  </a:lnTo>
                  <a:lnTo>
                    <a:pt x="78338" y="50880"/>
                  </a:lnTo>
                  <a:lnTo>
                    <a:pt x="78440" y="50657"/>
                  </a:lnTo>
                  <a:lnTo>
                    <a:pt x="78500" y="50434"/>
                  </a:lnTo>
                  <a:lnTo>
                    <a:pt x="78561" y="50190"/>
                  </a:lnTo>
                  <a:lnTo>
                    <a:pt x="78581" y="49967"/>
                  </a:lnTo>
                  <a:lnTo>
                    <a:pt x="78581" y="49724"/>
                  </a:lnTo>
                  <a:lnTo>
                    <a:pt x="78561" y="49501"/>
                  </a:lnTo>
                  <a:lnTo>
                    <a:pt x="78521" y="49258"/>
                  </a:lnTo>
                  <a:lnTo>
                    <a:pt x="78460" y="49035"/>
                  </a:lnTo>
                  <a:lnTo>
                    <a:pt x="78358" y="48832"/>
                  </a:lnTo>
                  <a:lnTo>
                    <a:pt x="78257" y="48609"/>
                  </a:lnTo>
                  <a:lnTo>
                    <a:pt x="78135" y="48406"/>
                  </a:lnTo>
                  <a:lnTo>
                    <a:pt x="77993" y="48223"/>
                  </a:lnTo>
                  <a:lnTo>
                    <a:pt x="77831" y="48041"/>
                  </a:lnTo>
                  <a:lnTo>
                    <a:pt x="77649" y="47879"/>
                  </a:lnTo>
                  <a:lnTo>
                    <a:pt x="77446" y="47737"/>
                  </a:lnTo>
                  <a:lnTo>
                    <a:pt x="3833" y="406"/>
                  </a:lnTo>
                  <a:lnTo>
                    <a:pt x="3610" y="264"/>
                  </a:lnTo>
                  <a:lnTo>
                    <a:pt x="3367" y="162"/>
                  </a:lnTo>
                  <a:lnTo>
                    <a:pt x="3144" y="81"/>
                  </a:lnTo>
                  <a:lnTo>
                    <a:pt x="2901" y="41"/>
                  </a:lnTo>
                  <a:lnTo>
                    <a:pt x="2657" y="21"/>
                  </a:lnTo>
                  <a:lnTo>
                    <a:pt x="2414" y="0"/>
                  </a:lnTo>
                  <a:close/>
                </a:path>
              </a:pathLst>
            </a:custGeom>
            <a:solidFill>
              <a:srgbClr val="A5A5A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5"/>
            <p:cNvSpPr/>
            <p:nvPr/>
          </p:nvSpPr>
          <p:spPr>
            <a:xfrm>
              <a:off x="6580648" y="3780198"/>
              <a:ext cx="1515222" cy="106437"/>
            </a:xfrm>
            <a:custGeom>
              <a:avLst/>
              <a:gdLst/>
              <a:ahLst/>
              <a:cxnLst/>
              <a:rect l="l" t="t" r="r" b="b"/>
              <a:pathLst>
                <a:path w="98455" h="6916" extrusionOk="0">
                  <a:moveTo>
                    <a:pt x="2556" y="0"/>
                  </a:moveTo>
                  <a:lnTo>
                    <a:pt x="2292" y="21"/>
                  </a:lnTo>
                  <a:lnTo>
                    <a:pt x="2049" y="41"/>
                  </a:lnTo>
                  <a:lnTo>
                    <a:pt x="1805" y="122"/>
                  </a:lnTo>
                  <a:lnTo>
                    <a:pt x="1562" y="203"/>
                  </a:lnTo>
                  <a:lnTo>
                    <a:pt x="1339" y="304"/>
                  </a:lnTo>
                  <a:lnTo>
                    <a:pt x="1136" y="426"/>
                  </a:lnTo>
                  <a:lnTo>
                    <a:pt x="933" y="588"/>
                  </a:lnTo>
                  <a:lnTo>
                    <a:pt x="751" y="751"/>
                  </a:lnTo>
                  <a:lnTo>
                    <a:pt x="589" y="933"/>
                  </a:lnTo>
                  <a:lnTo>
                    <a:pt x="447" y="1136"/>
                  </a:lnTo>
                  <a:lnTo>
                    <a:pt x="305" y="1339"/>
                  </a:lnTo>
                  <a:lnTo>
                    <a:pt x="203" y="1562"/>
                  </a:lnTo>
                  <a:lnTo>
                    <a:pt x="122" y="1805"/>
                  </a:lnTo>
                  <a:lnTo>
                    <a:pt x="61" y="2048"/>
                  </a:lnTo>
                  <a:lnTo>
                    <a:pt x="21" y="2292"/>
                  </a:lnTo>
                  <a:lnTo>
                    <a:pt x="0" y="2555"/>
                  </a:lnTo>
                  <a:lnTo>
                    <a:pt x="0" y="4360"/>
                  </a:lnTo>
                  <a:lnTo>
                    <a:pt x="21" y="4624"/>
                  </a:lnTo>
                  <a:lnTo>
                    <a:pt x="61" y="4867"/>
                  </a:lnTo>
                  <a:lnTo>
                    <a:pt x="122" y="5111"/>
                  </a:lnTo>
                  <a:lnTo>
                    <a:pt x="203" y="5354"/>
                  </a:lnTo>
                  <a:lnTo>
                    <a:pt x="305" y="5577"/>
                  </a:lnTo>
                  <a:lnTo>
                    <a:pt x="447" y="5780"/>
                  </a:lnTo>
                  <a:lnTo>
                    <a:pt x="589" y="5983"/>
                  </a:lnTo>
                  <a:lnTo>
                    <a:pt x="751" y="6165"/>
                  </a:lnTo>
                  <a:lnTo>
                    <a:pt x="933" y="6327"/>
                  </a:lnTo>
                  <a:lnTo>
                    <a:pt x="1136" y="6489"/>
                  </a:lnTo>
                  <a:lnTo>
                    <a:pt x="1339" y="6611"/>
                  </a:lnTo>
                  <a:lnTo>
                    <a:pt x="1562" y="6713"/>
                  </a:lnTo>
                  <a:lnTo>
                    <a:pt x="1805" y="6814"/>
                  </a:lnTo>
                  <a:lnTo>
                    <a:pt x="2049" y="6875"/>
                  </a:lnTo>
                  <a:lnTo>
                    <a:pt x="2292" y="6915"/>
                  </a:lnTo>
                  <a:lnTo>
                    <a:pt x="96143" y="6915"/>
                  </a:lnTo>
                  <a:lnTo>
                    <a:pt x="96406" y="6875"/>
                  </a:lnTo>
                  <a:lnTo>
                    <a:pt x="96650" y="6814"/>
                  </a:lnTo>
                  <a:lnTo>
                    <a:pt x="96893" y="6713"/>
                  </a:lnTo>
                  <a:lnTo>
                    <a:pt x="97116" y="6611"/>
                  </a:lnTo>
                  <a:lnTo>
                    <a:pt x="97319" y="6489"/>
                  </a:lnTo>
                  <a:lnTo>
                    <a:pt x="97522" y="6327"/>
                  </a:lnTo>
                  <a:lnTo>
                    <a:pt x="97704" y="6165"/>
                  </a:lnTo>
                  <a:lnTo>
                    <a:pt x="97866" y="5983"/>
                  </a:lnTo>
                  <a:lnTo>
                    <a:pt x="98008" y="5780"/>
                  </a:lnTo>
                  <a:lnTo>
                    <a:pt x="98130" y="5577"/>
                  </a:lnTo>
                  <a:lnTo>
                    <a:pt x="98252" y="5354"/>
                  </a:lnTo>
                  <a:lnTo>
                    <a:pt x="98333" y="5111"/>
                  </a:lnTo>
                  <a:lnTo>
                    <a:pt x="98394" y="4867"/>
                  </a:lnTo>
                  <a:lnTo>
                    <a:pt x="98434" y="4624"/>
                  </a:lnTo>
                  <a:lnTo>
                    <a:pt x="98454" y="4360"/>
                  </a:lnTo>
                  <a:lnTo>
                    <a:pt x="98454" y="2555"/>
                  </a:lnTo>
                  <a:lnTo>
                    <a:pt x="98434" y="2292"/>
                  </a:lnTo>
                  <a:lnTo>
                    <a:pt x="98394" y="2048"/>
                  </a:lnTo>
                  <a:lnTo>
                    <a:pt x="98333" y="1805"/>
                  </a:lnTo>
                  <a:lnTo>
                    <a:pt x="98252" y="1562"/>
                  </a:lnTo>
                  <a:lnTo>
                    <a:pt x="98130" y="1339"/>
                  </a:lnTo>
                  <a:lnTo>
                    <a:pt x="98008" y="1136"/>
                  </a:lnTo>
                  <a:lnTo>
                    <a:pt x="97866" y="933"/>
                  </a:lnTo>
                  <a:lnTo>
                    <a:pt x="97704" y="751"/>
                  </a:lnTo>
                  <a:lnTo>
                    <a:pt x="97522" y="588"/>
                  </a:lnTo>
                  <a:lnTo>
                    <a:pt x="97319" y="426"/>
                  </a:lnTo>
                  <a:lnTo>
                    <a:pt x="97116" y="304"/>
                  </a:lnTo>
                  <a:lnTo>
                    <a:pt x="96893" y="203"/>
                  </a:lnTo>
                  <a:lnTo>
                    <a:pt x="96650" y="122"/>
                  </a:lnTo>
                  <a:lnTo>
                    <a:pt x="96406" y="41"/>
                  </a:lnTo>
                  <a:lnTo>
                    <a:pt x="96143" y="21"/>
                  </a:lnTo>
                  <a:lnTo>
                    <a:pt x="95879" y="0"/>
                  </a:lnTo>
                  <a:close/>
                </a:path>
              </a:pathLst>
            </a:custGeom>
            <a:solidFill>
              <a:srgbClr val="44546A"/>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5"/>
            <p:cNvSpPr/>
            <p:nvPr/>
          </p:nvSpPr>
          <p:spPr>
            <a:xfrm>
              <a:off x="7866468" y="3834186"/>
              <a:ext cx="187266" cy="186958"/>
            </a:xfrm>
            <a:custGeom>
              <a:avLst/>
              <a:gdLst/>
              <a:ahLst/>
              <a:cxnLst/>
              <a:rect l="l" t="t" r="r" b="b"/>
              <a:pathLst>
                <a:path w="12168" h="12148" extrusionOk="0">
                  <a:moveTo>
                    <a:pt x="5780" y="0"/>
                  </a:moveTo>
                  <a:lnTo>
                    <a:pt x="5476" y="21"/>
                  </a:lnTo>
                  <a:lnTo>
                    <a:pt x="5172" y="61"/>
                  </a:lnTo>
                  <a:lnTo>
                    <a:pt x="4867" y="122"/>
                  </a:lnTo>
                  <a:lnTo>
                    <a:pt x="4563" y="183"/>
                  </a:lnTo>
                  <a:lnTo>
                    <a:pt x="4279" y="264"/>
                  </a:lnTo>
                  <a:lnTo>
                    <a:pt x="3995" y="366"/>
                  </a:lnTo>
                  <a:lnTo>
                    <a:pt x="3712" y="467"/>
                  </a:lnTo>
                  <a:lnTo>
                    <a:pt x="3448" y="589"/>
                  </a:lnTo>
                  <a:lnTo>
                    <a:pt x="3184" y="731"/>
                  </a:lnTo>
                  <a:lnTo>
                    <a:pt x="2941" y="872"/>
                  </a:lnTo>
                  <a:lnTo>
                    <a:pt x="2677" y="1035"/>
                  </a:lnTo>
                  <a:lnTo>
                    <a:pt x="2454" y="1197"/>
                  </a:lnTo>
                  <a:lnTo>
                    <a:pt x="2211" y="1379"/>
                  </a:lnTo>
                  <a:lnTo>
                    <a:pt x="2008" y="1562"/>
                  </a:lnTo>
                  <a:lnTo>
                    <a:pt x="1785" y="1765"/>
                  </a:lnTo>
                  <a:lnTo>
                    <a:pt x="1582" y="1988"/>
                  </a:lnTo>
                  <a:lnTo>
                    <a:pt x="1400" y="2211"/>
                  </a:lnTo>
                  <a:lnTo>
                    <a:pt x="1217" y="2434"/>
                  </a:lnTo>
                  <a:lnTo>
                    <a:pt x="1035" y="2677"/>
                  </a:lnTo>
                  <a:lnTo>
                    <a:pt x="893" y="2921"/>
                  </a:lnTo>
                  <a:lnTo>
                    <a:pt x="731" y="3184"/>
                  </a:lnTo>
                  <a:lnTo>
                    <a:pt x="609" y="3428"/>
                  </a:lnTo>
                  <a:lnTo>
                    <a:pt x="487" y="3712"/>
                  </a:lnTo>
                  <a:lnTo>
                    <a:pt x="366" y="3975"/>
                  </a:lnTo>
                  <a:lnTo>
                    <a:pt x="284" y="4259"/>
                  </a:lnTo>
                  <a:lnTo>
                    <a:pt x="203" y="4563"/>
                  </a:lnTo>
                  <a:lnTo>
                    <a:pt x="122" y="4847"/>
                  </a:lnTo>
                  <a:lnTo>
                    <a:pt x="82" y="5151"/>
                  </a:lnTo>
                  <a:lnTo>
                    <a:pt x="41" y="5456"/>
                  </a:lnTo>
                  <a:lnTo>
                    <a:pt x="21" y="5760"/>
                  </a:lnTo>
                  <a:lnTo>
                    <a:pt x="0" y="6064"/>
                  </a:lnTo>
                  <a:lnTo>
                    <a:pt x="21" y="6388"/>
                  </a:lnTo>
                  <a:lnTo>
                    <a:pt x="41" y="6693"/>
                  </a:lnTo>
                  <a:lnTo>
                    <a:pt x="82" y="6997"/>
                  </a:lnTo>
                  <a:lnTo>
                    <a:pt x="122" y="7301"/>
                  </a:lnTo>
                  <a:lnTo>
                    <a:pt x="203" y="7585"/>
                  </a:lnTo>
                  <a:lnTo>
                    <a:pt x="284" y="7889"/>
                  </a:lnTo>
                  <a:lnTo>
                    <a:pt x="366" y="8173"/>
                  </a:lnTo>
                  <a:lnTo>
                    <a:pt x="487" y="8437"/>
                  </a:lnTo>
                  <a:lnTo>
                    <a:pt x="609" y="8720"/>
                  </a:lnTo>
                  <a:lnTo>
                    <a:pt x="731" y="8964"/>
                  </a:lnTo>
                  <a:lnTo>
                    <a:pt x="893" y="9227"/>
                  </a:lnTo>
                  <a:lnTo>
                    <a:pt x="1035" y="9471"/>
                  </a:lnTo>
                  <a:lnTo>
                    <a:pt x="1217" y="9714"/>
                  </a:lnTo>
                  <a:lnTo>
                    <a:pt x="1400" y="9937"/>
                  </a:lnTo>
                  <a:lnTo>
                    <a:pt x="1582" y="10160"/>
                  </a:lnTo>
                  <a:lnTo>
                    <a:pt x="1785" y="10383"/>
                  </a:lnTo>
                  <a:lnTo>
                    <a:pt x="2008" y="10586"/>
                  </a:lnTo>
                  <a:lnTo>
                    <a:pt x="2211" y="10769"/>
                  </a:lnTo>
                  <a:lnTo>
                    <a:pt x="2454" y="10951"/>
                  </a:lnTo>
                  <a:lnTo>
                    <a:pt x="2677" y="11113"/>
                  </a:lnTo>
                  <a:lnTo>
                    <a:pt x="2941" y="11276"/>
                  </a:lnTo>
                  <a:lnTo>
                    <a:pt x="3184" y="11417"/>
                  </a:lnTo>
                  <a:lnTo>
                    <a:pt x="3448" y="11559"/>
                  </a:lnTo>
                  <a:lnTo>
                    <a:pt x="3712" y="11681"/>
                  </a:lnTo>
                  <a:lnTo>
                    <a:pt x="3995" y="11783"/>
                  </a:lnTo>
                  <a:lnTo>
                    <a:pt x="4279" y="11884"/>
                  </a:lnTo>
                  <a:lnTo>
                    <a:pt x="4563" y="11965"/>
                  </a:lnTo>
                  <a:lnTo>
                    <a:pt x="4867" y="12026"/>
                  </a:lnTo>
                  <a:lnTo>
                    <a:pt x="5172" y="12087"/>
                  </a:lnTo>
                  <a:lnTo>
                    <a:pt x="5476" y="12127"/>
                  </a:lnTo>
                  <a:lnTo>
                    <a:pt x="5780" y="12148"/>
                  </a:lnTo>
                  <a:lnTo>
                    <a:pt x="6409" y="12148"/>
                  </a:lnTo>
                  <a:lnTo>
                    <a:pt x="6713" y="12127"/>
                  </a:lnTo>
                  <a:lnTo>
                    <a:pt x="7017" y="12087"/>
                  </a:lnTo>
                  <a:lnTo>
                    <a:pt x="7321" y="12026"/>
                  </a:lnTo>
                  <a:lnTo>
                    <a:pt x="7605" y="11965"/>
                  </a:lnTo>
                  <a:lnTo>
                    <a:pt x="7889" y="11884"/>
                  </a:lnTo>
                  <a:lnTo>
                    <a:pt x="8173" y="11783"/>
                  </a:lnTo>
                  <a:lnTo>
                    <a:pt x="8457" y="11681"/>
                  </a:lnTo>
                  <a:lnTo>
                    <a:pt x="8720" y="11559"/>
                  </a:lnTo>
                  <a:lnTo>
                    <a:pt x="8984" y="11417"/>
                  </a:lnTo>
                  <a:lnTo>
                    <a:pt x="9248" y="11276"/>
                  </a:lnTo>
                  <a:lnTo>
                    <a:pt x="9491" y="11113"/>
                  </a:lnTo>
                  <a:lnTo>
                    <a:pt x="9734" y="10951"/>
                  </a:lnTo>
                  <a:lnTo>
                    <a:pt x="9957" y="10769"/>
                  </a:lnTo>
                  <a:lnTo>
                    <a:pt x="10181" y="10586"/>
                  </a:lnTo>
                  <a:lnTo>
                    <a:pt x="10383" y="10383"/>
                  </a:lnTo>
                  <a:lnTo>
                    <a:pt x="10586" y="10160"/>
                  </a:lnTo>
                  <a:lnTo>
                    <a:pt x="10789" y="9937"/>
                  </a:lnTo>
                  <a:lnTo>
                    <a:pt x="10971" y="9714"/>
                  </a:lnTo>
                  <a:lnTo>
                    <a:pt x="11134" y="9471"/>
                  </a:lnTo>
                  <a:lnTo>
                    <a:pt x="11296" y="9227"/>
                  </a:lnTo>
                  <a:lnTo>
                    <a:pt x="11438" y="8964"/>
                  </a:lnTo>
                  <a:lnTo>
                    <a:pt x="11580" y="8720"/>
                  </a:lnTo>
                  <a:lnTo>
                    <a:pt x="11701" y="8437"/>
                  </a:lnTo>
                  <a:lnTo>
                    <a:pt x="11803" y="8173"/>
                  </a:lnTo>
                  <a:lnTo>
                    <a:pt x="11904" y="7889"/>
                  </a:lnTo>
                  <a:lnTo>
                    <a:pt x="11985" y="7585"/>
                  </a:lnTo>
                  <a:lnTo>
                    <a:pt x="12046" y="7301"/>
                  </a:lnTo>
                  <a:lnTo>
                    <a:pt x="12107" y="6997"/>
                  </a:lnTo>
                  <a:lnTo>
                    <a:pt x="12148" y="6693"/>
                  </a:lnTo>
                  <a:lnTo>
                    <a:pt x="12168" y="6388"/>
                  </a:lnTo>
                  <a:lnTo>
                    <a:pt x="12168" y="6064"/>
                  </a:lnTo>
                  <a:lnTo>
                    <a:pt x="12168" y="5760"/>
                  </a:lnTo>
                  <a:lnTo>
                    <a:pt x="12148" y="5456"/>
                  </a:lnTo>
                  <a:lnTo>
                    <a:pt x="12107" y="5151"/>
                  </a:lnTo>
                  <a:lnTo>
                    <a:pt x="12046" y="4847"/>
                  </a:lnTo>
                  <a:lnTo>
                    <a:pt x="11985" y="4563"/>
                  </a:lnTo>
                  <a:lnTo>
                    <a:pt x="11904" y="4259"/>
                  </a:lnTo>
                  <a:lnTo>
                    <a:pt x="11803" y="3975"/>
                  </a:lnTo>
                  <a:lnTo>
                    <a:pt x="11701" y="3712"/>
                  </a:lnTo>
                  <a:lnTo>
                    <a:pt x="11580" y="3428"/>
                  </a:lnTo>
                  <a:lnTo>
                    <a:pt x="11438" y="3184"/>
                  </a:lnTo>
                  <a:lnTo>
                    <a:pt x="11296" y="2921"/>
                  </a:lnTo>
                  <a:lnTo>
                    <a:pt x="11134" y="2677"/>
                  </a:lnTo>
                  <a:lnTo>
                    <a:pt x="10971" y="2434"/>
                  </a:lnTo>
                  <a:lnTo>
                    <a:pt x="10789" y="2211"/>
                  </a:lnTo>
                  <a:lnTo>
                    <a:pt x="10586" y="1988"/>
                  </a:lnTo>
                  <a:lnTo>
                    <a:pt x="10383" y="1765"/>
                  </a:lnTo>
                  <a:lnTo>
                    <a:pt x="10181" y="1562"/>
                  </a:lnTo>
                  <a:lnTo>
                    <a:pt x="9957" y="1379"/>
                  </a:lnTo>
                  <a:lnTo>
                    <a:pt x="9734" y="1197"/>
                  </a:lnTo>
                  <a:lnTo>
                    <a:pt x="9491" y="1035"/>
                  </a:lnTo>
                  <a:lnTo>
                    <a:pt x="9248" y="872"/>
                  </a:lnTo>
                  <a:lnTo>
                    <a:pt x="8984" y="731"/>
                  </a:lnTo>
                  <a:lnTo>
                    <a:pt x="8720" y="589"/>
                  </a:lnTo>
                  <a:lnTo>
                    <a:pt x="8457" y="467"/>
                  </a:lnTo>
                  <a:lnTo>
                    <a:pt x="8173" y="366"/>
                  </a:lnTo>
                  <a:lnTo>
                    <a:pt x="7889" y="264"/>
                  </a:lnTo>
                  <a:lnTo>
                    <a:pt x="7605" y="183"/>
                  </a:lnTo>
                  <a:lnTo>
                    <a:pt x="7321" y="122"/>
                  </a:lnTo>
                  <a:lnTo>
                    <a:pt x="7017" y="61"/>
                  </a:lnTo>
                  <a:lnTo>
                    <a:pt x="6713" y="21"/>
                  </a:lnTo>
                  <a:lnTo>
                    <a:pt x="6409" y="0"/>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5"/>
            <p:cNvSpPr/>
            <p:nvPr/>
          </p:nvSpPr>
          <p:spPr>
            <a:xfrm>
              <a:off x="7903296" y="3870707"/>
              <a:ext cx="113609" cy="113917"/>
            </a:xfrm>
            <a:custGeom>
              <a:avLst/>
              <a:gdLst/>
              <a:ahLst/>
              <a:cxnLst/>
              <a:rect l="l" t="t" r="r" b="b"/>
              <a:pathLst>
                <a:path w="7382" h="7402" extrusionOk="0">
                  <a:moveTo>
                    <a:pt x="3691" y="0"/>
                  </a:moveTo>
                  <a:lnTo>
                    <a:pt x="3326" y="20"/>
                  </a:lnTo>
                  <a:lnTo>
                    <a:pt x="2941" y="81"/>
                  </a:lnTo>
                  <a:lnTo>
                    <a:pt x="2596" y="162"/>
                  </a:lnTo>
                  <a:lnTo>
                    <a:pt x="2251" y="304"/>
                  </a:lnTo>
                  <a:lnTo>
                    <a:pt x="1927" y="446"/>
                  </a:lnTo>
                  <a:lnTo>
                    <a:pt x="1623" y="629"/>
                  </a:lnTo>
                  <a:lnTo>
                    <a:pt x="1339" y="852"/>
                  </a:lnTo>
                  <a:lnTo>
                    <a:pt x="1075" y="1095"/>
                  </a:lnTo>
                  <a:lnTo>
                    <a:pt x="852" y="1359"/>
                  </a:lnTo>
                  <a:lnTo>
                    <a:pt x="629" y="1643"/>
                  </a:lnTo>
                  <a:lnTo>
                    <a:pt x="447" y="1947"/>
                  </a:lnTo>
                  <a:lnTo>
                    <a:pt x="284" y="2271"/>
                  </a:lnTo>
                  <a:lnTo>
                    <a:pt x="163" y="2596"/>
                  </a:lnTo>
                  <a:lnTo>
                    <a:pt x="82" y="2961"/>
                  </a:lnTo>
                  <a:lnTo>
                    <a:pt x="21" y="3326"/>
                  </a:lnTo>
                  <a:lnTo>
                    <a:pt x="0" y="3691"/>
                  </a:lnTo>
                  <a:lnTo>
                    <a:pt x="21" y="4076"/>
                  </a:lnTo>
                  <a:lnTo>
                    <a:pt x="82" y="4441"/>
                  </a:lnTo>
                  <a:lnTo>
                    <a:pt x="163" y="4806"/>
                  </a:lnTo>
                  <a:lnTo>
                    <a:pt x="284" y="5131"/>
                  </a:lnTo>
                  <a:lnTo>
                    <a:pt x="447" y="5455"/>
                  </a:lnTo>
                  <a:lnTo>
                    <a:pt x="629" y="5759"/>
                  </a:lnTo>
                  <a:lnTo>
                    <a:pt x="852" y="6043"/>
                  </a:lnTo>
                  <a:lnTo>
                    <a:pt x="1075" y="6307"/>
                  </a:lnTo>
                  <a:lnTo>
                    <a:pt x="1339" y="6550"/>
                  </a:lnTo>
                  <a:lnTo>
                    <a:pt x="1623" y="6773"/>
                  </a:lnTo>
                  <a:lnTo>
                    <a:pt x="1927" y="6956"/>
                  </a:lnTo>
                  <a:lnTo>
                    <a:pt x="2251" y="7098"/>
                  </a:lnTo>
                  <a:lnTo>
                    <a:pt x="2596" y="7240"/>
                  </a:lnTo>
                  <a:lnTo>
                    <a:pt x="2941" y="7321"/>
                  </a:lnTo>
                  <a:lnTo>
                    <a:pt x="3326" y="7382"/>
                  </a:lnTo>
                  <a:lnTo>
                    <a:pt x="3691" y="7402"/>
                  </a:lnTo>
                  <a:lnTo>
                    <a:pt x="4076" y="7382"/>
                  </a:lnTo>
                  <a:lnTo>
                    <a:pt x="4441" y="7321"/>
                  </a:lnTo>
                  <a:lnTo>
                    <a:pt x="4786" y="7240"/>
                  </a:lnTo>
                  <a:lnTo>
                    <a:pt x="5131" y="7098"/>
                  </a:lnTo>
                  <a:lnTo>
                    <a:pt x="5455" y="6956"/>
                  </a:lnTo>
                  <a:lnTo>
                    <a:pt x="5760" y="6773"/>
                  </a:lnTo>
                  <a:lnTo>
                    <a:pt x="6044" y="6550"/>
                  </a:lnTo>
                  <a:lnTo>
                    <a:pt x="6307" y="6307"/>
                  </a:lnTo>
                  <a:lnTo>
                    <a:pt x="6550" y="6043"/>
                  </a:lnTo>
                  <a:lnTo>
                    <a:pt x="6753" y="5759"/>
                  </a:lnTo>
                  <a:lnTo>
                    <a:pt x="6936" y="5455"/>
                  </a:lnTo>
                  <a:lnTo>
                    <a:pt x="7098" y="5131"/>
                  </a:lnTo>
                  <a:lnTo>
                    <a:pt x="7220" y="4806"/>
                  </a:lnTo>
                  <a:lnTo>
                    <a:pt x="7321" y="4441"/>
                  </a:lnTo>
                  <a:lnTo>
                    <a:pt x="7382" y="4076"/>
                  </a:lnTo>
                  <a:lnTo>
                    <a:pt x="7382" y="3691"/>
                  </a:lnTo>
                  <a:lnTo>
                    <a:pt x="7382" y="3326"/>
                  </a:lnTo>
                  <a:lnTo>
                    <a:pt x="7321" y="2961"/>
                  </a:lnTo>
                  <a:lnTo>
                    <a:pt x="7220" y="2596"/>
                  </a:lnTo>
                  <a:lnTo>
                    <a:pt x="7098" y="2271"/>
                  </a:lnTo>
                  <a:lnTo>
                    <a:pt x="6936" y="1947"/>
                  </a:lnTo>
                  <a:lnTo>
                    <a:pt x="6753" y="1643"/>
                  </a:lnTo>
                  <a:lnTo>
                    <a:pt x="6550" y="1359"/>
                  </a:lnTo>
                  <a:lnTo>
                    <a:pt x="6307" y="1095"/>
                  </a:lnTo>
                  <a:lnTo>
                    <a:pt x="6044" y="852"/>
                  </a:lnTo>
                  <a:lnTo>
                    <a:pt x="5760" y="629"/>
                  </a:lnTo>
                  <a:lnTo>
                    <a:pt x="5455" y="446"/>
                  </a:lnTo>
                  <a:lnTo>
                    <a:pt x="5131" y="304"/>
                  </a:lnTo>
                  <a:lnTo>
                    <a:pt x="4786" y="162"/>
                  </a:lnTo>
                  <a:lnTo>
                    <a:pt x="4441" y="81"/>
                  </a:lnTo>
                  <a:lnTo>
                    <a:pt x="4076" y="20"/>
                  </a:lnTo>
                  <a:lnTo>
                    <a:pt x="3691" y="0"/>
                  </a:lnTo>
                  <a:close/>
                </a:path>
              </a:pathLst>
            </a:custGeom>
            <a:solidFill>
              <a:srgbClr val="70AD4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5"/>
            <p:cNvSpPr/>
            <p:nvPr/>
          </p:nvSpPr>
          <p:spPr>
            <a:xfrm>
              <a:off x="6630589" y="3834186"/>
              <a:ext cx="187266" cy="186958"/>
            </a:xfrm>
            <a:custGeom>
              <a:avLst/>
              <a:gdLst/>
              <a:ahLst/>
              <a:cxnLst/>
              <a:rect l="l" t="t" r="r" b="b"/>
              <a:pathLst>
                <a:path w="12168" h="12148" extrusionOk="0">
                  <a:moveTo>
                    <a:pt x="5780" y="0"/>
                  </a:moveTo>
                  <a:lnTo>
                    <a:pt x="5475" y="21"/>
                  </a:lnTo>
                  <a:lnTo>
                    <a:pt x="5171" y="61"/>
                  </a:lnTo>
                  <a:lnTo>
                    <a:pt x="4867" y="122"/>
                  </a:lnTo>
                  <a:lnTo>
                    <a:pt x="4563" y="183"/>
                  </a:lnTo>
                  <a:lnTo>
                    <a:pt x="4279" y="264"/>
                  </a:lnTo>
                  <a:lnTo>
                    <a:pt x="3995" y="366"/>
                  </a:lnTo>
                  <a:lnTo>
                    <a:pt x="3731" y="467"/>
                  </a:lnTo>
                  <a:lnTo>
                    <a:pt x="3447" y="589"/>
                  </a:lnTo>
                  <a:lnTo>
                    <a:pt x="3184" y="731"/>
                  </a:lnTo>
                  <a:lnTo>
                    <a:pt x="2940" y="872"/>
                  </a:lnTo>
                  <a:lnTo>
                    <a:pt x="2697" y="1035"/>
                  </a:lnTo>
                  <a:lnTo>
                    <a:pt x="2454" y="1197"/>
                  </a:lnTo>
                  <a:lnTo>
                    <a:pt x="2231" y="1379"/>
                  </a:lnTo>
                  <a:lnTo>
                    <a:pt x="2008" y="1562"/>
                  </a:lnTo>
                  <a:lnTo>
                    <a:pt x="1785" y="1765"/>
                  </a:lnTo>
                  <a:lnTo>
                    <a:pt x="1582" y="1988"/>
                  </a:lnTo>
                  <a:lnTo>
                    <a:pt x="1399" y="2211"/>
                  </a:lnTo>
                  <a:lnTo>
                    <a:pt x="1217" y="2434"/>
                  </a:lnTo>
                  <a:lnTo>
                    <a:pt x="1055" y="2677"/>
                  </a:lnTo>
                  <a:lnTo>
                    <a:pt x="892" y="2921"/>
                  </a:lnTo>
                  <a:lnTo>
                    <a:pt x="750" y="3184"/>
                  </a:lnTo>
                  <a:lnTo>
                    <a:pt x="608" y="3428"/>
                  </a:lnTo>
                  <a:lnTo>
                    <a:pt x="487" y="3712"/>
                  </a:lnTo>
                  <a:lnTo>
                    <a:pt x="385" y="3975"/>
                  </a:lnTo>
                  <a:lnTo>
                    <a:pt x="284" y="4259"/>
                  </a:lnTo>
                  <a:lnTo>
                    <a:pt x="203" y="4563"/>
                  </a:lnTo>
                  <a:lnTo>
                    <a:pt x="142" y="4847"/>
                  </a:lnTo>
                  <a:lnTo>
                    <a:pt x="81" y="5151"/>
                  </a:lnTo>
                  <a:lnTo>
                    <a:pt x="41" y="5456"/>
                  </a:lnTo>
                  <a:lnTo>
                    <a:pt x="20" y="5760"/>
                  </a:lnTo>
                  <a:lnTo>
                    <a:pt x="0" y="6064"/>
                  </a:lnTo>
                  <a:lnTo>
                    <a:pt x="20" y="6388"/>
                  </a:lnTo>
                  <a:lnTo>
                    <a:pt x="41" y="6693"/>
                  </a:lnTo>
                  <a:lnTo>
                    <a:pt x="81" y="6997"/>
                  </a:lnTo>
                  <a:lnTo>
                    <a:pt x="142" y="7301"/>
                  </a:lnTo>
                  <a:lnTo>
                    <a:pt x="203" y="7585"/>
                  </a:lnTo>
                  <a:lnTo>
                    <a:pt x="284" y="7889"/>
                  </a:lnTo>
                  <a:lnTo>
                    <a:pt x="385" y="8173"/>
                  </a:lnTo>
                  <a:lnTo>
                    <a:pt x="487" y="8437"/>
                  </a:lnTo>
                  <a:lnTo>
                    <a:pt x="608" y="8720"/>
                  </a:lnTo>
                  <a:lnTo>
                    <a:pt x="750" y="8964"/>
                  </a:lnTo>
                  <a:lnTo>
                    <a:pt x="892" y="9227"/>
                  </a:lnTo>
                  <a:lnTo>
                    <a:pt x="1055" y="9471"/>
                  </a:lnTo>
                  <a:lnTo>
                    <a:pt x="1217" y="9714"/>
                  </a:lnTo>
                  <a:lnTo>
                    <a:pt x="1399" y="9937"/>
                  </a:lnTo>
                  <a:lnTo>
                    <a:pt x="1582" y="10160"/>
                  </a:lnTo>
                  <a:lnTo>
                    <a:pt x="1785" y="10383"/>
                  </a:lnTo>
                  <a:lnTo>
                    <a:pt x="2008" y="10586"/>
                  </a:lnTo>
                  <a:lnTo>
                    <a:pt x="2231" y="10769"/>
                  </a:lnTo>
                  <a:lnTo>
                    <a:pt x="2454" y="10951"/>
                  </a:lnTo>
                  <a:lnTo>
                    <a:pt x="2697" y="11113"/>
                  </a:lnTo>
                  <a:lnTo>
                    <a:pt x="2940" y="11276"/>
                  </a:lnTo>
                  <a:lnTo>
                    <a:pt x="3184" y="11417"/>
                  </a:lnTo>
                  <a:lnTo>
                    <a:pt x="3447" y="11559"/>
                  </a:lnTo>
                  <a:lnTo>
                    <a:pt x="3731" y="11681"/>
                  </a:lnTo>
                  <a:lnTo>
                    <a:pt x="3995" y="11783"/>
                  </a:lnTo>
                  <a:lnTo>
                    <a:pt x="4279" y="11884"/>
                  </a:lnTo>
                  <a:lnTo>
                    <a:pt x="4563" y="11965"/>
                  </a:lnTo>
                  <a:lnTo>
                    <a:pt x="4867" y="12026"/>
                  </a:lnTo>
                  <a:lnTo>
                    <a:pt x="5171" y="12087"/>
                  </a:lnTo>
                  <a:lnTo>
                    <a:pt x="5475" y="12127"/>
                  </a:lnTo>
                  <a:lnTo>
                    <a:pt x="5780" y="12148"/>
                  </a:lnTo>
                  <a:lnTo>
                    <a:pt x="6408" y="12148"/>
                  </a:lnTo>
                  <a:lnTo>
                    <a:pt x="6712" y="12127"/>
                  </a:lnTo>
                  <a:lnTo>
                    <a:pt x="7017" y="12087"/>
                  </a:lnTo>
                  <a:lnTo>
                    <a:pt x="7321" y="12026"/>
                  </a:lnTo>
                  <a:lnTo>
                    <a:pt x="7605" y="11965"/>
                  </a:lnTo>
                  <a:lnTo>
                    <a:pt x="7909" y="11884"/>
                  </a:lnTo>
                  <a:lnTo>
                    <a:pt x="8193" y="11783"/>
                  </a:lnTo>
                  <a:lnTo>
                    <a:pt x="8456" y="11681"/>
                  </a:lnTo>
                  <a:lnTo>
                    <a:pt x="8720" y="11559"/>
                  </a:lnTo>
                  <a:lnTo>
                    <a:pt x="8984" y="11417"/>
                  </a:lnTo>
                  <a:lnTo>
                    <a:pt x="9247" y="11276"/>
                  </a:lnTo>
                  <a:lnTo>
                    <a:pt x="9491" y="11113"/>
                  </a:lnTo>
                  <a:lnTo>
                    <a:pt x="9734" y="10951"/>
                  </a:lnTo>
                  <a:lnTo>
                    <a:pt x="9957" y="10769"/>
                  </a:lnTo>
                  <a:lnTo>
                    <a:pt x="10180" y="10586"/>
                  </a:lnTo>
                  <a:lnTo>
                    <a:pt x="10383" y="10383"/>
                  </a:lnTo>
                  <a:lnTo>
                    <a:pt x="10586" y="10160"/>
                  </a:lnTo>
                  <a:lnTo>
                    <a:pt x="10788" y="9937"/>
                  </a:lnTo>
                  <a:lnTo>
                    <a:pt x="10971" y="9714"/>
                  </a:lnTo>
                  <a:lnTo>
                    <a:pt x="11133" y="9471"/>
                  </a:lnTo>
                  <a:lnTo>
                    <a:pt x="11295" y="9227"/>
                  </a:lnTo>
                  <a:lnTo>
                    <a:pt x="11437" y="8964"/>
                  </a:lnTo>
                  <a:lnTo>
                    <a:pt x="11579" y="8720"/>
                  </a:lnTo>
                  <a:lnTo>
                    <a:pt x="11701" y="8437"/>
                  </a:lnTo>
                  <a:lnTo>
                    <a:pt x="11802" y="8173"/>
                  </a:lnTo>
                  <a:lnTo>
                    <a:pt x="11904" y="7889"/>
                  </a:lnTo>
                  <a:lnTo>
                    <a:pt x="11985" y="7585"/>
                  </a:lnTo>
                  <a:lnTo>
                    <a:pt x="12046" y="7301"/>
                  </a:lnTo>
                  <a:lnTo>
                    <a:pt x="12107" y="6997"/>
                  </a:lnTo>
                  <a:lnTo>
                    <a:pt x="12147" y="6693"/>
                  </a:lnTo>
                  <a:lnTo>
                    <a:pt x="12167" y="6388"/>
                  </a:lnTo>
                  <a:lnTo>
                    <a:pt x="12167" y="6064"/>
                  </a:lnTo>
                  <a:lnTo>
                    <a:pt x="12167" y="5760"/>
                  </a:lnTo>
                  <a:lnTo>
                    <a:pt x="12147" y="5456"/>
                  </a:lnTo>
                  <a:lnTo>
                    <a:pt x="12107" y="5151"/>
                  </a:lnTo>
                  <a:lnTo>
                    <a:pt x="12046" y="4847"/>
                  </a:lnTo>
                  <a:lnTo>
                    <a:pt x="11985" y="4563"/>
                  </a:lnTo>
                  <a:lnTo>
                    <a:pt x="11904" y="4259"/>
                  </a:lnTo>
                  <a:lnTo>
                    <a:pt x="11802" y="3975"/>
                  </a:lnTo>
                  <a:lnTo>
                    <a:pt x="11701" y="3712"/>
                  </a:lnTo>
                  <a:lnTo>
                    <a:pt x="11579" y="3428"/>
                  </a:lnTo>
                  <a:lnTo>
                    <a:pt x="11437" y="3184"/>
                  </a:lnTo>
                  <a:lnTo>
                    <a:pt x="11295" y="2921"/>
                  </a:lnTo>
                  <a:lnTo>
                    <a:pt x="11133" y="2677"/>
                  </a:lnTo>
                  <a:lnTo>
                    <a:pt x="10971" y="2434"/>
                  </a:lnTo>
                  <a:lnTo>
                    <a:pt x="10788" y="2211"/>
                  </a:lnTo>
                  <a:lnTo>
                    <a:pt x="10586" y="1988"/>
                  </a:lnTo>
                  <a:lnTo>
                    <a:pt x="10383" y="1765"/>
                  </a:lnTo>
                  <a:lnTo>
                    <a:pt x="10180" y="1562"/>
                  </a:lnTo>
                  <a:lnTo>
                    <a:pt x="9957" y="1379"/>
                  </a:lnTo>
                  <a:lnTo>
                    <a:pt x="9734" y="1197"/>
                  </a:lnTo>
                  <a:lnTo>
                    <a:pt x="9491" y="1035"/>
                  </a:lnTo>
                  <a:lnTo>
                    <a:pt x="9247" y="872"/>
                  </a:lnTo>
                  <a:lnTo>
                    <a:pt x="8984" y="731"/>
                  </a:lnTo>
                  <a:lnTo>
                    <a:pt x="8720" y="589"/>
                  </a:lnTo>
                  <a:lnTo>
                    <a:pt x="8456" y="467"/>
                  </a:lnTo>
                  <a:lnTo>
                    <a:pt x="8193" y="366"/>
                  </a:lnTo>
                  <a:lnTo>
                    <a:pt x="7909" y="264"/>
                  </a:lnTo>
                  <a:lnTo>
                    <a:pt x="7605" y="183"/>
                  </a:lnTo>
                  <a:lnTo>
                    <a:pt x="7321" y="122"/>
                  </a:lnTo>
                  <a:lnTo>
                    <a:pt x="7017" y="61"/>
                  </a:lnTo>
                  <a:lnTo>
                    <a:pt x="6712" y="21"/>
                  </a:lnTo>
                  <a:lnTo>
                    <a:pt x="6408" y="0"/>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5"/>
            <p:cNvSpPr/>
            <p:nvPr/>
          </p:nvSpPr>
          <p:spPr>
            <a:xfrm>
              <a:off x="6667402" y="3870707"/>
              <a:ext cx="113932" cy="113917"/>
            </a:xfrm>
            <a:custGeom>
              <a:avLst/>
              <a:gdLst/>
              <a:ahLst/>
              <a:cxnLst/>
              <a:rect l="l" t="t" r="r" b="b"/>
              <a:pathLst>
                <a:path w="7403" h="7402" extrusionOk="0">
                  <a:moveTo>
                    <a:pt x="3692" y="0"/>
                  </a:moveTo>
                  <a:lnTo>
                    <a:pt x="3327" y="20"/>
                  </a:lnTo>
                  <a:lnTo>
                    <a:pt x="2962" y="81"/>
                  </a:lnTo>
                  <a:lnTo>
                    <a:pt x="2597" y="162"/>
                  </a:lnTo>
                  <a:lnTo>
                    <a:pt x="2252" y="304"/>
                  </a:lnTo>
                  <a:lnTo>
                    <a:pt x="1927" y="446"/>
                  </a:lnTo>
                  <a:lnTo>
                    <a:pt x="1623" y="629"/>
                  </a:lnTo>
                  <a:lnTo>
                    <a:pt x="1339" y="852"/>
                  </a:lnTo>
                  <a:lnTo>
                    <a:pt x="1076" y="1095"/>
                  </a:lnTo>
                  <a:lnTo>
                    <a:pt x="853" y="1359"/>
                  </a:lnTo>
                  <a:lnTo>
                    <a:pt x="630" y="1643"/>
                  </a:lnTo>
                  <a:lnTo>
                    <a:pt x="447" y="1947"/>
                  </a:lnTo>
                  <a:lnTo>
                    <a:pt x="285" y="2271"/>
                  </a:lnTo>
                  <a:lnTo>
                    <a:pt x="163" y="2596"/>
                  </a:lnTo>
                  <a:lnTo>
                    <a:pt x="82" y="2961"/>
                  </a:lnTo>
                  <a:lnTo>
                    <a:pt x="21" y="3326"/>
                  </a:lnTo>
                  <a:lnTo>
                    <a:pt x="1" y="3691"/>
                  </a:lnTo>
                  <a:lnTo>
                    <a:pt x="21" y="4076"/>
                  </a:lnTo>
                  <a:lnTo>
                    <a:pt x="82" y="4441"/>
                  </a:lnTo>
                  <a:lnTo>
                    <a:pt x="163" y="4806"/>
                  </a:lnTo>
                  <a:lnTo>
                    <a:pt x="285" y="5131"/>
                  </a:lnTo>
                  <a:lnTo>
                    <a:pt x="447" y="5455"/>
                  </a:lnTo>
                  <a:lnTo>
                    <a:pt x="630" y="5759"/>
                  </a:lnTo>
                  <a:lnTo>
                    <a:pt x="853" y="6043"/>
                  </a:lnTo>
                  <a:lnTo>
                    <a:pt x="1076" y="6307"/>
                  </a:lnTo>
                  <a:lnTo>
                    <a:pt x="1339" y="6550"/>
                  </a:lnTo>
                  <a:lnTo>
                    <a:pt x="1623" y="6773"/>
                  </a:lnTo>
                  <a:lnTo>
                    <a:pt x="1927" y="6956"/>
                  </a:lnTo>
                  <a:lnTo>
                    <a:pt x="2252" y="7098"/>
                  </a:lnTo>
                  <a:lnTo>
                    <a:pt x="2597" y="7240"/>
                  </a:lnTo>
                  <a:lnTo>
                    <a:pt x="2962" y="7321"/>
                  </a:lnTo>
                  <a:lnTo>
                    <a:pt x="3327" y="7382"/>
                  </a:lnTo>
                  <a:lnTo>
                    <a:pt x="3692" y="7402"/>
                  </a:lnTo>
                  <a:lnTo>
                    <a:pt x="4077" y="7382"/>
                  </a:lnTo>
                  <a:lnTo>
                    <a:pt x="4442" y="7321"/>
                  </a:lnTo>
                  <a:lnTo>
                    <a:pt x="4807" y="7240"/>
                  </a:lnTo>
                  <a:lnTo>
                    <a:pt x="5132" y="7098"/>
                  </a:lnTo>
                  <a:lnTo>
                    <a:pt x="5456" y="6956"/>
                  </a:lnTo>
                  <a:lnTo>
                    <a:pt x="5760" y="6773"/>
                  </a:lnTo>
                  <a:lnTo>
                    <a:pt x="6044" y="6550"/>
                  </a:lnTo>
                  <a:lnTo>
                    <a:pt x="6308" y="6307"/>
                  </a:lnTo>
                  <a:lnTo>
                    <a:pt x="6551" y="6043"/>
                  </a:lnTo>
                  <a:lnTo>
                    <a:pt x="6774" y="5759"/>
                  </a:lnTo>
                  <a:lnTo>
                    <a:pt x="6957" y="5455"/>
                  </a:lnTo>
                  <a:lnTo>
                    <a:pt x="7099" y="5131"/>
                  </a:lnTo>
                  <a:lnTo>
                    <a:pt x="7220" y="4806"/>
                  </a:lnTo>
                  <a:lnTo>
                    <a:pt x="7322" y="4441"/>
                  </a:lnTo>
                  <a:lnTo>
                    <a:pt x="7382" y="4076"/>
                  </a:lnTo>
                  <a:lnTo>
                    <a:pt x="7403" y="3691"/>
                  </a:lnTo>
                  <a:lnTo>
                    <a:pt x="7382" y="3326"/>
                  </a:lnTo>
                  <a:lnTo>
                    <a:pt x="7322" y="2961"/>
                  </a:lnTo>
                  <a:lnTo>
                    <a:pt x="7220" y="2596"/>
                  </a:lnTo>
                  <a:lnTo>
                    <a:pt x="7099" y="2271"/>
                  </a:lnTo>
                  <a:lnTo>
                    <a:pt x="6957" y="1947"/>
                  </a:lnTo>
                  <a:lnTo>
                    <a:pt x="6774" y="1643"/>
                  </a:lnTo>
                  <a:lnTo>
                    <a:pt x="6551" y="1359"/>
                  </a:lnTo>
                  <a:lnTo>
                    <a:pt x="6308" y="1095"/>
                  </a:lnTo>
                  <a:lnTo>
                    <a:pt x="6044" y="852"/>
                  </a:lnTo>
                  <a:lnTo>
                    <a:pt x="5760" y="629"/>
                  </a:lnTo>
                  <a:lnTo>
                    <a:pt x="5456" y="446"/>
                  </a:lnTo>
                  <a:lnTo>
                    <a:pt x="5132" y="304"/>
                  </a:lnTo>
                  <a:lnTo>
                    <a:pt x="4807" y="162"/>
                  </a:lnTo>
                  <a:lnTo>
                    <a:pt x="4442" y="81"/>
                  </a:lnTo>
                  <a:lnTo>
                    <a:pt x="4077" y="20"/>
                  </a:lnTo>
                  <a:lnTo>
                    <a:pt x="3692" y="0"/>
                  </a:lnTo>
                  <a:close/>
                </a:path>
              </a:pathLst>
            </a:custGeom>
            <a:solidFill>
              <a:srgbClr val="70AD4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5"/>
            <p:cNvSpPr/>
            <p:nvPr/>
          </p:nvSpPr>
          <p:spPr>
            <a:xfrm>
              <a:off x="8286538" y="2724382"/>
              <a:ext cx="42784" cy="20930"/>
            </a:xfrm>
            <a:custGeom>
              <a:avLst/>
              <a:gdLst/>
              <a:ahLst/>
              <a:cxnLst/>
              <a:rect l="l" t="t" r="r" b="b"/>
              <a:pathLst>
                <a:path w="2780" h="1360" extrusionOk="0">
                  <a:moveTo>
                    <a:pt x="2698" y="1"/>
                  </a:moveTo>
                  <a:lnTo>
                    <a:pt x="1" y="285"/>
                  </a:lnTo>
                  <a:lnTo>
                    <a:pt x="82" y="467"/>
                  </a:lnTo>
                  <a:lnTo>
                    <a:pt x="204" y="629"/>
                  </a:lnTo>
                  <a:lnTo>
                    <a:pt x="346" y="832"/>
                  </a:lnTo>
                  <a:lnTo>
                    <a:pt x="569" y="1015"/>
                  </a:lnTo>
                  <a:lnTo>
                    <a:pt x="690" y="1116"/>
                  </a:lnTo>
                  <a:lnTo>
                    <a:pt x="832" y="1197"/>
                  </a:lnTo>
                  <a:lnTo>
                    <a:pt x="974" y="1258"/>
                  </a:lnTo>
                  <a:lnTo>
                    <a:pt x="1137" y="1319"/>
                  </a:lnTo>
                  <a:lnTo>
                    <a:pt x="1319" y="1360"/>
                  </a:lnTo>
                  <a:lnTo>
                    <a:pt x="1522" y="1360"/>
                  </a:lnTo>
                  <a:lnTo>
                    <a:pt x="1826" y="1339"/>
                  </a:lnTo>
                  <a:lnTo>
                    <a:pt x="2069" y="1299"/>
                  </a:lnTo>
                  <a:lnTo>
                    <a:pt x="2272" y="1238"/>
                  </a:lnTo>
                  <a:lnTo>
                    <a:pt x="2434" y="1157"/>
                  </a:lnTo>
                  <a:lnTo>
                    <a:pt x="2576" y="1055"/>
                  </a:lnTo>
                  <a:lnTo>
                    <a:pt x="2657" y="934"/>
                  </a:lnTo>
                  <a:lnTo>
                    <a:pt x="2718" y="812"/>
                  </a:lnTo>
                  <a:lnTo>
                    <a:pt x="2759" y="690"/>
                  </a:lnTo>
                  <a:lnTo>
                    <a:pt x="2779" y="569"/>
                  </a:lnTo>
                  <a:lnTo>
                    <a:pt x="2779" y="447"/>
                  </a:lnTo>
                  <a:lnTo>
                    <a:pt x="2759" y="224"/>
                  </a:lnTo>
                  <a:lnTo>
                    <a:pt x="2718" y="62"/>
                  </a:lnTo>
                  <a:lnTo>
                    <a:pt x="2698" y="1"/>
                  </a:lnTo>
                  <a:close/>
                </a:path>
              </a:pathLst>
            </a:custGeom>
            <a:solidFill>
              <a:srgbClr val="FC967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5"/>
            <p:cNvSpPr/>
            <p:nvPr/>
          </p:nvSpPr>
          <p:spPr>
            <a:xfrm>
              <a:off x="8088684" y="2467231"/>
              <a:ext cx="175092" cy="175723"/>
            </a:xfrm>
            <a:custGeom>
              <a:avLst/>
              <a:gdLst/>
              <a:ahLst/>
              <a:cxnLst/>
              <a:rect l="l" t="t" r="r" b="b"/>
              <a:pathLst>
                <a:path w="11377" h="11418" extrusionOk="0">
                  <a:moveTo>
                    <a:pt x="7584" y="0"/>
                  </a:moveTo>
                  <a:lnTo>
                    <a:pt x="7118" y="20"/>
                  </a:lnTo>
                  <a:lnTo>
                    <a:pt x="6652" y="41"/>
                  </a:lnTo>
                  <a:lnTo>
                    <a:pt x="6185" y="101"/>
                  </a:lnTo>
                  <a:lnTo>
                    <a:pt x="5698" y="183"/>
                  </a:lnTo>
                  <a:lnTo>
                    <a:pt x="5232" y="264"/>
                  </a:lnTo>
                  <a:lnTo>
                    <a:pt x="4766" y="385"/>
                  </a:lnTo>
                  <a:lnTo>
                    <a:pt x="4299" y="527"/>
                  </a:lnTo>
                  <a:lnTo>
                    <a:pt x="3833" y="690"/>
                  </a:lnTo>
                  <a:lnTo>
                    <a:pt x="3387" y="852"/>
                  </a:lnTo>
                  <a:lnTo>
                    <a:pt x="2961" y="1055"/>
                  </a:lnTo>
                  <a:lnTo>
                    <a:pt x="2555" y="1278"/>
                  </a:lnTo>
                  <a:lnTo>
                    <a:pt x="2170" y="1501"/>
                  </a:lnTo>
                  <a:lnTo>
                    <a:pt x="1785" y="1764"/>
                  </a:lnTo>
                  <a:lnTo>
                    <a:pt x="1440" y="2048"/>
                  </a:lnTo>
                  <a:lnTo>
                    <a:pt x="1136" y="2332"/>
                  </a:lnTo>
                  <a:lnTo>
                    <a:pt x="852" y="2657"/>
                  </a:lnTo>
                  <a:lnTo>
                    <a:pt x="608" y="2981"/>
                  </a:lnTo>
                  <a:lnTo>
                    <a:pt x="406" y="3346"/>
                  </a:lnTo>
                  <a:lnTo>
                    <a:pt x="223" y="3711"/>
                  </a:lnTo>
                  <a:lnTo>
                    <a:pt x="101" y="4096"/>
                  </a:lnTo>
                  <a:lnTo>
                    <a:pt x="61" y="4299"/>
                  </a:lnTo>
                  <a:lnTo>
                    <a:pt x="20" y="4502"/>
                  </a:lnTo>
                  <a:lnTo>
                    <a:pt x="0" y="4725"/>
                  </a:lnTo>
                  <a:lnTo>
                    <a:pt x="0" y="4928"/>
                  </a:lnTo>
                  <a:lnTo>
                    <a:pt x="0" y="5354"/>
                  </a:lnTo>
                  <a:lnTo>
                    <a:pt x="41" y="5780"/>
                  </a:lnTo>
                  <a:lnTo>
                    <a:pt x="101" y="6185"/>
                  </a:lnTo>
                  <a:lnTo>
                    <a:pt x="162" y="6591"/>
                  </a:lnTo>
                  <a:lnTo>
                    <a:pt x="284" y="6976"/>
                  </a:lnTo>
                  <a:lnTo>
                    <a:pt x="406" y="7361"/>
                  </a:lnTo>
                  <a:lnTo>
                    <a:pt x="548" y="7726"/>
                  </a:lnTo>
                  <a:lnTo>
                    <a:pt x="710" y="8071"/>
                  </a:lnTo>
                  <a:lnTo>
                    <a:pt x="892" y="8416"/>
                  </a:lnTo>
                  <a:lnTo>
                    <a:pt x="1095" y="8740"/>
                  </a:lnTo>
                  <a:lnTo>
                    <a:pt x="1298" y="9044"/>
                  </a:lnTo>
                  <a:lnTo>
                    <a:pt x="1521" y="9349"/>
                  </a:lnTo>
                  <a:lnTo>
                    <a:pt x="1764" y="9612"/>
                  </a:lnTo>
                  <a:lnTo>
                    <a:pt x="2028" y="9876"/>
                  </a:lnTo>
                  <a:lnTo>
                    <a:pt x="2292" y="10119"/>
                  </a:lnTo>
                  <a:lnTo>
                    <a:pt x="2575" y="10342"/>
                  </a:lnTo>
                  <a:lnTo>
                    <a:pt x="2859" y="10545"/>
                  </a:lnTo>
                  <a:lnTo>
                    <a:pt x="3143" y="10728"/>
                  </a:lnTo>
                  <a:lnTo>
                    <a:pt x="3447" y="10890"/>
                  </a:lnTo>
                  <a:lnTo>
                    <a:pt x="3752" y="11032"/>
                  </a:lnTo>
                  <a:lnTo>
                    <a:pt x="4076" y="11153"/>
                  </a:lnTo>
                  <a:lnTo>
                    <a:pt x="4401" y="11255"/>
                  </a:lnTo>
                  <a:lnTo>
                    <a:pt x="4705" y="11336"/>
                  </a:lnTo>
                  <a:lnTo>
                    <a:pt x="5029" y="11397"/>
                  </a:lnTo>
                  <a:lnTo>
                    <a:pt x="5354" y="11417"/>
                  </a:lnTo>
                  <a:lnTo>
                    <a:pt x="5678" y="11417"/>
                  </a:lnTo>
                  <a:lnTo>
                    <a:pt x="6003" y="11397"/>
                  </a:lnTo>
                  <a:lnTo>
                    <a:pt x="6327" y="11336"/>
                  </a:lnTo>
                  <a:lnTo>
                    <a:pt x="6652" y="11255"/>
                  </a:lnTo>
                  <a:lnTo>
                    <a:pt x="6956" y="11153"/>
                  </a:lnTo>
                  <a:lnTo>
                    <a:pt x="7260" y="11011"/>
                  </a:lnTo>
                  <a:lnTo>
                    <a:pt x="7564" y="10849"/>
                  </a:lnTo>
                  <a:lnTo>
                    <a:pt x="7848" y="10667"/>
                  </a:lnTo>
                  <a:lnTo>
                    <a:pt x="8132" y="10444"/>
                  </a:lnTo>
                  <a:lnTo>
                    <a:pt x="8396" y="10200"/>
                  </a:lnTo>
                  <a:lnTo>
                    <a:pt x="8659" y="9916"/>
                  </a:lnTo>
                  <a:lnTo>
                    <a:pt x="8903" y="9632"/>
                  </a:lnTo>
                  <a:lnTo>
                    <a:pt x="9146" y="9328"/>
                  </a:lnTo>
                  <a:lnTo>
                    <a:pt x="9369" y="9004"/>
                  </a:lnTo>
                  <a:lnTo>
                    <a:pt x="9572" y="8659"/>
                  </a:lnTo>
                  <a:lnTo>
                    <a:pt x="9775" y="8314"/>
                  </a:lnTo>
                  <a:lnTo>
                    <a:pt x="9957" y="7949"/>
                  </a:lnTo>
                  <a:lnTo>
                    <a:pt x="10140" y="7584"/>
                  </a:lnTo>
                  <a:lnTo>
                    <a:pt x="10302" y="7199"/>
                  </a:lnTo>
                  <a:lnTo>
                    <a:pt x="10464" y="6814"/>
                  </a:lnTo>
                  <a:lnTo>
                    <a:pt x="10606" y="6428"/>
                  </a:lnTo>
                  <a:lnTo>
                    <a:pt x="10849" y="5658"/>
                  </a:lnTo>
                  <a:lnTo>
                    <a:pt x="11052" y="4887"/>
                  </a:lnTo>
                  <a:lnTo>
                    <a:pt x="11214" y="4137"/>
                  </a:lnTo>
                  <a:lnTo>
                    <a:pt x="11316" y="3447"/>
                  </a:lnTo>
                  <a:lnTo>
                    <a:pt x="11377" y="2819"/>
                  </a:lnTo>
                  <a:lnTo>
                    <a:pt x="11377" y="2251"/>
                  </a:lnTo>
                  <a:lnTo>
                    <a:pt x="11356" y="1987"/>
                  </a:lnTo>
                  <a:lnTo>
                    <a:pt x="11336" y="1764"/>
                  </a:lnTo>
                  <a:lnTo>
                    <a:pt x="11295" y="1582"/>
                  </a:lnTo>
                  <a:lnTo>
                    <a:pt x="11255" y="1399"/>
                  </a:lnTo>
                  <a:lnTo>
                    <a:pt x="11194" y="1257"/>
                  </a:lnTo>
                  <a:lnTo>
                    <a:pt x="11113" y="1156"/>
                  </a:lnTo>
                  <a:lnTo>
                    <a:pt x="10890" y="933"/>
                  </a:lnTo>
                  <a:lnTo>
                    <a:pt x="10626" y="750"/>
                  </a:lnTo>
                  <a:lnTo>
                    <a:pt x="10342" y="568"/>
                  </a:lnTo>
                  <a:lnTo>
                    <a:pt x="10018" y="426"/>
                  </a:lnTo>
                  <a:lnTo>
                    <a:pt x="9673" y="304"/>
                  </a:lnTo>
                  <a:lnTo>
                    <a:pt x="9288" y="203"/>
                  </a:lnTo>
                  <a:lnTo>
                    <a:pt x="8882" y="122"/>
                  </a:lnTo>
                  <a:lnTo>
                    <a:pt x="8477" y="61"/>
                  </a:lnTo>
                  <a:lnTo>
                    <a:pt x="8031" y="20"/>
                  </a:lnTo>
                  <a:lnTo>
                    <a:pt x="7584" y="0"/>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5"/>
            <p:cNvSpPr/>
            <p:nvPr/>
          </p:nvSpPr>
          <p:spPr>
            <a:xfrm>
              <a:off x="8244415" y="2534639"/>
              <a:ext cx="84907" cy="172291"/>
            </a:xfrm>
            <a:custGeom>
              <a:avLst/>
              <a:gdLst/>
              <a:ahLst/>
              <a:cxnLst/>
              <a:rect l="l" t="t" r="r" b="b"/>
              <a:pathLst>
                <a:path w="5517" h="11195" extrusionOk="0">
                  <a:moveTo>
                    <a:pt x="386" y="0"/>
                  </a:moveTo>
                  <a:lnTo>
                    <a:pt x="0" y="629"/>
                  </a:lnTo>
                  <a:lnTo>
                    <a:pt x="4847" y="10991"/>
                  </a:lnTo>
                  <a:lnTo>
                    <a:pt x="5516" y="11194"/>
                  </a:lnTo>
                  <a:lnTo>
                    <a:pt x="5516" y="11194"/>
                  </a:lnTo>
                  <a:lnTo>
                    <a:pt x="386" y="0"/>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5"/>
            <p:cNvSpPr/>
            <p:nvPr/>
          </p:nvSpPr>
          <p:spPr>
            <a:xfrm>
              <a:off x="8172005" y="2635136"/>
              <a:ext cx="87708" cy="99881"/>
            </a:xfrm>
            <a:custGeom>
              <a:avLst/>
              <a:gdLst/>
              <a:ahLst/>
              <a:cxnLst/>
              <a:rect l="l" t="t" r="r" b="b"/>
              <a:pathLst>
                <a:path w="5699" h="6490" extrusionOk="0">
                  <a:moveTo>
                    <a:pt x="609" y="0"/>
                  </a:moveTo>
                  <a:lnTo>
                    <a:pt x="1" y="304"/>
                  </a:lnTo>
                  <a:lnTo>
                    <a:pt x="4989" y="6489"/>
                  </a:lnTo>
                  <a:lnTo>
                    <a:pt x="5699" y="6246"/>
                  </a:lnTo>
                  <a:lnTo>
                    <a:pt x="609" y="0"/>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5"/>
            <p:cNvSpPr/>
            <p:nvPr/>
          </p:nvSpPr>
          <p:spPr>
            <a:xfrm>
              <a:off x="8096487" y="2456612"/>
              <a:ext cx="108930" cy="82721"/>
            </a:xfrm>
            <a:custGeom>
              <a:avLst/>
              <a:gdLst/>
              <a:ahLst/>
              <a:cxnLst/>
              <a:rect l="l" t="t" r="r" b="b"/>
              <a:pathLst>
                <a:path w="7078" h="5375" extrusionOk="0">
                  <a:moveTo>
                    <a:pt x="3569" y="1"/>
                  </a:moveTo>
                  <a:lnTo>
                    <a:pt x="3123" y="21"/>
                  </a:lnTo>
                  <a:lnTo>
                    <a:pt x="2697" y="102"/>
                  </a:lnTo>
                  <a:lnTo>
                    <a:pt x="2271" y="203"/>
                  </a:lnTo>
                  <a:lnTo>
                    <a:pt x="2068" y="284"/>
                  </a:lnTo>
                  <a:lnTo>
                    <a:pt x="1866" y="366"/>
                  </a:lnTo>
                  <a:lnTo>
                    <a:pt x="1663" y="467"/>
                  </a:lnTo>
                  <a:lnTo>
                    <a:pt x="1480" y="568"/>
                  </a:lnTo>
                  <a:lnTo>
                    <a:pt x="1197" y="791"/>
                  </a:lnTo>
                  <a:lnTo>
                    <a:pt x="913" y="1055"/>
                  </a:lnTo>
                  <a:lnTo>
                    <a:pt x="669" y="1339"/>
                  </a:lnTo>
                  <a:lnTo>
                    <a:pt x="446" y="1663"/>
                  </a:lnTo>
                  <a:lnTo>
                    <a:pt x="284" y="2008"/>
                  </a:lnTo>
                  <a:lnTo>
                    <a:pt x="142" y="2373"/>
                  </a:lnTo>
                  <a:lnTo>
                    <a:pt x="41" y="2738"/>
                  </a:lnTo>
                  <a:lnTo>
                    <a:pt x="20" y="2921"/>
                  </a:lnTo>
                  <a:lnTo>
                    <a:pt x="0" y="3103"/>
                  </a:lnTo>
                  <a:lnTo>
                    <a:pt x="0" y="3286"/>
                  </a:lnTo>
                  <a:lnTo>
                    <a:pt x="0" y="3448"/>
                  </a:lnTo>
                  <a:lnTo>
                    <a:pt x="20" y="3630"/>
                  </a:lnTo>
                  <a:lnTo>
                    <a:pt x="61" y="3813"/>
                  </a:lnTo>
                  <a:lnTo>
                    <a:pt x="122" y="3975"/>
                  </a:lnTo>
                  <a:lnTo>
                    <a:pt x="183" y="4137"/>
                  </a:lnTo>
                  <a:lnTo>
                    <a:pt x="264" y="4300"/>
                  </a:lnTo>
                  <a:lnTo>
                    <a:pt x="365" y="4442"/>
                  </a:lnTo>
                  <a:lnTo>
                    <a:pt x="487" y="4584"/>
                  </a:lnTo>
                  <a:lnTo>
                    <a:pt x="608" y="4726"/>
                  </a:lnTo>
                  <a:lnTo>
                    <a:pt x="771" y="4847"/>
                  </a:lnTo>
                  <a:lnTo>
                    <a:pt x="933" y="4969"/>
                  </a:lnTo>
                  <a:lnTo>
                    <a:pt x="1115" y="5070"/>
                  </a:lnTo>
                  <a:lnTo>
                    <a:pt x="1338" y="5172"/>
                  </a:lnTo>
                  <a:lnTo>
                    <a:pt x="1562" y="5253"/>
                  </a:lnTo>
                  <a:lnTo>
                    <a:pt x="1805" y="5334"/>
                  </a:lnTo>
                  <a:lnTo>
                    <a:pt x="2008" y="5354"/>
                  </a:lnTo>
                  <a:lnTo>
                    <a:pt x="2210" y="5374"/>
                  </a:lnTo>
                  <a:lnTo>
                    <a:pt x="2616" y="5374"/>
                  </a:lnTo>
                  <a:lnTo>
                    <a:pt x="2839" y="5334"/>
                  </a:lnTo>
                  <a:lnTo>
                    <a:pt x="3042" y="5293"/>
                  </a:lnTo>
                  <a:lnTo>
                    <a:pt x="3245" y="5233"/>
                  </a:lnTo>
                  <a:lnTo>
                    <a:pt x="3447" y="5151"/>
                  </a:lnTo>
                  <a:lnTo>
                    <a:pt x="3671" y="5050"/>
                  </a:lnTo>
                  <a:lnTo>
                    <a:pt x="3873" y="4949"/>
                  </a:lnTo>
                  <a:lnTo>
                    <a:pt x="4279" y="4705"/>
                  </a:lnTo>
                  <a:lnTo>
                    <a:pt x="4684" y="4421"/>
                  </a:lnTo>
                  <a:lnTo>
                    <a:pt x="5070" y="4097"/>
                  </a:lnTo>
                  <a:lnTo>
                    <a:pt x="5435" y="3752"/>
                  </a:lnTo>
                  <a:lnTo>
                    <a:pt x="5759" y="3367"/>
                  </a:lnTo>
                  <a:lnTo>
                    <a:pt x="6084" y="2961"/>
                  </a:lnTo>
                  <a:lnTo>
                    <a:pt x="6368" y="2556"/>
                  </a:lnTo>
                  <a:lnTo>
                    <a:pt x="6611" y="2130"/>
                  </a:lnTo>
                  <a:lnTo>
                    <a:pt x="6814" y="1704"/>
                  </a:lnTo>
                  <a:lnTo>
                    <a:pt x="6976" y="1278"/>
                  </a:lnTo>
                  <a:lnTo>
                    <a:pt x="7077" y="852"/>
                  </a:lnTo>
                  <a:lnTo>
                    <a:pt x="6956" y="771"/>
                  </a:lnTo>
                  <a:lnTo>
                    <a:pt x="6793" y="670"/>
                  </a:lnTo>
                  <a:lnTo>
                    <a:pt x="6570" y="568"/>
                  </a:lnTo>
                  <a:lnTo>
                    <a:pt x="6307" y="447"/>
                  </a:lnTo>
                  <a:lnTo>
                    <a:pt x="5982" y="345"/>
                  </a:lnTo>
                  <a:lnTo>
                    <a:pt x="5638" y="244"/>
                  </a:lnTo>
                  <a:lnTo>
                    <a:pt x="5252" y="163"/>
                  </a:lnTo>
                  <a:lnTo>
                    <a:pt x="4847" y="82"/>
                  </a:lnTo>
                  <a:lnTo>
                    <a:pt x="4441" y="21"/>
                  </a:lnTo>
                  <a:lnTo>
                    <a:pt x="3995" y="1"/>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5"/>
            <p:cNvSpPr/>
            <p:nvPr/>
          </p:nvSpPr>
          <p:spPr>
            <a:xfrm>
              <a:off x="7103093" y="2671949"/>
              <a:ext cx="594546" cy="238776"/>
            </a:xfrm>
            <a:custGeom>
              <a:avLst/>
              <a:gdLst/>
              <a:ahLst/>
              <a:cxnLst/>
              <a:rect l="l" t="t" r="r" b="b"/>
              <a:pathLst>
                <a:path w="38632" h="15515" extrusionOk="0">
                  <a:moveTo>
                    <a:pt x="7260" y="1"/>
                  </a:moveTo>
                  <a:lnTo>
                    <a:pt x="6895" y="21"/>
                  </a:lnTo>
                  <a:lnTo>
                    <a:pt x="6530" y="42"/>
                  </a:lnTo>
                  <a:lnTo>
                    <a:pt x="6165" y="82"/>
                  </a:lnTo>
                  <a:lnTo>
                    <a:pt x="5800" y="163"/>
                  </a:lnTo>
                  <a:lnTo>
                    <a:pt x="5455" y="244"/>
                  </a:lnTo>
                  <a:lnTo>
                    <a:pt x="5111" y="325"/>
                  </a:lnTo>
                  <a:lnTo>
                    <a:pt x="4766" y="447"/>
                  </a:lnTo>
                  <a:lnTo>
                    <a:pt x="4441" y="569"/>
                  </a:lnTo>
                  <a:lnTo>
                    <a:pt x="4117" y="731"/>
                  </a:lnTo>
                  <a:lnTo>
                    <a:pt x="3792" y="893"/>
                  </a:lnTo>
                  <a:lnTo>
                    <a:pt x="3488" y="1055"/>
                  </a:lnTo>
                  <a:lnTo>
                    <a:pt x="3204" y="1258"/>
                  </a:lnTo>
                  <a:lnTo>
                    <a:pt x="2920" y="1461"/>
                  </a:lnTo>
                  <a:lnTo>
                    <a:pt x="2637" y="1664"/>
                  </a:lnTo>
                  <a:lnTo>
                    <a:pt x="2373" y="1907"/>
                  </a:lnTo>
                  <a:lnTo>
                    <a:pt x="2130" y="2130"/>
                  </a:lnTo>
                  <a:lnTo>
                    <a:pt x="1886" y="2394"/>
                  </a:lnTo>
                  <a:lnTo>
                    <a:pt x="1663" y="2658"/>
                  </a:lnTo>
                  <a:lnTo>
                    <a:pt x="1440" y="2921"/>
                  </a:lnTo>
                  <a:lnTo>
                    <a:pt x="1237" y="3225"/>
                  </a:lnTo>
                  <a:lnTo>
                    <a:pt x="1055" y="3509"/>
                  </a:lnTo>
                  <a:lnTo>
                    <a:pt x="872" y="3813"/>
                  </a:lnTo>
                  <a:lnTo>
                    <a:pt x="710" y="4138"/>
                  </a:lnTo>
                  <a:lnTo>
                    <a:pt x="568" y="4442"/>
                  </a:lnTo>
                  <a:lnTo>
                    <a:pt x="426" y="4787"/>
                  </a:lnTo>
                  <a:lnTo>
                    <a:pt x="325" y="5111"/>
                  </a:lnTo>
                  <a:lnTo>
                    <a:pt x="223" y="5456"/>
                  </a:lnTo>
                  <a:lnTo>
                    <a:pt x="142" y="5821"/>
                  </a:lnTo>
                  <a:lnTo>
                    <a:pt x="81" y="6166"/>
                  </a:lnTo>
                  <a:lnTo>
                    <a:pt x="21" y="6531"/>
                  </a:lnTo>
                  <a:lnTo>
                    <a:pt x="0" y="6916"/>
                  </a:lnTo>
                  <a:lnTo>
                    <a:pt x="0" y="7281"/>
                  </a:lnTo>
                  <a:lnTo>
                    <a:pt x="0" y="14683"/>
                  </a:lnTo>
                  <a:lnTo>
                    <a:pt x="0" y="14845"/>
                  </a:lnTo>
                  <a:lnTo>
                    <a:pt x="61" y="15007"/>
                  </a:lnTo>
                  <a:lnTo>
                    <a:pt x="142" y="15149"/>
                  </a:lnTo>
                  <a:lnTo>
                    <a:pt x="244" y="15271"/>
                  </a:lnTo>
                  <a:lnTo>
                    <a:pt x="365" y="15372"/>
                  </a:lnTo>
                  <a:lnTo>
                    <a:pt x="507" y="15453"/>
                  </a:lnTo>
                  <a:lnTo>
                    <a:pt x="670" y="15494"/>
                  </a:lnTo>
                  <a:lnTo>
                    <a:pt x="832" y="15514"/>
                  </a:lnTo>
                  <a:lnTo>
                    <a:pt x="1014" y="15494"/>
                  </a:lnTo>
                  <a:lnTo>
                    <a:pt x="1156" y="15453"/>
                  </a:lnTo>
                  <a:lnTo>
                    <a:pt x="1298" y="15372"/>
                  </a:lnTo>
                  <a:lnTo>
                    <a:pt x="1440" y="15271"/>
                  </a:lnTo>
                  <a:lnTo>
                    <a:pt x="1542" y="15149"/>
                  </a:lnTo>
                  <a:lnTo>
                    <a:pt x="1602" y="15007"/>
                  </a:lnTo>
                  <a:lnTo>
                    <a:pt x="1663" y="14845"/>
                  </a:lnTo>
                  <a:lnTo>
                    <a:pt x="1683" y="14683"/>
                  </a:lnTo>
                  <a:lnTo>
                    <a:pt x="1683" y="7281"/>
                  </a:lnTo>
                  <a:lnTo>
                    <a:pt x="1683" y="6997"/>
                  </a:lnTo>
                  <a:lnTo>
                    <a:pt x="1704" y="6713"/>
                  </a:lnTo>
                  <a:lnTo>
                    <a:pt x="1744" y="6429"/>
                  </a:lnTo>
                  <a:lnTo>
                    <a:pt x="1785" y="6166"/>
                  </a:lnTo>
                  <a:lnTo>
                    <a:pt x="1846" y="5882"/>
                  </a:lnTo>
                  <a:lnTo>
                    <a:pt x="1927" y="5618"/>
                  </a:lnTo>
                  <a:lnTo>
                    <a:pt x="2008" y="5355"/>
                  </a:lnTo>
                  <a:lnTo>
                    <a:pt x="2109" y="5111"/>
                  </a:lnTo>
                  <a:lnTo>
                    <a:pt x="2231" y="4868"/>
                  </a:lnTo>
                  <a:lnTo>
                    <a:pt x="2353" y="4625"/>
                  </a:lnTo>
                  <a:lnTo>
                    <a:pt x="2495" y="4381"/>
                  </a:lnTo>
                  <a:lnTo>
                    <a:pt x="2637" y="4158"/>
                  </a:lnTo>
                  <a:lnTo>
                    <a:pt x="2799" y="3935"/>
                  </a:lnTo>
                  <a:lnTo>
                    <a:pt x="2961" y="3732"/>
                  </a:lnTo>
                  <a:lnTo>
                    <a:pt x="3123" y="3529"/>
                  </a:lnTo>
                  <a:lnTo>
                    <a:pt x="3326" y="3327"/>
                  </a:lnTo>
                  <a:lnTo>
                    <a:pt x="3509" y="3144"/>
                  </a:lnTo>
                  <a:lnTo>
                    <a:pt x="3711" y="2962"/>
                  </a:lnTo>
                  <a:lnTo>
                    <a:pt x="3934" y="2799"/>
                  </a:lnTo>
                  <a:lnTo>
                    <a:pt x="4137" y="2658"/>
                  </a:lnTo>
                  <a:lnTo>
                    <a:pt x="4360" y="2495"/>
                  </a:lnTo>
                  <a:lnTo>
                    <a:pt x="4604" y="2374"/>
                  </a:lnTo>
                  <a:lnTo>
                    <a:pt x="4847" y="2252"/>
                  </a:lnTo>
                  <a:lnTo>
                    <a:pt x="5090" y="2130"/>
                  </a:lnTo>
                  <a:lnTo>
                    <a:pt x="5354" y="2029"/>
                  </a:lnTo>
                  <a:lnTo>
                    <a:pt x="5597" y="1948"/>
                  </a:lnTo>
                  <a:lnTo>
                    <a:pt x="5861" y="1867"/>
                  </a:lnTo>
                  <a:lnTo>
                    <a:pt x="6145" y="1806"/>
                  </a:lnTo>
                  <a:lnTo>
                    <a:pt x="6408" y="1765"/>
                  </a:lnTo>
                  <a:lnTo>
                    <a:pt x="6692" y="1725"/>
                  </a:lnTo>
                  <a:lnTo>
                    <a:pt x="6976" y="1704"/>
                  </a:lnTo>
                  <a:lnTo>
                    <a:pt x="7260" y="1684"/>
                  </a:lnTo>
                  <a:lnTo>
                    <a:pt x="31372" y="1684"/>
                  </a:lnTo>
                  <a:lnTo>
                    <a:pt x="31656" y="1704"/>
                  </a:lnTo>
                  <a:lnTo>
                    <a:pt x="31940" y="1725"/>
                  </a:lnTo>
                  <a:lnTo>
                    <a:pt x="32223" y="1765"/>
                  </a:lnTo>
                  <a:lnTo>
                    <a:pt x="32487" y="1806"/>
                  </a:lnTo>
                  <a:lnTo>
                    <a:pt x="32771" y="1867"/>
                  </a:lnTo>
                  <a:lnTo>
                    <a:pt x="33035" y="1948"/>
                  </a:lnTo>
                  <a:lnTo>
                    <a:pt x="33278" y="2029"/>
                  </a:lnTo>
                  <a:lnTo>
                    <a:pt x="33542" y="2130"/>
                  </a:lnTo>
                  <a:lnTo>
                    <a:pt x="33785" y="2252"/>
                  </a:lnTo>
                  <a:lnTo>
                    <a:pt x="34028" y="2374"/>
                  </a:lnTo>
                  <a:lnTo>
                    <a:pt x="34272" y="2495"/>
                  </a:lnTo>
                  <a:lnTo>
                    <a:pt x="34495" y="2658"/>
                  </a:lnTo>
                  <a:lnTo>
                    <a:pt x="34698" y="2799"/>
                  </a:lnTo>
                  <a:lnTo>
                    <a:pt x="34921" y="2962"/>
                  </a:lnTo>
                  <a:lnTo>
                    <a:pt x="35123" y="3144"/>
                  </a:lnTo>
                  <a:lnTo>
                    <a:pt x="35306" y="3327"/>
                  </a:lnTo>
                  <a:lnTo>
                    <a:pt x="35509" y="3529"/>
                  </a:lnTo>
                  <a:lnTo>
                    <a:pt x="35671" y="3732"/>
                  </a:lnTo>
                  <a:lnTo>
                    <a:pt x="35833" y="3935"/>
                  </a:lnTo>
                  <a:lnTo>
                    <a:pt x="35995" y="4158"/>
                  </a:lnTo>
                  <a:lnTo>
                    <a:pt x="36137" y="4381"/>
                  </a:lnTo>
                  <a:lnTo>
                    <a:pt x="36279" y="4625"/>
                  </a:lnTo>
                  <a:lnTo>
                    <a:pt x="36401" y="4868"/>
                  </a:lnTo>
                  <a:lnTo>
                    <a:pt x="36523" y="5111"/>
                  </a:lnTo>
                  <a:lnTo>
                    <a:pt x="36604" y="5355"/>
                  </a:lnTo>
                  <a:lnTo>
                    <a:pt x="36705" y="5618"/>
                  </a:lnTo>
                  <a:lnTo>
                    <a:pt x="36786" y="5882"/>
                  </a:lnTo>
                  <a:lnTo>
                    <a:pt x="36847" y="6166"/>
                  </a:lnTo>
                  <a:lnTo>
                    <a:pt x="36888" y="6429"/>
                  </a:lnTo>
                  <a:lnTo>
                    <a:pt x="36928" y="6713"/>
                  </a:lnTo>
                  <a:lnTo>
                    <a:pt x="36948" y="6997"/>
                  </a:lnTo>
                  <a:lnTo>
                    <a:pt x="36948" y="7281"/>
                  </a:lnTo>
                  <a:lnTo>
                    <a:pt x="36948" y="14683"/>
                  </a:lnTo>
                  <a:lnTo>
                    <a:pt x="36969" y="14845"/>
                  </a:lnTo>
                  <a:lnTo>
                    <a:pt x="37030" y="15007"/>
                  </a:lnTo>
                  <a:lnTo>
                    <a:pt x="37090" y="15149"/>
                  </a:lnTo>
                  <a:lnTo>
                    <a:pt x="37192" y="15271"/>
                  </a:lnTo>
                  <a:lnTo>
                    <a:pt x="37334" y="15372"/>
                  </a:lnTo>
                  <a:lnTo>
                    <a:pt x="37476" y="15453"/>
                  </a:lnTo>
                  <a:lnTo>
                    <a:pt x="37618" y="15494"/>
                  </a:lnTo>
                  <a:lnTo>
                    <a:pt x="37800" y="15514"/>
                  </a:lnTo>
                  <a:lnTo>
                    <a:pt x="37962" y="15494"/>
                  </a:lnTo>
                  <a:lnTo>
                    <a:pt x="38125" y="15453"/>
                  </a:lnTo>
                  <a:lnTo>
                    <a:pt x="38267" y="15372"/>
                  </a:lnTo>
                  <a:lnTo>
                    <a:pt x="38388" y="15271"/>
                  </a:lnTo>
                  <a:lnTo>
                    <a:pt x="38490" y="15149"/>
                  </a:lnTo>
                  <a:lnTo>
                    <a:pt x="38571" y="15007"/>
                  </a:lnTo>
                  <a:lnTo>
                    <a:pt x="38632" y="14845"/>
                  </a:lnTo>
                  <a:lnTo>
                    <a:pt x="38632" y="14683"/>
                  </a:lnTo>
                  <a:lnTo>
                    <a:pt x="38632" y="7281"/>
                  </a:lnTo>
                  <a:lnTo>
                    <a:pt x="38632" y="6916"/>
                  </a:lnTo>
                  <a:lnTo>
                    <a:pt x="38611" y="6531"/>
                  </a:lnTo>
                  <a:lnTo>
                    <a:pt x="38550" y="6166"/>
                  </a:lnTo>
                  <a:lnTo>
                    <a:pt x="38490" y="5821"/>
                  </a:lnTo>
                  <a:lnTo>
                    <a:pt x="38409" y="5456"/>
                  </a:lnTo>
                  <a:lnTo>
                    <a:pt x="38307" y="5111"/>
                  </a:lnTo>
                  <a:lnTo>
                    <a:pt x="38206" y="4787"/>
                  </a:lnTo>
                  <a:lnTo>
                    <a:pt x="38064" y="4442"/>
                  </a:lnTo>
                  <a:lnTo>
                    <a:pt x="37922" y="4138"/>
                  </a:lnTo>
                  <a:lnTo>
                    <a:pt x="37760" y="3813"/>
                  </a:lnTo>
                  <a:lnTo>
                    <a:pt x="37577" y="3509"/>
                  </a:lnTo>
                  <a:lnTo>
                    <a:pt x="37395" y="3225"/>
                  </a:lnTo>
                  <a:lnTo>
                    <a:pt x="37192" y="2921"/>
                  </a:lnTo>
                  <a:lnTo>
                    <a:pt x="36969" y="2658"/>
                  </a:lnTo>
                  <a:lnTo>
                    <a:pt x="36746" y="2394"/>
                  </a:lnTo>
                  <a:lnTo>
                    <a:pt x="36502" y="2130"/>
                  </a:lnTo>
                  <a:lnTo>
                    <a:pt x="36259" y="1907"/>
                  </a:lnTo>
                  <a:lnTo>
                    <a:pt x="35995" y="1664"/>
                  </a:lnTo>
                  <a:lnTo>
                    <a:pt x="35711" y="1461"/>
                  </a:lnTo>
                  <a:lnTo>
                    <a:pt x="35428" y="1258"/>
                  </a:lnTo>
                  <a:lnTo>
                    <a:pt x="35144" y="1055"/>
                  </a:lnTo>
                  <a:lnTo>
                    <a:pt x="34839" y="893"/>
                  </a:lnTo>
                  <a:lnTo>
                    <a:pt x="34515" y="731"/>
                  </a:lnTo>
                  <a:lnTo>
                    <a:pt x="34191" y="569"/>
                  </a:lnTo>
                  <a:lnTo>
                    <a:pt x="33866" y="447"/>
                  </a:lnTo>
                  <a:lnTo>
                    <a:pt x="33521" y="325"/>
                  </a:lnTo>
                  <a:lnTo>
                    <a:pt x="33177" y="244"/>
                  </a:lnTo>
                  <a:lnTo>
                    <a:pt x="32832" y="163"/>
                  </a:lnTo>
                  <a:lnTo>
                    <a:pt x="32467" y="82"/>
                  </a:lnTo>
                  <a:lnTo>
                    <a:pt x="32102" y="42"/>
                  </a:lnTo>
                  <a:lnTo>
                    <a:pt x="31737" y="21"/>
                  </a:lnTo>
                  <a:lnTo>
                    <a:pt x="31372" y="1"/>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5"/>
            <p:cNvSpPr/>
            <p:nvPr/>
          </p:nvSpPr>
          <p:spPr>
            <a:xfrm>
              <a:off x="7650808" y="2863893"/>
              <a:ext cx="67747" cy="67731"/>
            </a:xfrm>
            <a:custGeom>
              <a:avLst/>
              <a:gdLst/>
              <a:ahLst/>
              <a:cxnLst/>
              <a:rect l="l" t="t" r="r" b="b"/>
              <a:pathLst>
                <a:path w="4402" h="4401" extrusionOk="0">
                  <a:moveTo>
                    <a:pt x="2211" y="0"/>
                  </a:moveTo>
                  <a:lnTo>
                    <a:pt x="1988" y="21"/>
                  </a:lnTo>
                  <a:lnTo>
                    <a:pt x="1765" y="41"/>
                  </a:lnTo>
                  <a:lnTo>
                    <a:pt x="1562" y="102"/>
                  </a:lnTo>
                  <a:lnTo>
                    <a:pt x="1359" y="183"/>
                  </a:lnTo>
                  <a:lnTo>
                    <a:pt x="1157" y="264"/>
                  </a:lnTo>
                  <a:lnTo>
                    <a:pt x="974" y="386"/>
                  </a:lnTo>
                  <a:lnTo>
                    <a:pt x="812" y="507"/>
                  </a:lnTo>
                  <a:lnTo>
                    <a:pt x="650" y="649"/>
                  </a:lnTo>
                  <a:lnTo>
                    <a:pt x="508" y="812"/>
                  </a:lnTo>
                  <a:lnTo>
                    <a:pt x="386" y="974"/>
                  </a:lnTo>
                  <a:lnTo>
                    <a:pt x="264" y="1156"/>
                  </a:lnTo>
                  <a:lnTo>
                    <a:pt x="183" y="1339"/>
                  </a:lnTo>
                  <a:lnTo>
                    <a:pt x="102" y="1542"/>
                  </a:lnTo>
                  <a:lnTo>
                    <a:pt x="41" y="1765"/>
                  </a:lnTo>
                  <a:lnTo>
                    <a:pt x="21" y="1988"/>
                  </a:lnTo>
                  <a:lnTo>
                    <a:pt x="1" y="2211"/>
                  </a:lnTo>
                  <a:lnTo>
                    <a:pt x="21" y="2434"/>
                  </a:lnTo>
                  <a:lnTo>
                    <a:pt x="41" y="2657"/>
                  </a:lnTo>
                  <a:lnTo>
                    <a:pt x="102" y="2860"/>
                  </a:lnTo>
                  <a:lnTo>
                    <a:pt x="183" y="3063"/>
                  </a:lnTo>
                  <a:lnTo>
                    <a:pt x="264" y="3245"/>
                  </a:lnTo>
                  <a:lnTo>
                    <a:pt x="386" y="3428"/>
                  </a:lnTo>
                  <a:lnTo>
                    <a:pt x="508" y="3610"/>
                  </a:lnTo>
                  <a:lnTo>
                    <a:pt x="650" y="3752"/>
                  </a:lnTo>
                  <a:lnTo>
                    <a:pt x="812" y="3894"/>
                  </a:lnTo>
                  <a:lnTo>
                    <a:pt x="974" y="4036"/>
                  </a:lnTo>
                  <a:lnTo>
                    <a:pt x="1157" y="4137"/>
                  </a:lnTo>
                  <a:lnTo>
                    <a:pt x="1359" y="4239"/>
                  </a:lnTo>
                  <a:lnTo>
                    <a:pt x="1562" y="4300"/>
                  </a:lnTo>
                  <a:lnTo>
                    <a:pt x="1765" y="4360"/>
                  </a:lnTo>
                  <a:lnTo>
                    <a:pt x="1988" y="4401"/>
                  </a:lnTo>
                  <a:lnTo>
                    <a:pt x="2434" y="4401"/>
                  </a:lnTo>
                  <a:lnTo>
                    <a:pt x="2657" y="4360"/>
                  </a:lnTo>
                  <a:lnTo>
                    <a:pt x="2860" y="4300"/>
                  </a:lnTo>
                  <a:lnTo>
                    <a:pt x="3063" y="4239"/>
                  </a:lnTo>
                  <a:lnTo>
                    <a:pt x="3266" y="4137"/>
                  </a:lnTo>
                  <a:lnTo>
                    <a:pt x="3448" y="4036"/>
                  </a:lnTo>
                  <a:lnTo>
                    <a:pt x="3610" y="3894"/>
                  </a:lnTo>
                  <a:lnTo>
                    <a:pt x="3773" y="3752"/>
                  </a:lnTo>
                  <a:lnTo>
                    <a:pt x="3915" y="3610"/>
                  </a:lnTo>
                  <a:lnTo>
                    <a:pt x="4036" y="3428"/>
                  </a:lnTo>
                  <a:lnTo>
                    <a:pt x="4138" y="3245"/>
                  </a:lnTo>
                  <a:lnTo>
                    <a:pt x="4239" y="3063"/>
                  </a:lnTo>
                  <a:lnTo>
                    <a:pt x="4320" y="2860"/>
                  </a:lnTo>
                  <a:lnTo>
                    <a:pt x="4361" y="2657"/>
                  </a:lnTo>
                  <a:lnTo>
                    <a:pt x="4401" y="2434"/>
                  </a:lnTo>
                  <a:lnTo>
                    <a:pt x="4401" y="2211"/>
                  </a:lnTo>
                  <a:lnTo>
                    <a:pt x="4401" y="1988"/>
                  </a:lnTo>
                  <a:lnTo>
                    <a:pt x="4361" y="1765"/>
                  </a:lnTo>
                  <a:lnTo>
                    <a:pt x="4320" y="1542"/>
                  </a:lnTo>
                  <a:lnTo>
                    <a:pt x="4239" y="1339"/>
                  </a:lnTo>
                  <a:lnTo>
                    <a:pt x="4138" y="1156"/>
                  </a:lnTo>
                  <a:lnTo>
                    <a:pt x="4036" y="974"/>
                  </a:lnTo>
                  <a:lnTo>
                    <a:pt x="3915" y="812"/>
                  </a:lnTo>
                  <a:lnTo>
                    <a:pt x="3773" y="649"/>
                  </a:lnTo>
                  <a:lnTo>
                    <a:pt x="3610" y="507"/>
                  </a:lnTo>
                  <a:lnTo>
                    <a:pt x="3448" y="386"/>
                  </a:lnTo>
                  <a:lnTo>
                    <a:pt x="3266" y="264"/>
                  </a:lnTo>
                  <a:lnTo>
                    <a:pt x="3063" y="183"/>
                  </a:lnTo>
                  <a:lnTo>
                    <a:pt x="2860" y="102"/>
                  </a:lnTo>
                  <a:lnTo>
                    <a:pt x="2657" y="41"/>
                  </a:lnTo>
                  <a:lnTo>
                    <a:pt x="2434" y="21"/>
                  </a:lnTo>
                  <a:lnTo>
                    <a:pt x="2211"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5"/>
            <p:cNvSpPr/>
            <p:nvPr/>
          </p:nvSpPr>
          <p:spPr>
            <a:xfrm>
              <a:off x="7082178" y="2863893"/>
              <a:ext cx="67747" cy="67731"/>
            </a:xfrm>
            <a:custGeom>
              <a:avLst/>
              <a:gdLst/>
              <a:ahLst/>
              <a:cxnLst/>
              <a:rect l="l" t="t" r="r" b="b"/>
              <a:pathLst>
                <a:path w="4402" h="4401" extrusionOk="0">
                  <a:moveTo>
                    <a:pt x="2191" y="0"/>
                  </a:moveTo>
                  <a:lnTo>
                    <a:pt x="1968" y="21"/>
                  </a:lnTo>
                  <a:lnTo>
                    <a:pt x="1745" y="41"/>
                  </a:lnTo>
                  <a:lnTo>
                    <a:pt x="1542" y="102"/>
                  </a:lnTo>
                  <a:lnTo>
                    <a:pt x="1339" y="183"/>
                  </a:lnTo>
                  <a:lnTo>
                    <a:pt x="1136" y="264"/>
                  </a:lnTo>
                  <a:lnTo>
                    <a:pt x="954" y="386"/>
                  </a:lnTo>
                  <a:lnTo>
                    <a:pt x="791" y="507"/>
                  </a:lnTo>
                  <a:lnTo>
                    <a:pt x="629" y="649"/>
                  </a:lnTo>
                  <a:lnTo>
                    <a:pt x="487" y="812"/>
                  </a:lnTo>
                  <a:lnTo>
                    <a:pt x="366" y="974"/>
                  </a:lnTo>
                  <a:lnTo>
                    <a:pt x="264" y="1156"/>
                  </a:lnTo>
                  <a:lnTo>
                    <a:pt x="163" y="1339"/>
                  </a:lnTo>
                  <a:lnTo>
                    <a:pt x="82" y="1542"/>
                  </a:lnTo>
                  <a:lnTo>
                    <a:pt x="41" y="1765"/>
                  </a:lnTo>
                  <a:lnTo>
                    <a:pt x="1" y="1988"/>
                  </a:lnTo>
                  <a:lnTo>
                    <a:pt x="1" y="2211"/>
                  </a:lnTo>
                  <a:lnTo>
                    <a:pt x="1" y="2434"/>
                  </a:lnTo>
                  <a:lnTo>
                    <a:pt x="41" y="2657"/>
                  </a:lnTo>
                  <a:lnTo>
                    <a:pt x="82" y="2860"/>
                  </a:lnTo>
                  <a:lnTo>
                    <a:pt x="163" y="3063"/>
                  </a:lnTo>
                  <a:lnTo>
                    <a:pt x="264" y="3245"/>
                  </a:lnTo>
                  <a:lnTo>
                    <a:pt x="366" y="3428"/>
                  </a:lnTo>
                  <a:lnTo>
                    <a:pt x="487" y="3610"/>
                  </a:lnTo>
                  <a:lnTo>
                    <a:pt x="629" y="3752"/>
                  </a:lnTo>
                  <a:lnTo>
                    <a:pt x="791" y="3894"/>
                  </a:lnTo>
                  <a:lnTo>
                    <a:pt x="954" y="4036"/>
                  </a:lnTo>
                  <a:lnTo>
                    <a:pt x="1136" y="4137"/>
                  </a:lnTo>
                  <a:lnTo>
                    <a:pt x="1339" y="4239"/>
                  </a:lnTo>
                  <a:lnTo>
                    <a:pt x="1542" y="4300"/>
                  </a:lnTo>
                  <a:lnTo>
                    <a:pt x="1745" y="4360"/>
                  </a:lnTo>
                  <a:lnTo>
                    <a:pt x="1968" y="4401"/>
                  </a:lnTo>
                  <a:lnTo>
                    <a:pt x="2414" y="4401"/>
                  </a:lnTo>
                  <a:lnTo>
                    <a:pt x="2637" y="4360"/>
                  </a:lnTo>
                  <a:lnTo>
                    <a:pt x="2840" y="4300"/>
                  </a:lnTo>
                  <a:lnTo>
                    <a:pt x="3042" y="4239"/>
                  </a:lnTo>
                  <a:lnTo>
                    <a:pt x="3245" y="4137"/>
                  </a:lnTo>
                  <a:lnTo>
                    <a:pt x="3428" y="4036"/>
                  </a:lnTo>
                  <a:lnTo>
                    <a:pt x="3590" y="3894"/>
                  </a:lnTo>
                  <a:lnTo>
                    <a:pt x="3752" y="3752"/>
                  </a:lnTo>
                  <a:lnTo>
                    <a:pt x="3894" y="3610"/>
                  </a:lnTo>
                  <a:lnTo>
                    <a:pt x="4016" y="3428"/>
                  </a:lnTo>
                  <a:lnTo>
                    <a:pt x="4138" y="3245"/>
                  </a:lnTo>
                  <a:lnTo>
                    <a:pt x="4219" y="3063"/>
                  </a:lnTo>
                  <a:lnTo>
                    <a:pt x="4300" y="2860"/>
                  </a:lnTo>
                  <a:lnTo>
                    <a:pt x="4361" y="2657"/>
                  </a:lnTo>
                  <a:lnTo>
                    <a:pt x="4381" y="2434"/>
                  </a:lnTo>
                  <a:lnTo>
                    <a:pt x="4401" y="2211"/>
                  </a:lnTo>
                  <a:lnTo>
                    <a:pt x="4381" y="1988"/>
                  </a:lnTo>
                  <a:lnTo>
                    <a:pt x="4361" y="1765"/>
                  </a:lnTo>
                  <a:lnTo>
                    <a:pt x="4300" y="1542"/>
                  </a:lnTo>
                  <a:lnTo>
                    <a:pt x="4219" y="1339"/>
                  </a:lnTo>
                  <a:lnTo>
                    <a:pt x="4138" y="1156"/>
                  </a:lnTo>
                  <a:lnTo>
                    <a:pt x="4016" y="974"/>
                  </a:lnTo>
                  <a:lnTo>
                    <a:pt x="3894" y="812"/>
                  </a:lnTo>
                  <a:lnTo>
                    <a:pt x="3752" y="649"/>
                  </a:lnTo>
                  <a:lnTo>
                    <a:pt x="3590" y="507"/>
                  </a:lnTo>
                  <a:lnTo>
                    <a:pt x="3428" y="386"/>
                  </a:lnTo>
                  <a:lnTo>
                    <a:pt x="3245" y="264"/>
                  </a:lnTo>
                  <a:lnTo>
                    <a:pt x="3042" y="183"/>
                  </a:lnTo>
                  <a:lnTo>
                    <a:pt x="2840" y="102"/>
                  </a:lnTo>
                  <a:lnTo>
                    <a:pt x="2637" y="41"/>
                  </a:lnTo>
                  <a:lnTo>
                    <a:pt x="2414" y="21"/>
                  </a:lnTo>
                  <a:lnTo>
                    <a:pt x="2191"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5"/>
            <p:cNvSpPr/>
            <p:nvPr/>
          </p:nvSpPr>
          <p:spPr>
            <a:xfrm>
              <a:off x="5693061" y="2931609"/>
              <a:ext cx="252812" cy="167612"/>
            </a:xfrm>
            <a:custGeom>
              <a:avLst/>
              <a:gdLst/>
              <a:ahLst/>
              <a:cxnLst/>
              <a:rect l="l" t="t" r="r" b="b"/>
              <a:pathLst>
                <a:path w="16427" h="10891" extrusionOk="0">
                  <a:moveTo>
                    <a:pt x="9227" y="1"/>
                  </a:moveTo>
                  <a:lnTo>
                    <a:pt x="9004" y="21"/>
                  </a:lnTo>
                  <a:lnTo>
                    <a:pt x="8740" y="82"/>
                  </a:lnTo>
                  <a:lnTo>
                    <a:pt x="8477" y="163"/>
                  </a:lnTo>
                  <a:lnTo>
                    <a:pt x="8213" y="285"/>
                  </a:lnTo>
                  <a:lnTo>
                    <a:pt x="7929" y="407"/>
                  </a:lnTo>
                  <a:lnTo>
                    <a:pt x="7382" y="690"/>
                  </a:lnTo>
                  <a:lnTo>
                    <a:pt x="6895" y="974"/>
                  </a:lnTo>
                  <a:lnTo>
                    <a:pt x="6489" y="1238"/>
                  </a:lnTo>
                  <a:lnTo>
                    <a:pt x="6124" y="1481"/>
                  </a:lnTo>
                  <a:lnTo>
                    <a:pt x="2109" y="386"/>
                  </a:lnTo>
                  <a:lnTo>
                    <a:pt x="0" y="5111"/>
                  </a:lnTo>
                  <a:lnTo>
                    <a:pt x="183" y="5294"/>
                  </a:lnTo>
                  <a:lnTo>
                    <a:pt x="426" y="5497"/>
                  </a:lnTo>
                  <a:lnTo>
                    <a:pt x="669" y="5699"/>
                  </a:lnTo>
                  <a:lnTo>
                    <a:pt x="933" y="5882"/>
                  </a:lnTo>
                  <a:lnTo>
                    <a:pt x="1541" y="6287"/>
                  </a:lnTo>
                  <a:lnTo>
                    <a:pt x="2211" y="6673"/>
                  </a:lnTo>
                  <a:lnTo>
                    <a:pt x="2920" y="7058"/>
                  </a:lnTo>
                  <a:lnTo>
                    <a:pt x="3650" y="7443"/>
                  </a:lnTo>
                  <a:lnTo>
                    <a:pt x="4401" y="7808"/>
                  </a:lnTo>
                  <a:lnTo>
                    <a:pt x="5151" y="8133"/>
                  </a:lnTo>
                  <a:lnTo>
                    <a:pt x="6550" y="8741"/>
                  </a:lnTo>
                  <a:lnTo>
                    <a:pt x="7726" y="9228"/>
                  </a:lnTo>
                  <a:lnTo>
                    <a:pt x="8822" y="9654"/>
                  </a:lnTo>
                  <a:lnTo>
                    <a:pt x="9592" y="9917"/>
                  </a:lnTo>
                  <a:lnTo>
                    <a:pt x="10403" y="10181"/>
                  </a:lnTo>
                  <a:lnTo>
                    <a:pt x="11336" y="10465"/>
                  </a:lnTo>
                  <a:lnTo>
                    <a:pt x="11803" y="10587"/>
                  </a:lnTo>
                  <a:lnTo>
                    <a:pt x="12269" y="10708"/>
                  </a:lnTo>
                  <a:lnTo>
                    <a:pt x="12715" y="10789"/>
                  </a:lnTo>
                  <a:lnTo>
                    <a:pt x="13121" y="10850"/>
                  </a:lnTo>
                  <a:lnTo>
                    <a:pt x="13486" y="10891"/>
                  </a:lnTo>
                  <a:lnTo>
                    <a:pt x="13628" y="10891"/>
                  </a:lnTo>
                  <a:lnTo>
                    <a:pt x="13770" y="10870"/>
                  </a:lnTo>
                  <a:lnTo>
                    <a:pt x="13891" y="10850"/>
                  </a:lnTo>
                  <a:lnTo>
                    <a:pt x="13972" y="10810"/>
                  </a:lnTo>
                  <a:lnTo>
                    <a:pt x="14054" y="10769"/>
                  </a:lnTo>
                  <a:lnTo>
                    <a:pt x="14094" y="10688"/>
                  </a:lnTo>
                  <a:lnTo>
                    <a:pt x="14114" y="10627"/>
                  </a:lnTo>
                  <a:lnTo>
                    <a:pt x="14114" y="10566"/>
                  </a:lnTo>
                  <a:lnTo>
                    <a:pt x="14094" y="10485"/>
                  </a:lnTo>
                  <a:lnTo>
                    <a:pt x="14054" y="10404"/>
                  </a:lnTo>
                  <a:lnTo>
                    <a:pt x="13912" y="10222"/>
                  </a:lnTo>
                  <a:lnTo>
                    <a:pt x="13749" y="10039"/>
                  </a:lnTo>
                  <a:lnTo>
                    <a:pt x="13506" y="9857"/>
                  </a:lnTo>
                  <a:lnTo>
                    <a:pt x="13263" y="9654"/>
                  </a:lnTo>
                  <a:lnTo>
                    <a:pt x="12675" y="9248"/>
                  </a:lnTo>
                  <a:lnTo>
                    <a:pt x="12086" y="8883"/>
                  </a:lnTo>
                  <a:lnTo>
                    <a:pt x="11559" y="8599"/>
                  </a:lnTo>
                  <a:lnTo>
                    <a:pt x="11032" y="8315"/>
                  </a:lnTo>
                  <a:lnTo>
                    <a:pt x="11721" y="8457"/>
                  </a:lnTo>
                  <a:lnTo>
                    <a:pt x="12431" y="8579"/>
                  </a:lnTo>
                  <a:lnTo>
                    <a:pt x="13263" y="8721"/>
                  </a:lnTo>
                  <a:lnTo>
                    <a:pt x="14114" y="8822"/>
                  </a:lnTo>
                  <a:lnTo>
                    <a:pt x="14500" y="8843"/>
                  </a:lnTo>
                  <a:lnTo>
                    <a:pt x="14865" y="8863"/>
                  </a:lnTo>
                  <a:lnTo>
                    <a:pt x="15169" y="8843"/>
                  </a:lnTo>
                  <a:lnTo>
                    <a:pt x="15432" y="8802"/>
                  </a:lnTo>
                  <a:lnTo>
                    <a:pt x="15534" y="8782"/>
                  </a:lnTo>
                  <a:lnTo>
                    <a:pt x="15615" y="8741"/>
                  </a:lnTo>
                  <a:lnTo>
                    <a:pt x="15676" y="8701"/>
                  </a:lnTo>
                  <a:lnTo>
                    <a:pt x="15716" y="8640"/>
                  </a:lnTo>
                  <a:lnTo>
                    <a:pt x="15737" y="8579"/>
                  </a:lnTo>
                  <a:lnTo>
                    <a:pt x="15716" y="8518"/>
                  </a:lnTo>
                  <a:lnTo>
                    <a:pt x="15696" y="8437"/>
                  </a:lnTo>
                  <a:lnTo>
                    <a:pt x="15635" y="8356"/>
                  </a:lnTo>
                  <a:lnTo>
                    <a:pt x="15453" y="8214"/>
                  </a:lnTo>
                  <a:lnTo>
                    <a:pt x="15189" y="8031"/>
                  </a:lnTo>
                  <a:lnTo>
                    <a:pt x="14885" y="7869"/>
                  </a:lnTo>
                  <a:lnTo>
                    <a:pt x="14540" y="7687"/>
                  </a:lnTo>
                  <a:lnTo>
                    <a:pt x="13749" y="7342"/>
                  </a:lnTo>
                  <a:lnTo>
                    <a:pt x="12958" y="7017"/>
                  </a:lnTo>
                  <a:lnTo>
                    <a:pt x="12249" y="6754"/>
                  </a:lnTo>
                  <a:lnTo>
                    <a:pt x="11559" y="6531"/>
                  </a:lnTo>
                  <a:lnTo>
                    <a:pt x="11559" y="6531"/>
                  </a:lnTo>
                  <a:lnTo>
                    <a:pt x="12310" y="6571"/>
                  </a:lnTo>
                  <a:lnTo>
                    <a:pt x="13100" y="6592"/>
                  </a:lnTo>
                  <a:lnTo>
                    <a:pt x="13993" y="6612"/>
                  </a:lnTo>
                  <a:lnTo>
                    <a:pt x="14439" y="6592"/>
                  </a:lnTo>
                  <a:lnTo>
                    <a:pt x="14885" y="6571"/>
                  </a:lnTo>
                  <a:lnTo>
                    <a:pt x="15291" y="6531"/>
                  </a:lnTo>
                  <a:lnTo>
                    <a:pt x="15656" y="6490"/>
                  </a:lnTo>
                  <a:lnTo>
                    <a:pt x="15980" y="6409"/>
                  </a:lnTo>
                  <a:lnTo>
                    <a:pt x="16102" y="6369"/>
                  </a:lnTo>
                  <a:lnTo>
                    <a:pt x="16223" y="6328"/>
                  </a:lnTo>
                  <a:lnTo>
                    <a:pt x="16304" y="6267"/>
                  </a:lnTo>
                  <a:lnTo>
                    <a:pt x="16365" y="6206"/>
                  </a:lnTo>
                  <a:lnTo>
                    <a:pt x="16406" y="6145"/>
                  </a:lnTo>
                  <a:lnTo>
                    <a:pt x="16426" y="6064"/>
                  </a:lnTo>
                  <a:lnTo>
                    <a:pt x="16406" y="5983"/>
                  </a:lnTo>
                  <a:lnTo>
                    <a:pt x="16365" y="5922"/>
                  </a:lnTo>
                  <a:lnTo>
                    <a:pt x="16304" y="5841"/>
                  </a:lnTo>
                  <a:lnTo>
                    <a:pt x="16223" y="5780"/>
                  </a:lnTo>
                  <a:lnTo>
                    <a:pt x="16000" y="5639"/>
                  </a:lnTo>
                  <a:lnTo>
                    <a:pt x="15696" y="5517"/>
                  </a:lnTo>
                  <a:lnTo>
                    <a:pt x="15351" y="5415"/>
                  </a:lnTo>
                  <a:lnTo>
                    <a:pt x="14966" y="5314"/>
                  </a:lnTo>
                  <a:lnTo>
                    <a:pt x="14540" y="5233"/>
                  </a:lnTo>
                  <a:lnTo>
                    <a:pt x="14114" y="5152"/>
                  </a:lnTo>
                  <a:lnTo>
                    <a:pt x="13263" y="5010"/>
                  </a:lnTo>
                  <a:lnTo>
                    <a:pt x="12533" y="4908"/>
                  </a:lnTo>
                  <a:lnTo>
                    <a:pt x="11823" y="4848"/>
                  </a:lnTo>
                  <a:lnTo>
                    <a:pt x="12492" y="4767"/>
                  </a:lnTo>
                  <a:lnTo>
                    <a:pt x="13161" y="4665"/>
                  </a:lnTo>
                  <a:lnTo>
                    <a:pt x="13952" y="4543"/>
                  </a:lnTo>
                  <a:lnTo>
                    <a:pt x="14723" y="4381"/>
                  </a:lnTo>
                  <a:lnTo>
                    <a:pt x="15067" y="4300"/>
                  </a:lnTo>
                  <a:lnTo>
                    <a:pt x="15392" y="4199"/>
                  </a:lnTo>
                  <a:lnTo>
                    <a:pt x="15635" y="4077"/>
                  </a:lnTo>
                  <a:lnTo>
                    <a:pt x="15838" y="3976"/>
                  </a:lnTo>
                  <a:lnTo>
                    <a:pt x="15899" y="3915"/>
                  </a:lnTo>
                  <a:lnTo>
                    <a:pt x="15939" y="3854"/>
                  </a:lnTo>
                  <a:lnTo>
                    <a:pt x="15960" y="3773"/>
                  </a:lnTo>
                  <a:lnTo>
                    <a:pt x="15960" y="3712"/>
                  </a:lnTo>
                  <a:lnTo>
                    <a:pt x="15919" y="3651"/>
                  </a:lnTo>
                  <a:lnTo>
                    <a:pt x="15858" y="3570"/>
                  </a:lnTo>
                  <a:lnTo>
                    <a:pt x="15757" y="3509"/>
                  </a:lnTo>
                  <a:lnTo>
                    <a:pt x="15615" y="3448"/>
                  </a:lnTo>
                  <a:lnTo>
                    <a:pt x="15250" y="3347"/>
                  </a:lnTo>
                  <a:lnTo>
                    <a:pt x="14804" y="3225"/>
                  </a:lnTo>
                  <a:lnTo>
                    <a:pt x="14277" y="3144"/>
                  </a:lnTo>
                  <a:lnTo>
                    <a:pt x="13688" y="3043"/>
                  </a:lnTo>
                  <a:lnTo>
                    <a:pt x="12431" y="2901"/>
                  </a:lnTo>
                  <a:lnTo>
                    <a:pt x="11174" y="2779"/>
                  </a:lnTo>
                  <a:lnTo>
                    <a:pt x="10079" y="2678"/>
                  </a:lnTo>
                  <a:lnTo>
                    <a:pt x="9024" y="2617"/>
                  </a:lnTo>
                  <a:lnTo>
                    <a:pt x="9247" y="2232"/>
                  </a:lnTo>
                  <a:lnTo>
                    <a:pt x="9450" y="1846"/>
                  </a:lnTo>
                  <a:lnTo>
                    <a:pt x="9633" y="1400"/>
                  </a:lnTo>
                  <a:lnTo>
                    <a:pt x="9714" y="1157"/>
                  </a:lnTo>
                  <a:lnTo>
                    <a:pt x="9795" y="934"/>
                  </a:lnTo>
                  <a:lnTo>
                    <a:pt x="9835" y="711"/>
                  </a:lnTo>
                  <a:lnTo>
                    <a:pt x="9835" y="508"/>
                  </a:lnTo>
                  <a:lnTo>
                    <a:pt x="9815" y="325"/>
                  </a:lnTo>
                  <a:lnTo>
                    <a:pt x="9775" y="265"/>
                  </a:lnTo>
                  <a:lnTo>
                    <a:pt x="9734" y="184"/>
                  </a:lnTo>
                  <a:lnTo>
                    <a:pt x="9694" y="123"/>
                  </a:lnTo>
                  <a:lnTo>
                    <a:pt x="9612" y="82"/>
                  </a:lnTo>
                  <a:lnTo>
                    <a:pt x="9552" y="42"/>
                  </a:lnTo>
                  <a:lnTo>
                    <a:pt x="9450" y="21"/>
                  </a:lnTo>
                  <a:lnTo>
                    <a:pt x="9227" y="1"/>
                  </a:lnTo>
                  <a:close/>
                </a:path>
              </a:pathLst>
            </a:custGeom>
            <a:solidFill>
              <a:srgbClr val="FCB58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5"/>
            <p:cNvSpPr/>
            <p:nvPr/>
          </p:nvSpPr>
          <p:spPr>
            <a:xfrm>
              <a:off x="5693061" y="2931609"/>
              <a:ext cx="252812" cy="167612"/>
            </a:xfrm>
            <a:custGeom>
              <a:avLst/>
              <a:gdLst/>
              <a:ahLst/>
              <a:cxnLst/>
              <a:rect l="l" t="t" r="r" b="b"/>
              <a:pathLst>
                <a:path w="16427" h="10891" fill="none" extrusionOk="0">
                  <a:moveTo>
                    <a:pt x="2109" y="386"/>
                  </a:moveTo>
                  <a:lnTo>
                    <a:pt x="6124" y="1481"/>
                  </a:lnTo>
                  <a:lnTo>
                    <a:pt x="6124" y="1481"/>
                  </a:lnTo>
                  <a:lnTo>
                    <a:pt x="6489" y="1238"/>
                  </a:lnTo>
                  <a:lnTo>
                    <a:pt x="6895" y="974"/>
                  </a:lnTo>
                  <a:lnTo>
                    <a:pt x="7382" y="690"/>
                  </a:lnTo>
                  <a:lnTo>
                    <a:pt x="7929" y="407"/>
                  </a:lnTo>
                  <a:lnTo>
                    <a:pt x="8213" y="285"/>
                  </a:lnTo>
                  <a:lnTo>
                    <a:pt x="8477" y="163"/>
                  </a:lnTo>
                  <a:lnTo>
                    <a:pt x="8740" y="82"/>
                  </a:lnTo>
                  <a:lnTo>
                    <a:pt x="9004" y="21"/>
                  </a:lnTo>
                  <a:lnTo>
                    <a:pt x="9227" y="1"/>
                  </a:lnTo>
                  <a:lnTo>
                    <a:pt x="9450" y="21"/>
                  </a:lnTo>
                  <a:lnTo>
                    <a:pt x="9450" y="21"/>
                  </a:lnTo>
                  <a:lnTo>
                    <a:pt x="9552" y="42"/>
                  </a:lnTo>
                  <a:lnTo>
                    <a:pt x="9612" y="82"/>
                  </a:lnTo>
                  <a:lnTo>
                    <a:pt x="9694" y="123"/>
                  </a:lnTo>
                  <a:lnTo>
                    <a:pt x="9734" y="184"/>
                  </a:lnTo>
                  <a:lnTo>
                    <a:pt x="9775" y="265"/>
                  </a:lnTo>
                  <a:lnTo>
                    <a:pt x="9815" y="325"/>
                  </a:lnTo>
                  <a:lnTo>
                    <a:pt x="9835" y="508"/>
                  </a:lnTo>
                  <a:lnTo>
                    <a:pt x="9835" y="711"/>
                  </a:lnTo>
                  <a:lnTo>
                    <a:pt x="9795" y="934"/>
                  </a:lnTo>
                  <a:lnTo>
                    <a:pt x="9714" y="1157"/>
                  </a:lnTo>
                  <a:lnTo>
                    <a:pt x="9633" y="1400"/>
                  </a:lnTo>
                  <a:lnTo>
                    <a:pt x="9450" y="1846"/>
                  </a:lnTo>
                  <a:lnTo>
                    <a:pt x="9247" y="2232"/>
                  </a:lnTo>
                  <a:lnTo>
                    <a:pt x="9024" y="2617"/>
                  </a:lnTo>
                  <a:lnTo>
                    <a:pt x="9024" y="2617"/>
                  </a:lnTo>
                  <a:lnTo>
                    <a:pt x="10079" y="2678"/>
                  </a:lnTo>
                  <a:lnTo>
                    <a:pt x="11174" y="2779"/>
                  </a:lnTo>
                  <a:lnTo>
                    <a:pt x="12431" y="2901"/>
                  </a:lnTo>
                  <a:lnTo>
                    <a:pt x="13688" y="3043"/>
                  </a:lnTo>
                  <a:lnTo>
                    <a:pt x="14277" y="3144"/>
                  </a:lnTo>
                  <a:lnTo>
                    <a:pt x="14804" y="3225"/>
                  </a:lnTo>
                  <a:lnTo>
                    <a:pt x="15250" y="3347"/>
                  </a:lnTo>
                  <a:lnTo>
                    <a:pt x="15615" y="3448"/>
                  </a:lnTo>
                  <a:lnTo>
                    <a:pt x="15757" y="3509"/>
                  </a:lnTo>
                  <a:lnTo>
                    <a:pt x="15858" y="3570"/>
                  </a:lnTo>
                  <a:lnTo>
                    <a:pt x="15919" y="3651"/>
                  </a:lnTo>
                  <a:lnTo>
                    <a:pt x="15960" y="3712"/>
                  </a:lnTo>
                  <a:lnTo>
                    <a:pt x="15960" y="3712"/>
                  </a:lnTo>
                  <a:lnTo>
                    <a:pt x="15960" y="3773"/>
                  </a:lnTo>
                  <a:lnTo>
                    <a:pt x="15939" y="3854"/>
                  </a:lnTo>
                  <a:lnTo>
                    <a:pt x="15899" y="3915"/>
                  </a:lnTo>
                  <a:lnTo>
                    <a:pt x="15838" y="3976"/>
                  </a:lnTo>
                  <a:lnTo>
                    <a:pt x="15635" y="4077"/>
                  </a:lnTo>
                  <a:lnTo>
                    <a:pt x="15392" y="4199"/>
                  </a:lnTo>
                  <a:lnTo>
                    <a:pt x="15067" y="4300"/>
                  </a:lnTo>
                  <a:lnTo>
                    <a:pt x="14723" y="4381"/>
                  </a:lnTo>
                  <a:lnTo>
                    <a:pt x="13952" y="4543"/>
                  </a:lnTo>
                  <a:lnTo>
                    <a:pt x="13161" y="4665"/>
                  </a:lnTo>
                  <a:lnTo>
                    <a:pt x="12492" y="4767"/>
                  </a:lnTo>
                  <a:lnTo>
                    <a:pt x="11823" y="4848"/>
                  </a:lnTo>
                  <a:lnTo>
                    <a:pt x="11823" y="4848"/>
                  </a:lnTo>
                  <a:lnTo>
                    <a:pt x="12533" y="4908"/>
                  </a:lnTo>
                  <a:lnTo>
                    <a:pt x="13263" y="5010"/>
                  </a:lnTo>
                  <a:lnTo>
                    <a:pt x="14114" y="5152"/>
                  </a:lnTo>
                  <a:lnTo>
                    <a:pt x="14540" y="5233"/>
                  </a:lnTo>
                  <a:lnTo>
                    <a:pt x="14966" y="5314"/>
                  </a:lnTo>
                  <a:lnTo>
                    <a:pt x="15351" y="5415"/>
                  </a:lnTo>
                  <a:lnTo>
                    <a:pt x="15696" y="5517"/>
                  </a:lnTo>
                  <a:lnTo>
                    <a:pt x="16000" y="5639"/>
                  </a:lnTo>
                  <a:lnTo>
                    <a:pt x="16223" y="5780"/>
                  </a:lnTo>
                  <a:lnTo>
                    <a:pt x="16304" y="5841"/>
                  </a:lnTo>
                  <a:lnTo>
                    <a:pt x="16365" y="5922"/>
                  </a:lnTo>
                  <a:lnTo>
                    <a:pt x="16406" y="5983"/>
                  </a:lnTo>
                  <a:lnTo>
                    <a:pt x="16426" y="6064"/>
                  </a:lnTo>
                  <a:lnTo>
                    <a:pt x="16426" y="6064"/>
                  </a:lnTo>
                  <a:lnTo>
                    <a:pt x="16406" y="6145"/>
                  </a:lnTo>
                  <a:lnTo>
                    <a:pt x="16365" y="6206"/>
                  </a:lnTo>
                  <a:lnTo>
                    <a:pt x="16304" y="6267"/>
                  </a:lnTo>
                  <a:lnTo>
                    <a:pt x="16223" y="6328"/>
                  </a:lnTo>
                  <a:lnTo>
                    <a:pt x="16102" y="6369"/>
                  </a:lnTo>
                  <a:lnTo>
                    <a:pt x="15980" y="6409"/>
                  </a:lnTo>
                  <a:lnTo>
                    <a:pt x="15656" y="6490"/>
                  </a:lnTo>
                  <a:lnTo>
                    <a:pt x="15291" y="6531"/>
                  </a:lnTo>
                  <a:lnTo>
                    <a:pt x="14885" y="6571"/>
                  </a:lnTo>
                  <a:lnTo>
                    <a:pt x="14439" y="6592"/>
                  </a:lnTo>
                  <a:lnTo>
                    <a:pt x="13993" y="6612"/>
                  </a:lnTo>
                  <a:lnTo>
                    <a:pt x="13100" y="6592"/>
                  </a:lnTo>
                  <a:lnTo>
                    <a:pt x="12310" y="6571"/>
                  </a:lnTo>
                  <a:lnTo>
                    <a:pt x="11559" y="6531"/>
                  </a:lnTo>
                  <a:lnTo>
                    <a:pt x="11559" y="6531"/>
                  </a:lnTo>
                  <a:lnTo>
                    <a:pt x="12249" y="6754"/>
                  </a:lnTo>
                  <a:lnTo>
                    <a:pt x="12958" y="7017"/>
                  </a:lnTo>
                  <a:lnTo>
                    <a:pt x="13749" y="7342"/>
                  </a:lnTo>
                  <a:lnTo>
                    <a:pt x="14540" y="7687"/>
                  </a:lnTo>
                  <a:lnTo>
                    <a:pt x="14885" y="7869"/>
                  </a:lnTo>
                  <a:lnTo>
                    <a:pt x="15189" y="8031"/>
                  </a:lnTo>
                  <a:lnTo>
                    <a:pt x="15453" y="8214"/>
                  </a:lnTo>
                  <a:lnTo>
                    <a:pt x="15635" y="8356"/>
                  </a:lnTo>
                  <a:lnTo>
                    <a:pt x="15696" y="8437"/>
                  </a:lnTo>
                  <a:lnTo>
                    <a:pt x="15716" y="8518"/>
                  </a:lnTo>
                  <a:lnTo>
                    <a:pt x="15737" y="8579"/>
                  </a:lnTo>
                  <a:lnTo>
                    <a:pt x="15716" y="8640"/>
                  </a:lnTo>
                  <a:lnTo>
                    <a:pt x="15716" y="8640"/>
                  </a:lnTo>
                  <a:lnTo>
                    <a:pt x="15676" y="8701"/>
                  </a:lnTo>
                  <a:lnTo>
                    <a:pt x="15615" y="8741"/>
                  </a:lnTo>
                  <a:lnTo>
                    <a:pt x="15534" y="8782"/>
                  </a:lnTo>
                  <a:lnTo>
                    <a:pt x="15432" y="8802"/>
                  </a:lnTo>
                  <a:lnTo>
                    <a:pt x="15169" y="8843"/>
                  </a:lnTo>
                  <a:lnTo>
                    <a:pt x="14865" y="8863"/>
                  </a:lnTo>
                  <a:lnTo>
                    <a:pt x="14500" y="8843"/>
                  </a:lnTo>
                  <a:lnTo>
                    <a:pt x="14114" y="8822"/>
                  </a:lnTo>
                  <a:lnTo>
                    <a:pt x="13263" y="8721"/>
                  </a:lnTo>
                  <a:lnTo>
                    <a:pt x="12431" y="8579"/>
                  </a:lnTo>
                  <a:lnTo>
                    <a:pt x="11721" y="8457"/>
                  </a:lnTo>
                  <a:lnTo>
                    <a:pt x="11032" y="8315"/>
                  </a:lnTo>
                  <a:lnTo>
                    <a:pt x="11032" y="8315"/>
                  </a:lnTo>
                  <a:lnTo>
                    <a:pt x="11559" y="8599"/>
                  </a:lnTo>
                  <a:lnTo>
                    <a:pt x="12086" y="8883"/>
                  </a:lnTo>
                  <a:lnTo>
                    <a:pt x="12675" y="9248"/>
                  </a:lnTo>
                  <a:lnTo>
                    <a:pt x="13263" y="9654"/>
                  </a:lnTo>
                  <a:lnTo>
                    <a:pt x="13506" y="9857"/>
                  </a:lnTo>
                  <a:lnTo>
                    <a:pt x="13749" y="10039"/>
                  </a:lnTo>
                  <a:lnTo>
                    <a:pt x="13912" y="10222"/>
                  </a:lnTo>
                  <a:lnTo>
                    <a:pt x="14054" y="10404"/>
                  </a:lnTo>
                  <a:lnTo>
                    <a:pt x="14094" y="10485"/>
                  </a:lnTo>
                  <a:lnTo>
                    <a:pt x="14114" y="10566"/>
                  </a:lnTo>
                  <a:lnTo>
                    <a:pt x="14114" y="10627"/>
                  </a:lnTo>
                  <a:lnTo>
                    <a:pt x="14094" y="10688"/>
                  </a:lnTo>
                  <a:lnTo>
                    <a:pt x="14094" y="10688"/>
                  </a:lnTo>
                  <a:lnTo>
                    <a:pt x="14054" y="10769"/>
                  </a:lnTo>
                  <a:lnTo>
                    <a:pt x="13972" y="10810"/>
                  </a:lnTo>
                  <a:lnTo>
                    <a:pt x="13891" y="10850"/>
                  </a:lnTo>
                  <a:lnTo>
                    <a:pt x="13770" y="10870"/>
                  </a:lnTo>
                  <a:lnTo>
                    <a:pt x="13628" y="10891"/>
                  </a:lnTo>
                  <a:lnTo>
                    <a:pt x="13486" y="10891"/>
                  </a:lnTo>
                  <a:lnTo>
                    <a:pt x="13121" y="10850"/>
                  </a:lnTo>
                  <a:lnTo>
                    <a:pt x="12715" y="10789"/>
                  </a:lnTo>
                  <a:lnTo>
                    <a:pt x="12269" y="10708"/>
                  </a:lnTo>
                  <a:lnTo>
                    <a:pt x="11803" y="10587"/>
                  </a:lnTo>
                  <a:lnTo>
                    <a:pt x="11336" y="10465"/>
                  </a:lnTo>
                  <a:lnTo>
                    <a:pt x="10403" y="10181"/>
                  </a:lnTo>
                  <a:lnTo>
                    <a:pt x="9592" y="9917"/>
                  </a:lnTo>
                  <a:lnTo>
                    <a:pt x="8822" y="9654"/>
                  </a:lnTo>
                  <a:lnTo>
                    <a:pt x="8822" y="9654"/>
                  </a:lnTo>
                  <a:lnTo>
                    <a:pt x="7726" y="9228"/>
                  </a:lnTo>
                  <a:lnTo>
                    <a:pt x="6550" y="8741"/>
                  </a:lnTo>
                  <a:lnTo>
                    <a:pt x="5151" y="8133"/>
                  </a:lnTo>
                  <a:lnTo>
                    <a:pt x="4401" y="7808"/>
                  </a:lnTo>
                  <a:lnTo>
                    <a:pt x="3650" y="7443"/>
                  </a:lnTo>
                  <a:lnTo>
                    <a:pt x="2920" y="7058"/>
                  </a:lnTo>
                  <a:lnTo>
                    <a:pt x="2211" y="6673"/>
                  </a:lnTo>
                  <a:lnTo>
                    <a:pt x="1541" y="6287"/>
                  </a:lnTo>
                  <a:lnTo>
                    <a:pt x="933" y="5882"/>
                  </a:lnTo>
                  <a:lnTo>
                    <a:pt x="669" y="5699"/>
                  </a:lnTo>
                  <a:lnTo>
                    <a:pt x="426" y="5497"/>
                  </a:lnTo>
                  <a:lnTo>
                    <a:pt x="183" y="5294"/>
                  </a:lnTo>
                  <a:lnTo>
                    <a:pt x="0" y="5111"/>
                  </a:lnTo>
                </a:path>
              </a:pathLst>
            </a:cu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5"/>
            <p:cNvSpPr/>
            <p:nvPr/>
          </p:nvSpPr>
          <p:spPr>
            <a:xfrm>
              <a:off x="5851593" y="2773384"/>
              <a:ext cx="148575" cy="124859"/>
            </a:xfrm>
            <a:custGeom>
              <a:avLst/>
              <a:gdLst/>
              <a:ahLst/>
              <a:cxnLst/>
              <a:rect l="l" t="t" r="r" b="b"/>
              <a:pathLst>
                <a:path w="9654" h="8113" extrusionOk="0">
                  <a:moveTo>
                    <a:pt x="1522" y="1"/>
                  </a:moveTo>
                  <a:lnTo>
                    <a:pt x="1" y="5192"/>
                  </a:lnTo>
                  <a:lnTo>
                    <a:pt x="2941" y="5293"/>
                  </a:lnTo>
                  <a:lnTo>
                    <a:pt x="3651" y="6145"/>
                  </a:lnTo>
                  <a:lnTo>
                    <a:pt x="3915" y="6023"/>
                  </a:lnTo>
                  <a:lnTo>
                    <a:pt x="4178" y="5881"/>
                  </a:lnTo>
                  <a:lnTo>
                    <a:pt x="4483" y="5740"/>
                  </a:lnTo>
                  <a:lnTo>
                    <a:pt x="4827" y="5618"/>
                  </a:lnTo>
                  <a:lnTo>
                    <a:pt x="5172" y="5516"/>
                  </a:lnTo>
                  <a:lnTo>
                    <a:pt x="5334" y="5496"/>
                  </a:lnTo>
                  <a:lnTo>
                    <a:pt x="5476" y="5476"/>
                  </a:lnTo>
                  <a:lnTo>
                    <a:pt x="5598" y="5496"/>
                  </a:lnTo>
                  <a:lnTo>
                    <a:pt x="5699" y="5537"/>
                  </a:lnTo>
                  <a:lnTo>
                    <a:pt x="5821" y="5598"/>
                  </a:lnTo>
                  <a:lnTo>
                    <a:pt x="5922" y="5699"/>
                  </a:lnTo>
                  <a:lnTo>
                    <a:pt x="6044" y="5841"/>
                  </a:lnTo>
                  <a:lnTo>
                    <a:pt x="6145" y="6003"/>
                  </a:lnTo>
                  <a:lnTo>
                    <a:pt x="6348" y="6388"/>
                  </a:lnTo>
                  <a:lnTo>
                    <a:pt x="6531" y="6794"/>
                  </a:lnTo>
                  <a:lnTo>
                    <a:pt x="6673" y="7179"/>
                  </a:lnTo>
                  <a:lnTo>
                    <a:pt x="6794" y="7524"/>
                  </a:lnTo>
                  <a:lnTo>
                    <a:pt x="6896" y="7828"/>
                  </a:lnTo>
                  <a:lnTo>
                    <a:pt x="6977" y="7909"/>
                  </a:lnTo>
                  <a:lnTo>
                    <a:pt x="7058" y="7970"/>
                  </a:lnTo>
                  <a:lnTo>
                    <a:pt x="7180" y="8051"/>
                  </a:lnTo>
                  <a:lnTo>
                    <a:pt x="7342" y="8092"/>
                  </a:lnTo>
                  <a:lnTo>
                    <a:pt x="7504" y="8112"/>
                  </a:lnTo>
                  <a:lnTo>
                    <a:pt x="7585" y="8112"/>
                  </a:lnTo>
                  <a:lnTo>
                    <a:pt x="7687" y="8092"/>
                  </a:lnTo>
                  <a:lnTo>
                    <a:pt x="7788" y="8051"/>
                  </a:lnTo>
                  <a:lnTo>
                    <a:pt x="7889" y="7990"/>
                  </a:lnTo>
                  <a:lnTo>
                    <a:pt x="7930" y="7950"/>
                  </a:lnTo>
                  <a:lnTo>
                    <a:pt x="7950" y="7909"/>
                  </a:lnTo>
                  <a:lnTo>
                    <a:pt x="8031" y="7767"/>
                  </a:lnTo>
                  <a:lnTo>
                    <a:pt x="8092" y="7585"/>
                  </a:lnTo>
                  <a:lnTo>
                    <a:pt x="8133" y="7402"/>
                  </a:lnTo>
                  <a:lnTo>
                    <a:pt x="8214" y="7078"/>
                  </a:lnTo>
                  <a:lnTo>
                    <a:pt x="8234" y="6936"/>
                  </a:lnTo>
                  <a:lnTo>
                    <a:pt x="8295" y="7058"/>
                  </a:lnTo>
                  <a:lnTo>
                    <a:pt x="8356" y="7159"/>
                  </a:lnTo>
                  <a:lnTo>
                    <a:pt x="8457" y="7260"/>
                  </a:lnTo>
                  <a:lnTo>
                    <a:pt x="8579" y="7362"/>
                  </a:lnTo>
                  <a:lnTo>
                    <a:pt x="8660" y="7382"/>
                  </a:lnTo>
                  <a:lnTo>
                    <a:pt x="8741" y="7402"/>
                  </a:lnTo>
                  <a:lnTo>
                    <a:pt x="8822" y="7402"/>
                  </a:lnTo>
                  <a:lnTo>
                    <a:pt x="8924" y="7382"/>
                  </a:lnTo>
                  <a:lnTo>
                    <a:pt x="9025" y="7342"/>
                  </a:lnTo>
                  <a:lnTo>
                    <a:pt x="9147" y="7260"/>
                  </a:lnTo>
                  <a:lnTo>
                    <a:pt x="9208" y="7200"/>
                  </a:lnTo>
                  <a:lnTo>
                    <a:pt x="9289" y="7118"/>
                  </a:lnTo>
                  <a:lnTo>
                    <a:pt x="9349" y="7017"/>
                  </a:lnTo>
                  <a:lnTo>
                    <a:pt x="9390" y="6895"/>
                  </a:lnTo>
                  <a:lnTo>
                    <a:pt x="9491" y="6632"/>
                  </a:lnTo>
                  <a:lnTo>
                    <a:pt x="9573" y="6307"/>
                  </a:lnTo>
                  <a:lnTo>
                    <a:pt x="9613" y="5963"/>
                  </a:lnTo>
                  <a:lnTo>
                    <a:pt x="9654" y="5577"/>
                  </a:lnTo>
                  <a:lnTo>
                    <a:pt x="9654" y="5172"/>
                  </a:lnTo>
                  <a:lnTo>
                    <a:pt x="9654" y="4746"/>
                  </a:lnTo>
                  <a:lnTo>
                    <a:pt x="9633" y="4340"/>
                  </a:lnTo>
                  <a:lnTo>
                    <a:pt x="9593" y="3935"/>
                  </a:lnTo>
                  <a:lnTo>
                    <a:pt x="9552" y="3549"/>
                  </a:lnTo>
                  <a:lnTo>
                    <a:pt x="9491" y="3184"/>
                  </a:lnTo>
                  <a:lnTo>
                    <a:pt x="9410" y="2860"/>
                  </a:lnTo>
                  <a:lnTo>
                    <a:pt x="9329" y="2596"/>
                  </a:lnTo>
                  <a:lnTo>
                    <a:pt x="9228" y="2373"/>
                  </a:lnTo>
                  <a:lnTo>
                    <a:pt x="9147" y="2211"/>
                  </a:lnTo>
                  <a:lnTo>
                    <a:pt x="9045" y="2130"/>
                  </a:lnTo>
                  <a:lnTo>
                    <a:pt x="8924" y="2049"/>
                  </a:lnTo>
                  <a:lnTo>
                    <a:pt x="8599" y="1866"/>
                  </a:lnTo>
                  <a:lnTo>
                    <a:pt x="8153" y="1684"/>
                  </a:lnTo>
                  <a:lnTo>
                    <a:pt x="7646" y="1501"/>
                  </a:lnTo>
                  <a:lnTo>
                    <a:pt x="7038" y="1319"/>
                  </a:lnTo>
                  <a:lnTo>
                    <a:pt x="6409" y="1136"/>
                  </a:lnTo>
                  <a:lnTo>
                    <a:pt x="5050" y="791"/>
                  </a:lnTo>
                  <a:lnTo>
                    <a:pt x="3732" y="467"/>
                  </a:lnTo>
                  <a:lnTo>
                    <a:pt x="2617" y="224"/>
                  </a:lnTo>
                  <a:lnTo>
                    <a:pt x="1522" y="1"/>
                  </a:lnTo>
                  <a:close/>
                </a:path>
              </a:pathLst>
            </a:custGeom>
            <a:solidFill>
              <a:srgbClr val="FCB58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5"/>
            <p:cNvSpPr/>
            <p:nvPr/>
          </p:nvSpPr>
          <p:spPr>
            <a:xfrm>
              <a:off x="5314175" y="2380154"/>
              <a:ext cx="567706" cy="490310"/>
            </a:xfrm>
            <a:custGeom>
              <a:avLst/>
              <a:gdLst/>
              <a:ahLst/>
              <a:cxnLst/>
              <a:rect l="l" t="t" r="r" b="b"/>
              <a:pathLst>
                <a:path w="36888" h="31859" extrusionOk="0">
                  <a:moveTo>
                    <a:pt x="8295" y="0"/>
                  </a:moveTo>
                  <a:lnTo>
                    <a:pt x="1" y="6733"/>
                  </a:lnTo>
                  <a:lnTo>
                    <a:pt x="447" y="7706"/>
                  </a:lnTo>
                  <a:lnTo>
                    <a:pt x="893" y="8659"/>
                  </a:lnTo>
                  <a:lnTo>
                    <a:pt x="1380" y="9572"/>
                  </a:lnTo>
                  <a:lnTo>
                    <a:pt x="1887" y="10484"/>
                  </a:lnTo>
                  <a:lnTo>
                    <a:pt x="2414" y="11356"/>
                  </a:lnTo>
                  <a:lnTo>
                    <a:pt x="2961" y="12208"/>
                  </a:lnTo>
                  <a:lnTo>
                    <a:pt x="3529" y="13040"/>
                  </a:lnTo>
                  <a:lnTo>
                    <a:pt x="4117" y="13851"/>
                  </a:lnTo>
                  <a:lnTo>
                    <a:pt x="4726" y="14642"/>
                  </a:lnTo>
                  <a:lnTo>
                    <a:pt x="5354" y="15412"/>
                  </a:lnTo>
                  <a:lnTo>
                    <a:pt x="6003" y="16142"/>
                  </a:lnTo>
                  <a:lnTo>
                    <a:pt x="6652" y="16872"/>
                  </a:lnTo>
                  <a:lnTo>
                    <a:pt x="7321" y="17562"/>
                  </a:lnTo>
                  <a:lnTo>
                    <a:pt x="8011" y="18251"/>
                  </a:lnTo>
                  <a:lnTo>
                    <a:pt x="8700" y="18900"/>
                  </a:lnTo>
                  <a:lnTo>
                    <a:pt x="9410" y="19549"/>
                  </a:lnTo>
                  <a:lnTo>
                    <a:pt x="10120" y="20157"/>
                  </a:lnTo>
                  <a:lnTo>
                    <a:pt x="10850" y="20746"/>
                  </a:lnTo>
                  <a:lnTo>
                    <a:pt x="11580" y="21334"/>
                  </a:lnTo>
                  <a:lnTo>
                    <a:pt x="12310" y="21881"/>
                  </a:lnTo>
                  <a:lnTo>
                    <a:pt x="13060" y="22429"/>
                  </a:lnTo>
                  <a:lnTo>
                    <a:pt x="13811" y="22956"/>
                  </a:lnTo>
                  <a:lnTo>
                    <a:pt x="14561" y="23443"/>
                  </a:lnTo>
                  <a:lnTo>
                    <a:pt x="15311" y="23929"/>
                  </a:lnTo>
                  <a:lnTo>
                    <a:pt x="16082" y="24396"/>
                  </a:lnTo>
                  <a:lnTo>
                    <a:pt x="16832" y="24842"/>
                  </a:lnTo>
                  <a:lnTo>
                    <a:pt x="17582" y="25288"/>
                  </a:lnTo>
                  <a:lnTo>
                    <a:pt x="18353" y="25694"/>
                  </a:lnTo>
                  <a:lnTo>
                    <a:pt x="19103" y="26099"/>
                  </a:lnTo>
                  <a:lnTo>
                    <a:pt x="19854" y="26464"/>
                  </a:lnTo>
                  <a:lnTo>
                    <a:pt x="21334" y="27194"/>
                  </a:lnTo>
                  <a:lnTo>
                    <a:pt x="22794" y="27843"/>
                  </a:lnTo>
                  <a:lnTo>
                    <a:pt x="24214" y="28431"/>
                  </a:lnTo>
                  <a:lnTo>
                    <a:pt x="25593" y="28979"/>
                  </a:lnTo>
                  <a:lnTo>
                    <a:pt x="26931" y="29465"/>
                  </a:lnTo>
                  <a:lnTo>
                    <a:pt x="28209" y="29891"/>
                  </a:lnTo>
                  <a:lnTo>
                    <a:pt x="29405" y="30277"/>
                  </a:lnTo>
                  <a:lnTo>
                    <a:pt x="30541" y="30601"/>
                  </a:lnTo>
                  <a:lnTo>
                    <a:pt x="31575" y="30885"/>
                  </a:lnTo>
                  <a:lnTo>
                    <a:pt x="32528" y="31128"/>
                  </a:lnTo>
                  <a:lnTo>
                    <a:pt x="33380" y="31351"/>
                  </a:lnTo>
                  <a:lnTo>
                    <a:pt x="34759" y="31635"/>
                  </a:lnTo>
                  <a:lnTo>
                    <a:pt x="35631" y="31797"/>
                  </a:lnTo>
                  <a:lnTo>
                    <a:pt x="35935" y="31858"/>
                  </a:lnTo>
                  <a:lnTo>
                    <a:pt x="35955" y="31574"/>
                  </a:lnTo>
                  <a:lnTo>
                    <a:pt x="35975" y="31189"/>
                  </a:lnTo>
                  <a:lnTo>
                    <a:pt x="36057" y="30581"/>
                  </a:lnTo>
                  <a:lnTo>
                    <a:pt x="36158" y="29729"/>
                  </a:lnTo>
                  <a:lnTo>
                    <a:pt x="36340" y="28593"/>
                  </a:lnTo>
                  <a:lnTo>
                    <a:pt x="36584" y="27174"/>
                  </a:lnTo>
                  <a:lnTo>
                    <a:pt x="36888" y="25410"/>
                  </a:lnTo>
                  <a:lnTo>
                    <a:pt x="35955" y="25146"/>
                  </a:lnTo>
                  <a:lnTo>
                    <a:pt x="35043" y="24862"/>
                  </a:lnTo>
                  <a:lnTo>
                    <a:pt x="34150" y="24578"/>
                  </a:lnTo>
                  <a:lnTo>
                    <a:pt x="33258" y="24254"/>
                  </a:lnTo>
                  <a:lnTo>
                    <a:pt x="32406" y="23929"/>
                  </a:lnTo>
                  <a:lnTo>
                    <a:pt x="31555" y="23564"/>
                  </a:lnTo>
                  <a:lnTo>
                    <a:pt x="30723" y="23199"/>
                  </a:lnTo>
                  <a:lnTo>
                    <a:pt x="29892" y="22814"/>
                  </a:lnTo>
                  <a:lnTo>
                    <a:pt x="29101" y="22408"/>
                  </a:lnTo>
                  <a:lnTo>
                    <a:pt x="28310" y="22003"/>
                  </a:lnTo>
                  <a:lnTo>
                    <a:pt x="27539" y="21577"/>
                  </a:lnTo>
                  <a:lnTo>
                    <a:pt x="26789" y="21131"/>
                  </a:lnTo>
                  <a:lnTo>
                    <a:pt x="26059" y="20664"/>
                  </a:lnTo>
                  <a:lnTo>
                    <a:pt x="25349" y="20198"/>
                  </a:lnTo>
                  <a:lnTo>
                    <a:pt x="24640" y="19732"/>
                  </a:lnTo>
                  <a:lnTo>
                    <a:pt x="23950" y="19245"/>
                  </a:lnTo>
                  <a:lnTo>
                    <a:pt x="23281" y="18738"/>
                  </a:lnTo>
                  <a:lnTo>
                    <a:pt x="22632" y="18231"/>
                  </a:lnTo>
                  <a:lnTo>
                    <a:pt x="21983" y="17724"/>
                  </a:lnTo>
                  <a:lnTo>
                    <a:pt x="21354" y="17217"/>
                  </a:lnTo>
                  <a:lnTo>
                    <a:pt x="20746" y="16690"/>
                  </a:lnTo>
                  <a:lnTo>
                    <a:pt x="20158" y="16162"/>
                  </a:lnTo>
                  <a:lnTo>
                    <a:pt x="19590" y="15615"/>
                  </a:lnTo>
                  <a:lnTo>
                    <a:pt x="19022" y="15088"/>
                  </a:lnTo>
                  <a:lnTo>
                    <a:pt x="18475" y="14540"/>
                  </a:lnTo>
                  <a:lnTo>
                    <a:pt x="17947" y="13993"/>
                  </a:lnTo>
                  <a:lnTo>
                    <a:pt x="16934" y="12918"/>
                  </a:lnTo>
                  <a:lnTo>
                    <a:pt x="15960" y="11823"/>
                  </a:lnTo>
                  <a:lnTo>
                    <a:pt x="15068" y="10748"/>
                  </a:lnTo>
                  <a:lnTo>
                    <a:pt x="14216" y="9694"/>
                  </a:lnTo>
                  <a:lnTo>
                    <a:pt x="13446" y="8659"/>
                  </a:lnTo>
                  <a:lnTo>
                    <a:pt x="12716" y="7645"/>
                  </a:lnTo>
                  <a:lnTo>
                    <a:pt x="12046" y="6672"/>
                  </a:lnTo>
                  <a:lnTo>
                    <a:pt x="11438" y="5739"/>
                  </a:lnTo>
                  <a:lnTo>
                    <a:pt x="10890" y="4847"/>
                  </a:lnTo>
                  <a:lnTo>
                    <a:pt x="10383" y="4015"/>
                  </a:lnTo>
                  <a:lnTo>
                    <a:pt x="9937" y="3245"/>
                  </a:lnTo>
                  <a:lnTo>
                    <a:pt x="9552" y="2535"/>
                  </a:lnTo>
                  <a:lnTo>
                    <a:pt x="9228" y="1886"/>
                  </a:lnTo>
                  <a:lnTo>
                    <a:pt x="8700" y="872"/>
                  </a:lnTo>
                  <a:lnTo>
                    <a:pt x="8396" y="223"/>
                  </a:lnTo>
                  <a:lnTo>
                    <a:pt x="8295" y="0"/>
                  </a:lnTo>
                  <a:close/>
                </a:path>
              </a:pathLst>
            </a:custGeom>
            <a:solidFill>
              <a:srgbClr val="E4E7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5"/>
            <p:cNvSpPr/>
            <p:nvPr/>
          </p:nvSpPr>
          <p:spPr>
            <a:xfrm>
              <a:off x="5314175" y="2380154"/>
              <a:ext cx="567706" cy="490310"/>
            </a:xfrm>
            <a:custGeom>
              <a:avLst/>
              <a:gdLst/>
              <a:ahLst/>
              <a:cxnLst/>
              <a:rect l="l" t="t" r="r" b="b"/>
              <a:pathLst>
                <a:path w="36888" h="31859" fill="none" extrusionOk="0">
                  <a:moveTo>
                    <a:pt x="8295" y="0"/>
                  </a:moveTo>
                  <a:lnTo>
                    <a:pt x="8295" y="0"/>
                  </a:lnTo>
                  <a:lnTo>
                    <a:pt x="8396" y="223"/>
                  </a:lnTo>
                  <a:lnTo>
                    <a:pt x="8700" y="872"/>
                  </a:lnTo>
                  <a:lnTo>
                    <a:pt x="9228" y="1886"/>
                  </a:lnTo>
                  <a:lnTo>
                    <a:pt x="9552" y="2535"/>
                  </a:lnTo>
                  <a:lnTo>
                    <a:pt x="9937" y="3245"/>
                  </a:lnTo>
                  <a:lnTo>
                    <a:pt x="10383" y="4015"/>
                  </a:lnTo>
                  <a:lnTo>
                    <a:pt x="10890" y="4847"/>
                  </a:lnTo>
                  <a:lnTo>
                    <a:pt x="11438" y="5739"/>
                  </a:lnTo>
                  <a:lnTo>
                    <a:pt x="12046" y="6672"/>
                  </a:lnTo>
                  <a:lnTo>
                    <a:pt x="12716" y="7645"/>
                  </a:lnTo>
                  <a:lnTo>
                    <a:pt x="13446" y="8659"/>
                  </a:lnTo>
                  <a:lnTo>
                    <a:pt x="14216" y="9694"/>
                  </a:lnTo>
                  <a:lnTo>
                    <a:pt x="15068" y="10748"/>
                  </a:lnTo>
                  <a:lnTo>
                    <a:pt x="15960" y="11823"/>
                  </a:lnTo>
                  <a:lnTo>
                    <a:pt x="16934" y="12918"/>
                  </a:lnTo>
                  <a:lnTo>
                    <a:pt x="17947" y="13993"/>
                  </a:lnTo>
                  <a:lnTo>
                    <a:pt x="18475" y="14540"/>
                  </a:lnTo>
                  <a:lnTo>
                    <a:pt x="19022" y="15088"/>
                  </a:lnTo>
                  <a:lnTo>
                    <a:pt x="19590" y="15615"/>
                  </a:lnTo>
                  <a:lnTo>
                    <a:pt x="20158" y="16162"/>
                  </a:lnTo>
                  <a:lnTo>
                    <a:pt x="20746" y="16690"/>
                  </a:lnTo>
                  <a:lnTo>
                    <a:pt x="21354" y="17217"/>
                  </a:lnTo>
                  <a:lnTo>
                    <a:pt x="21983" y="17724"/>
                  </a:lnTo>
                  <a:lnTo>
                    <a:pt x="22632" y="18231"/>
                  </a:lnTo>
                  <a:lnTo>
                    <a:pt x="23281" y="18738"/>
                  </a:lnTo>
                  <a:lnTo>
                    <a:pt x="23950" y="19245"/>
                  </a:lnTo>
                  <a:lnTo>
                    <a:pt x="24640" y="19732"/>
                  </a:lnTo>
                  <a:lnTo>
                    <a:pt x="25349" y="20198"/>
                  </a:lnTo>
                  <a:lnTo>
                    <a:pt x="26059" y="20664"/>
                  </a:lnTo>
                  <a:lnTo>
                    <a:pt x="26789" y="21131"/>
                  </a:lnTo>
                  <a:lnTo>
                    <a:pt x="27539" y="21577"/>
                  </a:lnTo>
                  <a:lnTo>
                    <a:pt x="28310" y="22003"/>
                  </a:lnTo>
                  <a:lnTo>
                    <a:pt x="29101" y="22408"/>
                  </a:lnTo>
                  <a:lnTo>
                    <a:pt x="29892" y="22814"/>
                  </a:lnTo>
                  <a:lnTo>
                    <a:pt x="30723" y="23199"/>
                  </a:lnTo>
                  <a:lnTo>
                    <a:pt x="31555" y="23564"/>
                  </a:lnTo>
                  <a:lnTo>
                    <a:pt x="32406" y="23929"/>
                  </a:lnTo>
                  <a:lnTo>
                    <a:pt x="33258" y="24254"/>
                  </a:lnTo>
                  <a:lnTo>
                    <a:pt x="34150" y="24578"/>
                  </a:lnTo>
                  <a:lnTo>
                    <a:pt x="35043" y="24862"/>
                  </a:lnTo>
                  <a:lnTo>
                    <a:pt x="35955" y="25146"/>
                  </a:lnTo>
                  <a:lnTo>
                    <a:pt x="36888" y="25410"/>
                  </a:lnTo>
                  <a:lnTo>
                    <a:pt x="36888" y="25410"/>
                  </a:lnTo>
                  <a:lnTo>
                    <a:pt x="36584" y="27174"/>
                  </a:lnTo>
                  <a:lnTo>
                    <a:pt x="36340" y="28593"/>
                  </a:lnTo>
                  <a:lnTo>
                    <a:pt x="36158" y="29729"/>
                  </a:lnTo>
                  <a:lnTo>
                    <a:pt x="36057" y="30581"/>
                  </a:lnTo>
                  <a:lnTo>
                    <a:pt x="35975" y="31189"/>
                  </a:lnTo>
                  <a:lnTo>
                    <a:pt x="35955" y="31574"/>
                  </a:lnTo>
                  <a:lnTo>
                    <a:pt x="35935" y="31858"/>
                  </a:lnTo>
                  <a:lnTo>
                    <a:pt x="35935" y="31858"/>
                  </a:lnTo>
                  <a:lnTo>
                    <a:pt x="35631" y="31797"/>
                  </a:lnTo>
                  <a:lnTo>
                    <a:pt x="34759" y="31635"/>
                  </a:lnTo>
                  <a:lnTo>
                    <a:pt x="33380" y="31351"/>
                  </a:lnTo>
                  <a:lnTo>
                    <a:pt x="32528" y="31128"/>
                  </a:lnTo>
                  <a:lnTo>
                    <a:pt x="31575" y="30885"/>
                  </a:lnTo>
                  <a:lnTo>
                    <a:pt x="30541" y="30601"/>
                  </a:lnTo>
                  <a:lnTo>
                    <a:pt x="29405" y="30277"/>
                  </a:lnTo>
                  <a:lnTo>
                    <a:pt x="28209" y="29891"/>
                  </a:lnTo>
                  <a:lnTo>
                    <a:pt x="26931" y="29465"/>
                  </a:lnTo>
                  <a:lnTo>
                    <a:pt x="25593" y="28979"/>
                  </a:lnTo>
                  <a:lnTo>
                    <a:pt x="24214" y="28431"/>
                  </a:lnTo>
                  <a:lnTo>
                    <a:pt x="22794" y="27843"/>
                  </a:lnTo>
                  <a:lnTo>
                    <a:pt x="21334" y="27194"/>
                  </a:lnTo>
                  <a:lnTo>
                    <a:pt x="19854" y="26464"/>
                  </a:lnTo>
                  <a:lnTo>
                    <a:pt x="19103" y="26099"/>
                  </a:lnTo>
                  <a:lnTo>
                    <a:pt x="18353" y="25694"/>
                  </a:lnTo>
                  <a:lnTo>
                    <a:pt x="17582" y="25288"/>
                  </a:lnTo>
                  <a:lnTo>
                    <a:pt x="16832" y="24842"/>
                  </a:lnTo>
                  <a:lnTo>
                    <a:pt x="16082" y="24396"/>
                  </a:lnTo>
                  <a:lnTo>
                    <a:pt x="15311" y="23929"/>
                  </a:lnTo>
                  <a:lnTo>
                    <a:pt x="14561" y="23443"/>
                  </a:lnTo>
                  <a:lnTo>
                    <a:pt x="13811" y="22956"/>
                  </a:lnTo>
                  <a:lnTo>
                    <a:pt x="13060" y="22429"/>
                  </a:lnTo>
                  <a:lnTo>
                    <a:pt x="12310" y="21881"/>
                  </a:lnTo>
                  <a:lnTo>
                    <a:pt x="11580" y="21334"/>
                  </a:lnTo>
                  <a:lnTo>
                    <a:pt x="10850" y="20746"/>
                  </a:lnTo>
                  <a:lnTo>
                    <a:pt x="10120" y="20157"/>
                  </a:lnTo>
                  <a:lnTo>
                    <a:pt x="9410" y="19549"/>
                  </a:lnTo>
                  <a:lnTo>
                    <a:pt x="8700" y="18900"/>
                  </a:lnTo>
                  <a:lnTo>
                    <a:pt x="8011" y="18251"/>
                  </a:lnTo>
                  <a:lnTo>
                    <a:pt x="7321" y="17562"/>
                  </a:lnTo>
                  <a:lnTo>
                    <a:pt x="6652" y="16872"/>
                  </a:lnTo>
                  <a:lnTo>
                    <a:pt x="6003" y="16142"/>
                  </a:lnTo>
                  <a:lnTo>
                    <a:pt x="5354" y="15412"/>
                  </a:lnTo>
                  <a:lnTo>
                    <a:pt x="4726" y="14642"/>
                  </a:lnTo>
                  <a:lnTo>
                    <a:pt x="4117" y="13851"/>
                  </a:lnTo>
                  <a:lnTo>
                    <a:pt x="3529" y="13040"/>
                  </a:lnTo>
                  <a:lnTo>
                    <a:pt x="2961" y="12208"/>
                  </a:lnTo>
                  <a:lnTo>
                    <a:pt x="2414" y="11356"/>
                  </a:lnTo>
                  <a:lnTo>
                    <a:pt x="1887" y="10484"/>
                  </a:lnTo>
                  <a:lnTo>
                    <a:pt x="1380" y="9572"/>
                  </a:lnTo>
                  <a:lnTo>
                    <a:pt x="893" y="8659"/>
                  </a:lnTo>
                  <a:lnTo>
                    <a:pt x="447" y="7706"/>
                  </a:lnTo>
                  <a:lnTo>
                    <a:pt x="1" y="6733"/>
                  </a:lnTo>
                </a:path>
              </a:pathLst>
            </a:cu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5"/>
            <p:cNvSpPr/>
            <p:nvPr/>
          </p:nvSpPr>
          <p:spPr>
            <a:xfrm>
              <a:off x="4515218" y="2225039"/>
              <a:ext cx="1098584" cy="1655348"/>
            </a:xfrm>
            <a:custGeom>
              <a:avLst/>
              <a:gdLst/>
              <a:ahLst/>
              <a:cxnLst/>
              <a:rect l="l" t="t" r="r" b="b"/>
              <a:pathLst>
                <a:path w="71383" h="107560" extrusionOk="0">
                  <a:moveTo>
                    <a:pt x="54713" y="1"/>
                  </a:moveTo>
                  <a:lnTo>
                    <a:pt x="54368" y="82"/>
                  </a:lnTo>
                  <a:lnTo>
                    <a:pt x="53922" y="203"/>
                  </a:lnTo>
                  <a:lnTo>
                    <a:pt x="53354" y="406"/>
                  </a:lnTo>
                  <a:lnTo>
                    <a:pt x="52624" y="650"/>
                  </a:lnTo>
                  <a:lnTo>
                    <a:pt x="51793" y="1015"/>
                  </a:lnTo>
                  <a:lnTo>
                    <a:pt x="50820" y="1440"/>
                  </a:lnTo>
                  <a:lnTo>
                    <a:pt x="50313" y="1704"/>
                  </a:lnTo>
                  <a:lnTo>
                    <a:pt x="49765" y="1988"/>
                  </a:lnTo>
                  <a:lnTo>
                    <a:pt x="49197" y="2312"/>
                  </a:lnTo>
                  <a:lnTo>
                    <a:pt x="48609" y="2637"/>
                  </a:lnTo>
                  <a:lnTo>
                    <a:pt x="48001" y="3022"/>
                  </a:lnTo>
                  <a:lnTo>
                    <a:pt x="47372" y="3428"/>
                  </a:lnTo>
                  <a:lnTo>
                    <a:pt x="46723" y="3874"/>
                  </a:lnTo>
                  <a:lnTo>
                    <a:pt x="46074" y="4340"/>
                  </a:lnTo>
                  <a:lnTo>
                    <a:pt x="45405" y="4847"/>
                  </a:lnTo>
                  <a:lnTo>
                    <a:pt x="44716" y="5395"/>
                  </a:lnTo>
                  <a:lnTo>
                    <a:pt x="44026" y="5983"/>
                  </a:lnTo>
                  <a:lnTo>
                    <a:pt x="43316" y="6612"/>
                  </a:lnTo>
                  <a:lnTo>
                    <a:pt x="42607" y="7260"/>
                  </a:lnTo>
                  <a:lnTo>
                    <a:pt x="41897" y="7970"/>
                  </a:lnTo>
                  <a:lnTo>
                    <a:pt x="41167" y="8721"/>
                  </a:lnTo>
                  <a:lnTo>
                    <a:pt x="40437" y="9511"/>
                  </a:lnTo>
                  <a:lnTo>
                    <a:pt x="39727" y="10343"/>
                  </a:lnTo>
                  <a:lnTo>
                    <a:pt x="38997" y="11235"/>
                  </a:lnTo>
                  <a:lnTo>
                    <a:pt x="38267" y="12168"/>
                  </a:lnTo>
                  <a:lnTo>
                    <a:pt x="37537" y="13141"/>
                  </a:lnTo>
                  <a:lnTo>
                    <a:pt x="36827" y="14176"/>
                  </a:lnTo>
                  <a:lnTo>
                    <a:pt x="36117" y="15271"/>
                  </a:lnTo>
                  <a:lnTo>
                    <a:pt x="35408" y="16386"/>
                  </a:lnTo>
                  <a:lnTo>
                    <a:pt x="34698" y="17582"/>
                  </a:lnTo>
                  <a:lnTo>
                    <a:pt x="34008" y="18819"/>
                  </a:lnTo>
                  <a:lnTo>
                    <a:pt x="33339" y="20117"/>
                  </a:lnTo>
                  <a:lnTo>
                    <a:pt x="32670" y="21476"/>
                  </a:lnTo>
                  <a:lnTo>
                    <a:pt x="32041" y="22895"/>
                  </a:lnTo>
                  <a:lnTo>
                    <a:pt x="31392" y="24376"/>
                  </a:lnTo>
                  <a:lnTo>
                    <a:pt x="30784" y="25897"/>
                  </a:lnTo>
                  <a:lnTo>
                    <a:pt x="30196" y="27499"/>
                  </a:lnTo>
                  <a:lnTo>
                    <a:pt x="29628" y="29162"/>
                  </a:lnTo>
                  <a:lnTo>
                    <a:pt x="29060" y="30885"/>
                  </a:lnTo>
                  <a:lnTo>
                    <a:pt x="28533" y="32670"/>
                  </a:lnTo>
                  <a:lnTo>
                    <a:pt x="28046" y="34536"/>
                  </a:lnTo>
                  <a:lnTo>
                    <a:pt x="27560" y="36462"/>
                  </a:lnTo>
                  <a:lnTo>
                    <a:pt x="27114" y="38449"/>
                  </a:lnTo>
                  <a:lnTo>
                    <a:pt x="26688" y="40518"/>
                  </a:lnTo>
                  <a:lnTo>
                    <a:pt x="26302" y="42667"/>
                  </a:lnTo>
                  <a:lnTo>
                    <a:pt x="25958" y="44878"/>
                  </a:lnTo>
                  <a:lnTo>
                    <a:pt x="25633" y="47149"/>
                  </a:lnTo>
                  <a:lnTo>
                    <a:pt x="25349" y="49522"/>
                  </a:lnTo>
                  <a:lnTo>
                    <a:pt x="25106" y="51955"/>
                  </a:lnTo>
                  <a:lnTo>
                    <a:pt x="24903" y="54470"/>
                  </a:lnTo>
                  <a:lnTo>
                    <a:pt x="24741" y="57065"/>
                  </a:lnTo>
                  <a:lnTo>
                    <a:pt x="24599" y="59742"/>
                  </a:lnTo>
                  <a:lnTo>
                    <a:pt x="24518" y="62480"/>
                  </a:lnTo>
                  <a:lnTo>
                    <a:pt x="24477" y="65319"/>
                  </a:lnTo>
                  <a:lnTo>
                    <a:pt x="24498" y="68239"/>
                  </a:lnTo>
                  <a:lnTo>
                    <a:pt x="24558" y="71261"/>
                  </a:lnTo>
                  <a:lnTo>
                    <a:pt x="24558" y="71504"/>
                  </a:lnTo>
                  <a:lnTo>
                    <a:pt x="24538" y="71727"/>
                  </a:lnTo>
                  <a:lnTo>
                    <a:pt x="24477" y="71950"/>
                  </a:lnTo>
                  <a:lnTo>
                    <a:pt x="24376" y="72173"/>
                  </a:lnTo>
                  <a:lnTo>
                    <a:pt x="24254" y="72376"/>
                  </a:lnTo>
                  <a:lnTo>
                    <a:pt x="24092" y="72558"/>
                  </a:lnTo>
                  <a:lnTo>
                    <a:pt x="23909" y="72741"/>
                  </a:lnTo>
                  <a:lnTo>
                    <a:pt x="23707" y="72923"/>
                  </a:lnTo>
                  <a:lnTo>
                    <a:pt x="23463" y="73086"/>
                  </a:lnTo>
                  <a:lnTo>
                    <a:pt x="23200" y="73228"/>
                  </a:lnTo>
                  <a:lnTo>
                    <a:pt x="22896" y="73390"/>
                  </a:lnTo>
                  <a:lnTo>
                    <a:pt x="22591" y="73512"/>
                  </a:lnTo>
                  <a:lnTo>
                    <a:pt x="22247" y="73653"/>
                  </a:lnTo>
                  <a:lnTo>
                    <a:pt x="21882" y="73775"/>
                  </a:lnTo>
                  <a:lnTo>
                    <a:pt x="21496" y="73877"/>
                  </a:lnTo>
                  <a:lnTo>
                    <a:pt x="21091" y="73998"/>
                  </a:lnTo>
                  <a:lnTo>
                    <a:pt x="20239" y="74181"/>
                  </a:lnTo>
                  <a:lnTo>
                    <a:pt x="19326" y="74343"/>
                  </a:lnTo>
                  <a:lnTo>
                    <a:pt x="18353" y="74465"/>
                  </a:lnTo>
                  <a:lnTo>
                    <a:pt x="17339" y="74586"/>
                  </a:lnTo>
                  <a:lnTo>
                    <a:pt x="16264" y="74667"/>
                  </a:lnTo>
                  <a:lnTo>
                    <a:pt x="15190" y="74728"/>
                  </a:lnTo>
                  <a:lnTo>
                    <a:pt x="14074" y="74789"/>
                  </a:lnTo>
                  <a:lnTo>
                    <a:pt x="12959" y="74809"/>
                  </a:lnTo>
                  <a:lnTo>
                    <a:pt x="11844" y="74830"/>
                  </a:lnTo>
                  <a:lnTo>
                    <a:pt x="10728" y="74830"/>
                  </a:lnTo>
                  <a:lnTo>
                    <a:pt x="8579" y="74789"/>
                  </a:lnTo>
                  <a:lnTo>
                    <a:pt x="6530" y="74728"/>
                  </a:lnTo>
                  <a:lnTo>
                    <a:pt x="4726" y="74647"/>
                  </a:lnTo>
                  <a:lnTo>
                    <a:pt x="3184" y="74546"/>
                  </a:lnTo>
                  <a:lnTo>
                    <a:pt x="1988" y="74465"/>
                  </a:lnTo>
                  <a:lnTo>
                    <a:pt x="954" y="74384"/>
                  </a:lnTo>
                  <a:lnTo>
                    <a:pt x="1" y="83002"/>
                  </a:lnTo>
                  <a:lnTo>
                    <a:pt x="954" y="83205"/>
                  </a:lnTo>
                  <a:lnTo>
                    <a:pt x="2069" y="83428"/>
                  </a:lnTo>
                  <a:lnTo>
                    <a:pt x="3549" y="83692"/>
                  </a:lnTo>
                  <a:lnTo>
                    <a:pt x="5334" y="83996"/>
                  </a:lnTo>
                  <a:lnTo>
                    <a:pt x="7382" y="84300"/>
                  </a:lnTo>
                  <a:lnTo>
                    <a:pt x="8498" y="84442"/>
                  </a:lnTo>
                  <a:lnTo>
                    <a:pt x="9633" y="84564"/>
                  </a:lnTo>
                  <a:lnTo>
                    <a:pt x="10830" y="84685"/>
                  </a:lnTo>
                  <a:lnTo>
                    <a:pt x="12067" y="84807"/>
                  </a:lnTo>
                  <a:lnTo>
                    <a:pt x="13324" y="84888"/>
                  </a:lnTo>
                  <a:lnTo>
                    <a:pt x="14601" y="84969"/>
                  </a:lnTo>
                  <a:lnTo>
                    <a:pt x="15899" y="85010"/>
                  </a:lnTo>
                  <a:lnTo>
                    <a:pt x="17217" y="85030"/>
                  </a:lnTo>
                  <a:lnTo>
                    <a:pt x="18515" y="85030"/>
                  </a:lnTo>
                  <a:lnTo>
                    <a:pt x="19833" y="84989"/>
                  </a:lnTo>
                  <a:lnTo>
                    <a:pt x="21131" y="84908"/>
                  </a:lnTo>
                  <a:lnTo>
                    <a:pt x="22409" y="84807"/>
                  </a:lnTo>
                  <a:lnTo>
                    <a:pt x="23686" y="84645"/>
                  </a:lnTo>
                  <a:lnTo>
                    <a:pt x="24315" y="84564"/>
                  </a:lnTo>
                  <a:lnTo>
                    <a:pt x="24923" y="84462"/>
                  </a:lnTo>
                  <a:lnTo>
                    <a:pt x="25532" y="84340"/>
                  </a:lnTo>
                  <a:lnTo>
                    <a:pt x="26120" y="84219"/>
                  </a:lnTo>
                  <a:lnTo>
                    <a:pt x="26708" y="84077"/>
                  </a:lnTo>
                  <a:lnTo>
                    <a:pt x="27296" y="83935"/>
                  </a:lnTo>
                  <a:lnTo>
                    <a:pt x="27864" y="83752"/>
                  </a:lnTo>
                  <a:lnTo>
                    <a:pt x="28411" y="83590"/>
                  </a:lnTo>
                  <a:lnTo>
                    <a:pt x="28939" y="83387"/>
                  </a:lnTo>
                  <a:lnTo>
                    <a:pt x="29466" y="83185"/>
                  </a:lnTo>
                  <a:lnTo>
                    <a:pt x="29993" y="82961"/>
                  </a:lnTo>
                  <a:lnTo>
                    <a:pt x="30480" y="82738"/>
                  </a:lnTo>
                  <a:lnTo>
                    <a:pt x="30967" y="82475"/>
                  </a:lnTo>
                  <a:lnTo>
                    <a:pt x="31433" y="82211"/>
                  </a:lnTo>
                  <a:lnTo>
                    <a:pt x="31818" y="81968"/>
                  </a:lnTo>
                  <a:lnTo>
                    <a:pt x="32204" y="81684"/>
                  </a:lnTo>
                  <a:lnTo>
                    <a:pt x="32569" y="81380"/>
                  </a:lnTo>
                  <a:lnTo>
                    <a:pt x="32913" y="81055"/>
                  </a:lnTo>
                  <a:lnTo>
                    <a:pt x="33258" y="80711"/>
                  </a:lnTo>
                  <a:lnTo>
                    <a:pt x="33583" y="80346"/>
                  </a:lnTo>
                  <a:lnTo>
                    <a:pt x="33907" y="79960"/>
                  </a:lnTo>
                  <a:lnTo>
                    <a:pt x="34211" y="79555"/>
                  </a:lnTo>
                  <a:lnTo>
                    <a:pt x="34495" y="79129"/>
                  </a:lnTo>
                  <a:lnTo>
                    <a:pt x="34779" y="78683"/>
                  </a:lnTo>
                  <a:lnTo>
                    <a:pt x="35043" y="78216"/>
                  </a:lnTo>
                  <a:lnTo>
                    <a:pt x="35306" y="77750"/>
                  </a:lnTo>
                  <a:lnTo>
                    <a:pt x="35550" y="77243"/>
                  </a:lnTo>
                  <a:lnTo>
                    <a:pt x="35793" y="76736"/>
                  </a:lnTo>
                  <a:lnTo>
                    <a:pt x="36016" y="76229"/>
                  </a:lnTo>
                  <a:lnTo>
                    <a:pt x="36239" y="75702"/>
                  </a:lnTo>
                  <a:lnTo>
                    <a:pt x="36442" y="75154"/>
                  </a:lnTo>
                  <a:lnTo>
                    <a:pt x="36645" y="74607"/>
                  </a:lnTo>
                  <a:lnTo>
                    <a:pt x="37010" y="73491"/>
                  </a:lnTo>
                  <a:lnTo>
                    <a:pt x="37354" y="72335"/>
                  </a:lnTo>
                  <a:lnTo>
                    <a:pt x="37659" y="71139"/>
                  </a:lnTo>
                  <a:lnTo>
                    <a:pt x="37922" y="69963"/>
                  </a:lnTo>
                  <a:lnTo>
                    <a:pt x="38145" y="68746"/>
                  </a:lnTo>
                  <a:lnTo>
                    <a:pt x="38368" y="67550"/>
                  </a:lnTo>
                  <a:lnTo>
                    <a:pt x="38551" y="66373"/>
                  </a:lnTo>
                  <a:lnTo>
                    <a:pt x="38693" y="65197"/>
                  </a:lnTo>
                  <a:lnTo>
                    <a:pt x="38835" y="64041"/>
                  </a:lnTo>
                  <a:lnTo>
                    <a:pt x="38956" y="62906"/>
                  </a:lnTo>
                  <a:lnTo>
                    <a:pt x="39038" y="61811"/>
                  </a:lnTo>
                  <a:lnTo>
                    <a:pt x="39119" y="60776"/>
                  </a:lnTo>
                  <a:lnTo>
                    <a:pt x="39179" y="59783"/>
                  </a:lnTo>
                  <a:lnTo>
                    <a:pt x="39261" y="57998"/>
                  </a:lnTo>
                  <a:lnTo>
                    <a:pt x="39281" y="56498"/>
                  </a:lnTo>
                  <a:lnTo>
                    <a:pt x="39301" y="55342"/>
                  </a:lnTo>
                  <a:lnTo>
                    <a:pt x="39281" y="54348"/>
                  </a:lnTo>
                  <a:lnTo>
                    <a:pt x="42647" y="54348"/>
                  </a:lnTo>
                  <a:lnTo>
                    <a:pt x="42809" y="54510"/>
                  </a:lnTo>
                  <a:lnTo>
                    <a:pt x="43276" y="54956"/>
                  </a:lnTo>
                  <a:lnTo>
                    <a:pt x="44006" y="55686"/>
                  </a:lnTo>
                  <a:lnTo>
                    <a:pt x="44959" y="56721"/>
                  </a:lnTo>
                  <a:lnTo>
                    <a:pt x="45507" y="57349"/>
                  </a:lnTo>
                  <a:lnTo>
                    <a:pt x="46115" y="58039"/>
                  </a:lnTo>
                  <a:lnTo>
                    <a:pt x="46744" y="58789"/>
                  </a:lnTo>
                  <a:lnTo>
                    <a:pt x="47413" y="59621"/>
                  </a:lnTo>
                  <a:lnTo>
                    <a:pt x="48102" y="60513"/>
                  </a:lnTo>
                  <a:lnTo>
                    <a:pt x="48812" y="61466"/>
                  </a:lnTo>
                  <a:lnTo>
                    <a:pt x="49562" y="62500"/>
                  </a:lnTo>
                  <a:lnTo>
                    <a:pt x="50313" y="63595"/>
                  </a:lnTo>
                  <a:lnTo>
                    <a:pt x="51083" y="64751"/>
                  </a:lnTo>
                  <a:lnTo>
                    <a:pt x="51854" y="65988"/>
                  </a:lnTo>
                  <a:lnTo>
                    <a:pt x="52645" y="67286"/>
                  </a:lnTo>
                  <a:lnTo>
                    <a:pt x="53415" y="68624"/>
                  </a:lnTo>
                  <a:lnTo>
                    <a:pt x="54186" y="70044"/>
                  </a:lnTo>
                  <a:lnTo>
                    <a:pt x="54936" y="71524"/>
                  </a:lnTo>
                  <a:lnTo>
                    <a:pt x="55687" y="73065"/>
                  </a:lnTo>
                  <a:lnTo>
                    <a:pt x="56396" y="74667"/>
                  </a:lnTo>
                  <a:lnTo>
                    <a:pt x="56741" y="75499"/>
                  </a:lnTo>
                  <a:lnTo>
                    <a:pt x="57086" y="76351"/>
                  </a:lnTo>
                  <a:lnTo>
                    <a:pt x="57430" y="77202"/>
                  </a:lnTo>
                  <a:lnTo>
                    <a:pt x="57755" y="78074"/>
                  </a:lnTo>
                  <a:lnTo>
                    <a:pt x="58079" y="78946"/>
                  </a:lnTo>
                  <a:lnTo>
                    <a:pt x="58384" y="79859"/>
                  </a:lnTo>
                  <a:lnTo>
                    <a:pt x="58688" y="80771"/>
                  </a:lnTo>
                  <a:lnTo>
                    <a:pt x="58972" y="81684"/>
                  </a:lnTo>
                  <a:lnTo>
                    <a:pt x="59256" y="82637"/>
                  </a:lnTo>
                  <a:lnTo>
                    <a:pt x="59519" y="83590"/>
                  </a:lnTo>
                  <a:lnTo>
                    <a:pt x="59783" y="84564"/>
                  </a:lnTo>
                  <a:lnTo>
                    <a:pt x="60026" y="85557"/>
                  </a:lnTo>
                  <a:lnTo>
                    <a:pt x="60270" y="86551"/>
                  </a:lnTo>
                  <a:lnTo>
                    <a:pt x="60472" y="87565"/>
                  </a:lnTo>
                  <a:lnTo>
                    <a:pt x="60675" y="88599"/>
                  </a:lnTo>
                  <a:lnTo>
                    <a:pt x="60858" y="89633"/>
                  </a:lnTo>
                  <a:lnTo>
                    <a:pt x="60878" y="89694"/>
                  </a:lnTo>
                  <a:lnTo>
                    <a:pt x="61040" y="90708"/>
                  </a:lnTo>
                  <a:lnTo>
                    <a:pt x="61202" y="91742"/>
                  </a:lnTo>
                  <a:lnTo>
                    <a:pt x="61324" y="92797"/>
                  </a:lnTo>
                  <a:lnTo>
                    <a:pt x="61446" y="93851"/>
                  </a:lnTo>
                  <a:lnTo>
                    <a:pt x="61547" y="94926"/>
                  </a:lnTo>
                  <a:lnTo>
                    <a:pt x="61649" y="96021"/>
                  </a:lnTo>
                  <a:lnTo>
                    <a:pt x="61709" y="97116"/>
                  </a:lnTo>
                  <a:lnTo>
                    <a:pt x="61770" y="98231"/>
                  </a:lnTo>
                  <a:lnTo>
                    <a:pt x="61790" y="99347"/>
                  </a:lnTo>
                  <a:lnTo>
                    <a:pt x="61811" y="100482"/>
                  </a:lnTo>
                  <a:lnTo>
                    <a:pt x="61811" y="101638"/>
                  </a:lnTo>
                  <a:lnTo>
                    <a:pt x="61770" y="102794"/>
                  </a:lnTo>
                  <a:lnTo>
                    <a:pt x="61730" y="103970"/>
                  </a:lnTo>
                  <a:lnTo>
                    <a:pt x="61669" y="105147"/>
                  </a:lnTo>
                  <a:lnTo>
                    <a:pt x="61567" y="106343"/>
                  </a:lnTo>
                  <a:lnTo>
                    <a:pt x="61466" y="107560"/>
                  </a:lnTo>
                  <a:lnTo>
                    <a:pt x="70450" y="107560"/>
                  </a:lnTo>
                  <a:lnTo>
                    <a:pt x="70510" y="107154"/>
                  </a:lnTo>
                  <a:lnTo>
                    <a:pt x="70693" y="106019"/>
                  </a:lnTo>
                  <a:lnTo>
                    <a:pt x="70815" y="105187"/>
                  </a:lnTo>
                  <a:lnTo>
                    <a:pt x="70936" y="104214"/>
                  </a:lnTo>
                  <a:lnTo>
                    <a:pt x="71058" y="103058"/>
                  </a:lnTo>
                  <a:lnTo>
                    <a:pt x="71159" y="101780"/>
                  </a:lnTo>
                  <a:lnTo>
                    <a:pt x="71261" y="100340"/>
                  </a:lnTo>
                  <a:lnTo>
                    <a:pt x="71322" y="98779"/>
                  </a:lnTo>
                  <a:lnTo>
                    <a:pt x="71382" y="97096"/>
                  </a:lnTo>
                  <a:lnTo>
                    <a:pt x="71382" y="95291"/>
                  </a:lnTo>
                  <a:lnTo>
                    <a:pt x="71342" y="93385"/>
                  </a:lnTo>
                  <a:lnTo>
                    <a:pt x="71322" y="92391"/>
                  </a:lnTo>
                  <a:lnTo>
                    <a:pt x="71261" y="91357"/>
                  </a:lnTo>
                  <a:lnTo>
                    <a:pt x="71200" y="90323"/>
                  </a:lnTo>
                  <a:lnTo>
                    <a:pt x="71119" y="89248"/>
                  </a:lnTo>
                  <a:lnTo>
                    <a:pt x="71038" y="88173"/>
                  </a:lnTo>
                  <a:lnTo>
                    <a:pt x="70916" y="87058"/>
                  </a:lnTo>
                  <a:lnTo>
                    <a:pt x="70794" y="85942"/>
                  </a:lnTo>
                  <a:lnTo>
                    <a:pt x="70632" y="84807"/>
                  </a:lnTo>
                  <a:lnTo>
                    <a:pt x="70470" y="83631"/>
                  </a:lnTo>
                  <a:lnTo>
                    <a:pt x="70287" y="82455"/>
                  </a:lnTo>
                  <a:lnTo>
                    <a:pt x="70085" y="81258"/>
                  </a:lnTo>
                  <a:lnTo>
                    <a:pt x="69841" y="80062"/>
                  </a:lnTo>
                  <a:lnTo>
                    <a:pt x="69598" y="78845"/>
                  </a:lnTo>
                  <a:lnTo>
                    <a:pt x="69314" y="77608"/>
                  </a:lnTo>
                  <a:lnTo>
                    <a:pt x="69010" y="76351"/>
                  </a:lnTo>
                  <a:lnTo>
                    <a:pt x="68685" y="75093"/>
                  </a:lnTo>
                  <a:lnTo>
                    <a:pt x="68320" y="73836"/>
                  </a:lnTo>
                  <a:lnTo>
                    <a:pt x="67955" y="72558"/>
                  </a:lnTo>
                  <a:lnTo>
                    <a:pt x="67529" y="71281"/>
                  </a:lnTo>
                  <a:lnTo>
                    <a:pt x="67104" y="69983"/>
                  </a:lnTo>
                  <a:lnTo>
                    <a:pt x="66637" y="68685"/>
                  </a:lnTo>
                  <a:lnTo>
                    <a:pt x="66130" y="67387"/>
                  </a:lnTo>
                  <a:lnTo>
                    <a:pt x="65603" y="66089"/>
                  </a:lnTo>
                  <a:lnTo>
                    <a:pt x="65035" y="64771"/>
                  </a:lnTo>
                  <a:lnTo>
                    <a:pt x="64427" y="63474"/>
                  </a:lnTo>
                  <a:lnTo>
                    <a:pt x="63798" y="62155"/>
                  </a:lnTo>
                  <a:lnTo>
                    <a:pt x="63129" y="60837"/>
                  </a:lnTo>
                  <a:lnTo>
                    <a:pt x="62419" y="59539"/>
                  </a:lnTo>
                  <a:lnTo>
                    <a:pt x="61689" y="58221"/>
                  </a:lnTo>
                  <a:lnTo>
                    <a:pt x="60898" y="56923"/>
                  </a:lnTo>
                  <a:lnTo>
                    <a:pt x="60087" y="55626"/>
                  </a:lnTo>
                  <a:lnTo>
                    <a:pt x="59235" y="54328"/>
                  </a:lnTo>
                  <a:lnTo>
                    <a:pt x="58323" y="53030"/>
                  </a:lnTo>
                  <a:lnTo>
                    <a:pt x="57390" y="51752"/>
                  </a:lnTo>
                  <a:lnTo>
                    <a:pt x="56417" y="50475"/>
                  </a:lnTo>
                  <a:lnTo>
                    <a:pt x="55382" y="49197"/>
                  </a:lnTo>
                  <a:lnTo>
                    <a:pt x="54308" y="47940"/>
                  </a:lnTo>
                  <a:lnTo>
                    <a:pt x="53192" y="46703"/>
                  </a:lnTo>
                  <a:lnTo>
                    <a:pt x="53071" y="46155"/>
                  </a:lnTo>
                  <a:lnTo>
                    <a:pt x="52949" y="45608"/>
                  </a:lnTo>
                  <a:lnTo>
                    <a:pt x="52868" y="45060"/>
                  </a:lnTo>
                  <a:lnTo>
                    <a:pt x="52807" y="44513"/>
                  </a:lnTo>
                  <a:lnTo>
                    <a:pt x="52787" y="43986"/>
                  </a:lnTo>
                  <a:lnTo>
                    <a:pt x="52787" y="43438"/>
                  </a:lnTo>
                  <a:lnTo>
                    <a:pt x="52787" y="42911"/>
                  </a:lnTo>
                  <a:lnTo>
                    <a:pt x="52827" y="42383"/>
                  </a:lnTo>
                  <a:lnTo>
                    <a:pt x="52908" y="41856"/>
                  </a:lnTo>
                  <a:lnTo>
                    <a:pt x="52989" y="41309"/>
                  </a:lnTo>
                  <a:lnTo>
                    <a:pt x="53091" y="40781"/>
                  </a:lnTo>
                  <a:lnTo>
                    <a:pt x="53212" y="40254"/>
                  </a:lnTo>
                  <a:lnTo>
                    <a:pt x="53354" y="39727"/>
                  </a:lnTo>
                  <a:lnTo>
                    <a:pt x="53496" y="39200"/>
                  </a:lnTo>
                  <a:lnTo>
                    <a:pt x="53679" y="38652"/>
                  </a:lnTo>
                  <a:lnTo>
                    <a:pt x="53861" y="38125"/>
                  </a:lnTo>
                  <a:lnTo>
                    <a:pt x="54064" y="37598"/>
                  </a:lnTo>
                  <a:lnTo>
                    <a:pt x="54287" y="37050"/>
                  </a:lnTo>
                  <a:lnTo>
                    <a:pt x="54754" y="35975"/>
                  </a:lnTo>
                  <a:lnTo>
                    <a:pt x="55281" y="34880"/>
                  </a:lnTo>
                  <a:lnTo>
                    <a:pt x="55828" y="33785"/>
                  </a:lnTo>
                  <a:lnTo>
                    <a:pt x="56396" y="32670"/>
                  </a:lnTo>
                  <a:lnTo>
                    <a:pt x="57005" y="31555"/>
                  </a:lnTo>
                  <a:lnTo>
                    <a:pt x="58221" y="29243"/>
                  </a:lnTo>
                  <a:lnTo>
                    <a:pt x="58850" y="28046"/>
                  </a:lnTo>
                  <a:lnTo>
                    <a:pt x="59458" y="26850"/>
                  </a:lnTo>
                  <a:lnTo>
                    <a:pt x="60046" y="25613"/>
                  </a:lnTo>
                  <a:lnTo>
                    <a:pt x="60614" y="24335"/>
                  </a:lnTo>
                  <a:lnTo>
                    <a:pt x="61142" y="23037"/>
                  </a:lnTo>
                  <a:lnTo>
                    <a:pt x="61385" y="22389"/>
                  </a:lnTo>
                  <a:lnTo>
                    <a:pt x="61628" y="21719"/>
                  </a:lnTo>
                  <a:lnTo>
                    <a:pt x="61872" y="21030"/>
                  </a:lnTo>
                  <a:lnTo>
                    <a:pt x="62095" y="20340"/>
                  </a:lnTo>
                  <a:lnTo>
                    <a:pt x="62297" y="19651"/>
                  </a:lnTo>
                  <a:lnTo>
                    <a:pt x="62480" y="18941"/>
                  </a:lnTo>
                  <a:lnTo>
                    <a:pt x="62662" y="18231"/>
                  </a:lnTo>
                  <a:lnTo>
                    <a:pt x="62825" y="17501"/>
                  </a:lnTo>
                  <a:lnTo>
                    <a:pt x="62967" y="16771"/>
                  </a:lnTo>
                  <a:lnTo>
                    <a:pt x="63088" y="16021"/>
                  </a:lnTo>
                  <a:lnTo>
                    <a:pt x="63190" y="15271"/>
                  </a:lnTo>
                  <a:lnTo>
                    <a:pt x="63291" y="14500"/>
                  </a:lnTo>
                  <a:lnTo>
                    <a:pt x="63352" y="13729"/>
                  </a:lnTo>
                  <a:lnTo>
                    <a:pt x="63392" y="12939"/>
                  </a:lnTo>
                  <a:lnTo>
                    <a:pt x="63413" y="12127"/>
                  </a:lnTo>
                  <a:lnTo>
                    <a:pt x="63413" y="11316"/>
                  </a:lnTo>
                  <a:lnTo>
                    <a:pt x="63392" y="10485"/>
                  </a:lnTo>
                  <a:lnTo>
                    <a:pt x="63332" y="9653"/>
                  </a:lnTo>
                  <a:lnTo>
                    <a:pt x="63251" y="8802"/>
                  </a:lnTo>
                  <a:lnTo>
                    <a:pt x="63149" y="7930"/>
                  </a:lnTo>
                  <a:lnTo>
                    <a:pt x="63027" y="7037"/>
                  </a:lnTo>
                  <a:lnTo>
                    <a:pt x="62865" y="6145"/>
                  </a:lnTo>
                  <a:lnTo>
                    <a:pt x="54713" y="1"/>
                  </a:lnTo>
                  <a:close/>
                </a:path>
              </a:pathLst>
            </a:custGeom>
            <a:solidFill>
              <a:srgbClr val="FC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5"/>
            <p:cNvSpPr/>
            <p:nvPr/>
          </p:nvSpPr>
          <p:spPr>
            <a:xfrm>
              <a:off x="5005836" y="1696669"/>
              <a:ext cx="411975" cy="217861"/>
            </a:xfrm>
            <a:custGeom>
              <a:avLst/>
              <a:gdLst/>
              <a:ahLst/>
              <a:cxnLst/>
              <a:rect l="l" t="t" r="r" b="b"/>
              <a:pathLst>
                <a:path w="26769" h="14156" extrusionOk="0">
                  <a:moveTo>
                    <a:pt x="20" y="0"/>
                  </a:moveTo>
                  <a:lnTo>
                    <a:pt x="0" y="548"/>
                  </a:lnTo>
                  <a:lnTo>
                    <a:pt x="0" y="1116"/>
                  </a:lnTo>
                  <a:lnTo>
                    <a:pt x="20" y="1704"/>
                  </a:lnTo>
                  <a:lnTo>
                    <a:pt x="81" y="2312"/>
                  </a:lnTo>
                  <a:lnTo>
                    <a:pt x="162" y="2921"/>
                  </a:lnTo>
                  <a:lnTo>
                    <a:pt x="264" y="3529"/>
                  </a:lnTo>
                  <a:lnTo>
                    <a:pt x="385" y="4158"/>
                  </a:lnTo>
                  <a:lnTo>
                    <a:pt x="548" y="4786"/>
                  </a:lnTo>
                  <a:lnTo>
                    <a:pt x="730" y="5395"/>
                  </a:lnTo>
                  <a:lnTo>
                    <a:pt x="933" y="6023"/>
                  </a:lnTo>
                  <a:lnTo>
                    <a:pt x="1156" y="6632"/>
                  </a:lnTo>
                  <a:lnTo>
                    <a:pt x="1420" y="7240"/>
                  </a:lnTo>
                  <a:lnTo>
                    <a:pt x="1704" y="7848"/>
                  </a:lnTo>
                  <a:lnTo>
                    <a:pt x="2008" y="8416"/>
                  </a:lnTo>
                  <a:lnTo>
                    <a:pt x="2332" y="8984"/>
                  </a:lnTo>
                  <a:lnTo>
                    <a:pt x="2677" y="9532"/>
                  </a:lnTo>
                  <a:lnTo>
                    <a:pt x="3062" y="10039"/>
                  </a:lnTo>
                  <a:lnTo>
                    <a:pt x="3447" y="10546"/>
                  </a:lnTo>
                  <a:lnTo>
                    <a:pt x="3873" y="11012"/>
                  </a:lnTo>
                  <a:lnTo>
                    <a:pt x="4319" y="11438"/>
                  </a:lnTo>
                  <a:lnTo>
                    <a:pt x="4806" y="11843"/>
                  </a:lnTo>
                  <a:lnTo>
                    <a:pt x="5293" y="12208"/>
                  </a:lnTo>
                  <a:lnTo>
                    <a:pt x="5800" y="12533"/>
                  </a:lnTo>
                  <a:lnTo>
                    <a:pt x="6084" y="12675"/>
                  </a:lnTo>
                  <a:lnTo>
                    <a:pt x="6347" y="12817"/>
                  </a:lnTo>
                  <a:lnTo>
                    <a:pt x="6631" y="12938"/>
                  </a:lnTo>
                  <a:lnTo>
                    <a:pt x="6915" y="13040"/>
                  </a:lnTo>
                  <a:lnTo>
                    <a:pt x="7199" y="13141"/>
                  </a:lnTo>
                  <a:lnTo>
                    <a:pt x="7503" y="13243"/>
                  </a:lnTo>
                  <a:lnTo>
                    <a:pt x="7807" y="13303"/>
                  </a:lnTo>
                  <a:lnTo>
                    <a:pt x="8112" y="13364"/>
                  </a:lnTo>
                  <a:lnTo>
                    <a:pt x="8416" y="13425"/>
                  </a:lnTo>
                  <a:lnTo>
                    <a:pt x="8740" y="13466"/>
                  </a:lnTo>
                  <a:lnTo>
                    <a:pt x="9065" y="13486"/>
                  </a:lnTo>
                  <a:lnTo>
                    <a:pt x="9389" y="13486"/>
                  </a:lnTo>
                  <a:lnTo>
                    <a:pt x="9734" y="13466"/>
                  </a:lnTo>
                  <a:lnTo>
                    <a:pt x="10058" y="13445"/>
                  </a:lnTo>
                  <a:lnTo>
                    <a:pt x="10403" y="13405"/>
                  </a:lnTo>
                  <a:lnTo>
                    <a:pt x="10768" y="13364"/>
                  </a:lnTo>
                  <a:lnTo>
                    <a:pt x="11113" y="13283"/>
                  </a:lnTo>
                  <a:lnTo>
                    <a:pt x="11478" y="13202"/>
                  </a:lnTo>
                  <a:lnTo>
                    <a:pt x="12411" y="12959"/>
                  </a:lnTo>
                  <a:lnTo>
                    <a:pt x="13303" y="12776"/>
                  </a:lnTo>
                  <a:lnTo>
                    <a:pt x="14134" y="12594"/>
                  </a:lnTo>
                  <a:lnTo>
                    <a:pt x="14946" y="12472"/>
                  </a:lnTo>
                  <a:lnTo>
                    <a:pt x="15696" y="12371"/>
                  </a:lnTo>
                  <a:lnTo>
                    <a:pt x="16426" y="12289"/>
                  </a:lnTo>
                  <a:lnTo>
                    <a:pt x="17115" y="12249"/>
                  </a:lnTo>
                  <a:lnTo>
                    <a:pt x="17764" y="12208"/>
                  </a:lnTo>
                  <a:lnTo>
                    <a:pt x="18373" y="12208"/>
                  </a:lnTo>
                  <a:lnTo>
                    <a:pt x="18941" y="12229"/>
                  </a:lnTo>
                  <a:lnTo>
                    <a:pt x="19488" y="12269"/>
                  </a:lnTo>
                  <a:lnTo>
                    <a:pt x="19995" y="12330"/>
                  </a:lnTo>
                  <a:lnTo>
                    <a:pt x="20461" y="12391"/>
                  </a:lnTo>
                  <a:lnTo>
                    <a:pt x="20908" y="12472"/>
                  </a:lnTo>
                  <a:lnTo>
                    <a:pt x="21313" y="12573"/>
                  </a:lnTo>
                  <a:lnTo>
                    <a:pt x="21678" y="12675"/>
                  </a:lnTo>
                  <a:lnTo>
                    <a:pt x="22043" y="12776"/>
                  </a:lnTo>
                  <a:lnTo>
                    <a:pt x="22347" y="12898"/>
                  </a:lnTo>
                  <a:lnTo>
                    <a:pt x="22652" y="13020"/>
                  </a:lnTo>
                  <a:lnTo>
                    <a:pt x="22915" y="13141"/>
                  </a:lnTo>
                  <a:lnTo>
                    <a:pt x="23361" y="13405"/>
                  </a:lnTo>
                  <a:lnTo>
                    <a:pt x="23706" y="13628"/>
                  </a:lnTo>
                  <a:lnTo>
                    <a:pt x="23970" y="13831"/>
                  </a:lnTo>
                  <a:lnTo>
                    <a:pt x="24152" y="14013"/>
                  </a:lnTo>
                  <a:lnTo>
                    <a:pt x="24294" y="14155"/>
                  </a:lnTo>
                  <a:lnTo>
                    <a:pt x="26768" y="11093"/>
                  </a:lnTo>
                  <a:lnTo>
                    <a:pt x="26728" y="11012"/>
                  </a:lnTo>
                  <a:lnTo>
                    <a:pt x="26687" y="10890"/>
                  </a:lnTo>
                  <a:lnTo>
                    <a:pt x="26626" y="10546"/>
                  </a:lnTo>
                  <a:lnTo>
                    <a:pt x="26484" y="9430"/>
                  </a:lnTo>
                  <a:lnTo>
                    <a:pt x="26383" y="8720"/>
                  </a:lnTo>
                  <a:lnTo>
                    <a:pt x="26241" y="7950"/>
                  </a:lnTo>
                  <a:lnTo>
                    <a:pt x="26140" y="7544"/>
                  </a:lnTo>
                  <a:lnTo>
                    <a:pt x="26018" y="7139"/>
                  </a:lnTo>
                  <a:lnTo>
                    <a:pt x="25876" y="6733"/>
                  </a:lnTo>
                  <a:lnTo>
                    <a:pt x="25734" y="6307"/>
                  </a:lnTo>
                  <a:lnTo>
                    <a:pt x="25551" y="5902"/>
                  </a:lnTo>
                  <a:lnTo>
                    <a:pt x="25328" y="5496"/>
                  </a:lnTo>
                  <a:lnTo>
                    <a:pt x="25085" y="5111"/>
                  </a:lnTo>
                  <a:lnTo>
                    <a:pt x="24821" y="4725"/>
                  </a:lnTo>
                  <a:lnTo>
                    <a:pt x="24517" y="4340"/>
                  </a:lnTo>
                  <a:lnTo>
                    <a:pt x="24173" y="3995"/>
                  </a:lnTo>
                  <a:lnTo>
                    <a:pt x="23808" y="3671"/>
                  </a:lnTo>
                  <a:lnTo>
                    <a:pt x="23382" y="3347"/>
                  </a:lnTo>
                  <a:lnTo>
                    <a:pt x="22936" y="3063"/>
                  </a:lnTo>
                  <a:lnTo>
                    <a:pt x="22692" y="2941"/>
                  </a:lnTo>
                  <a:lnTo>
                    <a:pt x="22429" y="2819"/>
                  </a:lnTo>
                  <a:lnTo>
                    <a:pt x="22165" y="2698"/>
                  </a:lnTo>
                  <a:lnTo>
                    <a:pt x="21881" y="2596"/>
                  </a:lnTo>
                  <a:lnTo>
                    <a:pt x="21597" y="2495"/>
                  </a:lnTo>
                  <a:lnTo>
                    <a:pt x="21273" y="2414"/>
                  </a:lnTo>
                  <a:lnTo>
                    <a:pt x="20968" y="2333"/>
                  </a:lnTo>
                  <a:lnTo>
                    <a:pt x="20644" y="2272"/>
                  </a:lnTo>
                  <a:lnTo>
                    <a:pt x="20299" y="2211"/>
                  </a:lnTo>
                  <a:lnTo>
                    <a:pt x="19934" y="2170"/>
                  </a:lnTo>
                  <a:lnTo>
                    <a:pt x="19569" y="2130"/>
                  </a:lnTo>
                  <a:lnTo>
                    <a:pt x="19184" y="2110"/>
                  </a:lnTo>
                  <a:lnTo>
                    <a:pt x="18373" y="2110"/>
                  </a:lnTo>
                  <a:lnTo>
                    <a:pt x="16710" y="2170"/>
                  </a:lnTo>
                  <a:lnTo>
                    <a:pt x="15148" y="2272"/>
                  </a:lnTo>
                  <a:lnTo>
                    <a:pt x="13668" y="2373"/>
                  </a:lnTo>
                  <a:lnTo>
                    <a:pt x="12249" y="2515"/>
                  </a:lnTo>
                  <a:lnTo>
                    <a:pt x="10890" y="2637"/>
                  </a:lnTo>
                  <a:lnTo>
                    <a:pt x="9612" y="2738"/>
                  </a:lnTo>
                  <a:lnTo>
                    <a:pt x="8396" y="2819"/>
                  </a:lnTo>
                  <a:lnTo>
                    <a:pt x="7828" y="2840"/>
                  </a:lnTo>
                  <a:lnTo>
                    <a:pt x="7260" y="2860"/>
                  </a:lnTo>
                  <a:lnTo>
                    <a:pt x="6692" y="2840"/>
                  </a:lnTo>
                  <a:lnTo>
                    <a:pt x="6165" y="2840"/>
                  </a:lnTo>
                  <a:lnTo>
                    <a:pt x="5638" y="2799"/>
                  </a:lnTo>
                  <a:lnTo>
                    <a:pt x="5131" y="2738"/>
                  </a:lnTo>
                  <a:lnTo>
                    <a:pt x="4644" y="2657"/>
                  </a:lnTo>
                  <a:lnTo>
                    <a:pt x="4157" y="2576"/>
                  </a:lnTo>
                  <a:lnTo>
                    <a:pt x="3691" y="2454"/>
                  </a:lnTo>
                  <a:lnTo>
                    <a:pt x="3224" y="2292"/>
                  </a:lnTo>
                  <a:lnTo>
                    <a:pt x="2778" y="2130"/>
                  </a:lnTo>
                  <a:lnTo>
                    <a:pt x="2352" y="1927"/>
                  </a:lnTo>
                  <a:lnTo>
                    <a:pt x="1947" y="1684"/>
                  </a:lnTo>
                  <a:lnTo>
                    <a:pt x="1521" y="1420"/>
                  </a:lnTo>
                  <a:lnTo>
                    <a:pt x="1136" y="1116"/>
                  </a:lnTo>
                  <a:lnTo>
                    <a:pt x="750" y="791"/>
                  </a:lnTo>
                  <a:lnTo>
                    <a:pt x="385" y="426"/>
                  </a:lnTo>
                  <a:lnTo>
                    <a:pt x="20" y="0"/>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5"/>
            <p:cNvSpPr/>
            <p:nvPr/>
          </p:nvSpPr>
          <p:spPr>
            <a:xfrm>
              <a:off x="5005836" y="1696669"/>
              <a:ext cx="411975" cy="217861"/>
            </a:xfrm>
            <a:custGeom>
              <a:avLst/>
              <a:gdLst/>
              <a:ahLst/>
              <a:cxnLst/>
              <a:rect l="l" t="t" r="r" b="b"/>
              <a:pathLst>
                <a:path w="26769" h="14156" fill="none" extrusionOk="0">
                  <a:moveTo>
                    <a:pt x="26768" y="11093"/>
                  </a:moveTo>
                  <a:lnTo>
                    <a:pt x="26768" y="11093"/>
                  </a:lnTo>
                  <a:lnTo>
                    <a:pt x="26728" y="11012"/>
                  </a:lnTo>
                  <a:lnTo>
                    <a:pt x="26687" y="10890"/>
                  </a:lnTo>
                  <a:lnTo>
                    <a:pt x="26626" y="10546"/>
                  </a:lnTo>
                  <a:lnTo>
                    <a:pt x="26484" y="9430"/>
                  </a:lnTo>
                  <a:lnTo>
                    <a:pt x="26383" y="8720"/>
                  </a:lnTo>
                  <a:lnTo>
                    <a:pt x="26241" y="7950"/>
                  </a:lnTo>
                  <a:lnTo>
                    <a:pt x="26140" y="7544"/>
                  </a:lnTo>
                  <a:lnTo>
                    <a:pt x="26018" y="7139"/>
                  </a:lnTo>
                  <a:lnTo>
                    <a:pt x="25876" y="6733"/>
                  </a:lnTo>
                  <a:lnTo>
                    <a:pt x="25734" y="6307"/>
                  </a:lnTo>
                  <a:lnTo>
                    <a:pt x="25551" y="5902"/>
                  </a:lnTo>
                  <a:lnTo>
                    <a:pt x="25328" y="5496"/>
                  </a:lnTo>
                  <a:lnTo>
                    <a:pt x="25085" y="5111"/>
                  </a:lnTo>
                  <a:lnTo>
                    <a:pt x="24821" y="4725"/>
                  </a:lnTo>
                  <a:lnTo>
                    <a:pt x="24517" y="4340"/>
                  </a:lnTo>
                  <a:lnTo>
                    <a:pt x="24173" y="3995"/>
                  </a:lnTo>
                  <a:lnTo>
                    <a:pt x="23808" y="3671"/>
                  </a:lnTo>
                  <a:lnTo>
                    <a:pt x="23382" y="3347"/>
                  </a:lnTo>
                  <a:lnTo>
                    <a:pt x="22936" y="3063"/>
                  </a:lnTo>
                  <a:lnTo>
                    <a:pt x="22692" y="2941"/>
                  </a:lnTo>
                  <a:lnTo>
                    <a:pt x="22429" y="2819"/>
                  </a:lnTo>
                  <a:lnTo>
                    <a:pt x="22165" y="2698"/>
                  </a:lnTo>
                  <a:lnTo>
                    <a:pt x="21881" y="2596"/>
                  </a:lnTo>
                  <a:lnTo>
                    <a:pt x="21597" y="2495"/>
                  </a:lnTo>
                  <a:lnTo>
                    <a:pt x="21273" y="2414"/>
                  </a:lnTo>
                  <a:lnTo>
                    <a:pt x="20968" y="2333"/>
                  </a:lnTo>
                  <a:lnTo>
                    <a:pt x="20644" y="2272"/>
                  </a:lnTo>
                  <a:lnTo>
                    <a:pt x="20299" y="2211"/>
                  </a:lnTo>
                  <a:lnTo>
                    <a:pt x="19934" y="2170"/>
                  </a:lnTo>
                  <a:lnTo>
                    <a:pt x="19569" y="2130"/>
                  </a:lnTo>
                  <a:lnTo>
                    <a:pt x="19184" y="2110"/>
                  </a:lnTo>
                  <a:lnTo>
                    <a:pt x="18778" y="2110"/>
                  </a:lnTo>
                  <a:lnTo>
                    <a:pt x="18373" y="2110"/>
                  </a:lnTo>
                  <a:lnTo>
                    <a:pt x="18373" y="2110"/>
                  </a:lnTo>
                  <a:lnTo>
                    <a:pt x="16710" y="2170"/>
                  </a:lnTo>
                  <a:lnTo>
                    <a:pt x="15148" y="2272"/>
                  </a:lnTo>
                  <a:lnTo>
                    <a:pt x="13668" y="2373"/>
                  </a:lnTo>
                  <a:lnTo>
                    <a:pt x="12249" y="2515"/>
                  </a:lnTo>
                  <a:lnTo>
                    <a:pt x="10890" y="2637"/>
                  </a:lnTo>
                  <a:lnTo>
                    <a:pt x="9612" y="2738"/>
                  </a:lnTo>
                  <a:lnTo>
                    <a:pt x="8396" y="2819"/>
                  </a:lnTo>
                  <a:lnTo>
                    <a:pt x="7828" y="2840"/>
                  </a:lnTo>
                  <a:lnTo>
                    <a:pt x="7260" y="2860"/>
                  </a:lnTo>
                  <a:lnTo>
                    <a:pt x="6692" y="2840"/>
                  </a:lnTo>
                  <a:lnTo>
                    <a:pt x="6165" y="2840"/>
                  </a:lnTo>
                  <a:lnTo>
                    <a:pt x="5638" y="2799"/>
                  </a:lnTo>
                  <a:lnTo>
                    <a:pt x="5131" y="2738"/>
                  </a:lnTo>
                  <a:lnTo>
                    <a:pt x="4644" y="2657"/>
                  </a:lnTo>
                  <a:lnTo>
                    <a:pt x="4157" y="2576"/>
                  </a:lnTo>
                  <a:lnTo>
                    <a:pt x="3691" y="2454"/>
                  </a:lnTo>
                  <a:lnTo>
                    <a:pt x="3224" y="2292"/>
                  </a:lnTo>
                  <a:lnTo>
                    <a:pt x="2778" y="2130"/>
                  </a:lnTo>
                  <a:lnTo>
                    <a:pt x="2352" y="1927"/>
                  </a:lnTo>
                  <a:lnTo>
                    <a:pt x="1947" y="1684"/>
                  </a:lnTo>
                  <a:lnTo>
                    <a:pt x="1521" y="1420"/>
                  </a:lnTo>
                  <a:lnTo>
                    <a:pt x="1136" y="1116"/>
                  </a:lnTo>
                  <a:lnTo>
                    <a:pt x="750" y="791"/>
                  </a:lnTo>
                  <a:lnTo>
                    <a:pt x="385" y="426"/>
                  </a:lnTo>
                  <a:lnTo>
                    <a:pt x="20" y="0"/>
                  </a:lnTo>
                  <a:lnTo>
                    <a:pt x="20" y="0"/>
                  </a:lnTo>
                  <a:lnTo>
                    <a:pt x="0" y="548"/>
                  </a:lnTo>
                  <a:lnTo>
                    <a:pt x="0" y="1116"/>
                  </a:lnTo>
                  <a:lnTo>
                    <a:pt x="20" y="1704"/>
                  </a:lnTo>
                  <a:lnTo>
                    <a:pt x="81" y="2312"/>
                  </a:lnTo>
                  <a:lnTo>
                    <a:pt x="162" y="2921"/>
                  </a:lnTo>
                  <a:lnTo>
                    <a:pt x="264" y="3529"/>
                  </a:lnTo>
                  <a:lnTo>
                    <a:pt x="385" y="4158"/>
                  </a:lnTo>
                  <a:lnTo>
                    <a:pt x="548" y="4786"/>
                  </a:lnTo>
                  <a:lnTo>
                    <a:pt x="730" y="5395"/>
                  </a:lnTo>
                  <a:lnTo>
                    <a:pt x="933" y="6023"/>
                  </a:lnTo>
                  <a:lnTo>
                    <a:pt x="1156" y="6632"/>
                  </a:lnTo>
                  <a:lnTo>
                    <a:pt x="1420" y="7240"/>
                  </a:lnTo>
                  <a:lnTo>
                    <a:pt x="1704" y="7848"/>
                  </a:lnTo>
                  <a:lnTo>
                    <a:pt x="2008" y="8416"/>
                  </a:lnTo>
                  <a:lnTo>
                    <a:pt x="2332" y="8984"/>
                  </a:lnTo>
                  <a:lnTo>
                    <a:pt x="2677" y="9532"/>
                  </a:lnTo>
                  <a:lnTo>
                    <a:pt x="3062" y="10039"/>
                  </a:lnTo>
                  <a:lnTo>
                    <a:pt x="3447" y="10546"/>
                  </a:lnTo>
                  <a:lnTo>
                    <a:pt x="3873" y="11012"/>
                  </a:lnTo>
                  <a:lnTo>
                    <a:pt x="4319" y="11438"/>
                  </a:lnTo>
                  <a:lnTo>
                    <a:pt x="4806" y="11843"/>
                  </a:lnTo>
                  <a:lnTo>
                    <a:pt x="5293" y="12208"/>
                  </a:lnTo>
                  <a:lnTo>
                    <a:pt x="5800" y="12533"/>
                  </a:lnTo>
                  <a:lnTo>
                    <a:pt x="6084" y="12675"/>
                  </a:lnTo>
                  <a:lnTo>
                    <a:pt x="6347" y="12817"/>
                  </a:lnTo>
                  <a:lnTo>
                    <a:pt x="6631" y="12938"/>
                  </a:lnTo>
                  <a:lnTo>
                    <a:pt x="6915" y="13040"/>
                  </a:lnTo>
                  <a:lnTo>
                    <a:pt x="7199" y="13141"/>
                  </a:lnTo>
                  <a:lnTo>
                    <a:pt x="7503" y="13243"/>
                  </a:lnTo>
                  <a:lnTo>
                    <a:pt x="7807" y="13303"/>
                  </a:lnTo>
                  <a:lnTo>
                    <a:pt x="8112" y="13364"/>
                  </a:lnTo>
                  <a:lnTo>
                    <a:pt x="8416" y="13425"/>
                  </a:lnTo>
                  <a:lnTo>
                    <a:pt x="8740" y="13466"/>
                  </a:lnTo>
                  <a:lnTo>
                    <a:pt x="9065" y="13486"/>
                  </a:lnTo>
                  <a:lnTo>
                    <a:pt x="9389" y="13486"/>
                  </a:lnTo>
                  <a:lnTo>
                    <a:pt x="9734" y="13466"/>
                  </a:lnTo>
                  <a:lnTo>
                    <a:pt x="10058" y="13445"/>
                  </a:lnTo>
                  <a:lnTo>
                    <a:pt x="10403" y="13405"/>
                  </a:lnTo>
                  <a:lnTo>
                    <a:pt x="10768" y="13364"/>
                  </a:lnTo>
                  <a:lnTo>
                    <a:pt x="11113" y="13283"/>
                  </a:lnTo>
                  <a:lnTo>
                    <a:pt x="11478" y="13202"/>
                  </a:lnTo>
                  <a:lnTo>
                    <a:pt x="11478" y="13202"/>
                  </a:lnTo>
                  <a:lnTo>
                    <a:pt x="12411" y="12959"/>
                  </a:lnTo>
                  <a:lnTo>
                    <a:pt x="13303" y="12776"/>
                  </a:lnTo>
                  <a:lnTo>
                    <a:pt x="14134" y="12594"/>
                  </a:lnTo>
                  <a:lnTo>
                    <a:pt x="14946" y="12472"/>
                  </a:lnTo>
                  <a:lnTo>
                    <a:pt x="15696" y="12371"/>
                  </a:lnTo>
                  <a:lnTo>
                    <a:pt x="16426" y="12289"/>
                  </a:lnTo>
                  <a:lnTo>
                    <a:pt x="17115" y="12249"/>
                  </a:lnTo>
                  <a:lnTo>
                    <a:pt x="17764" y="12208"/>
                  </a:lnTo>
                  <a:lnTo>
                    <a:pt x="18373" y="12208"/>
                  </a:lnTo>
                  <a:lnTo>
                    <a:pt x="18941" y="12229"/>
                  </a:lnTo>
                  <a:lnTo>
                    <a:pt x="19488" y="12269"/>
                  </a:lnTo>
                  <a:lnTo>
                    <a:pt x="19995" y="12330"/>
                  </a:lnTo>
                  <a:lnTo>
                    <a:pt x="20461" y="12391"/>
                  </a:lnTo>
                  <a:lnTo>
                    <a:pt x="20908" y="12472"/>
                  </a:lnTo>
                  <a:lnTo>
                    <a:pt x="21313" y="12573"/>
                  </a:lnTo>
                  <a:lnTo>
                    <a:pt x="21678" y="12675"/>
                  </a:lnTo>
                  <a:lnTo>
                    <a:pt x="22043" y="12776"/>
                  </a:lnTo>
                  <a:lnTo>
                    <a:pt x="22347" y="12898"/>
                  </a:lnTo>
                  <a:lnTo>
                    <a:pt x="22652" y="13020"/>
                  </a:lnTo>
                  <a:lnTo>
                    <a:pt x="22915" y="13141"/>
                  </a:lnTo>
                  <a:lnTo>
                    <a:pt x="23361" y="13405"/>
                  </a:lnTo>
                  <a:lnTo>
                    <a:pt x="23706" y="13628"/>
                  </a:lnTo>
                  <a:lnTo>
                    <a:pt x="23970" y="13831"/>
                  </a:lnTo>
                  <a:lnTo>
                    <a:pt x="24152" y="14013"/>
                  </a:lnTo>
                  <a:lnTo>
                    <a:pt x="24294" y="14155"/>
                  </a:lnTo>
                </a:path>
              </a:pathLst>
            </a:cu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5"/>
            <p:cNvSpPr/>
            <p:nvPr/>
          </p:nvSpPr>
          <p:spPr>
            <a:xfrm>
              <a:off x="5361622" y="1849599"/>
              <a:ext cx="99558" cy="116733"/>
            </a:xfrm>
            <a:custGeom>
              <a:avLst/>
              <a:gdLst/>
              <a:ahLst/>
              <a:cxnLst/>
              <a:rect l="l" t="t" r="r" b="b"/>
              <a:pathLst>
                <a:path w="6469" h="7585" extrusionOk="0">
                  <a:moveTo>
                    <a:pt x="3022" y="0"/>
                  </a:moveTo>
                  <a:lnTo>
                    <a:pt x="2799" y="20"/>
                  </a:lnTo>
                  <a:lnTo>
                    <a:pt x="2555" y="41"/>
                  </a:lnTo>
                  <a:lnTo>
                    <a:pt x="2332" y="81"/>
                  </a:lnTo>
                  <a:lnTo>
                    <a:pt x="2089" y="142"/>
                  </a:lnTo>
                  <a:lnTo>
                    <a:pt x="1845" y="223"/>
                  </a:lnTo>
                  <a:lnTo>
                    <a:pt x="1602" y="325"/>
                  </a:lnTo>
                  <a:lnTo>
                    <a:pt x="1359" y="446"/>
                  </a:lnTo>
                  <a:lnTo>
                    <a:pt x="1136" y="588"/>
                  </a:lnTo>
                  <a:lnTo>
                    <a:pt x="913" y="750"/>
                  </a:lnTo>
                  <a:lnTo>
                    <a:pt x="710" y="933"/>
                  </a:lnTo>
                  <a:lnTo>
                    <a:pt x="548" y="1136"/>
                  </a:lnTo>
                  <a:lnTo>
                    <a:pt x="406" y="1359"/>
                  </a:lnTo>
                  <a:lnTo>
                    <a:pt x="284" y="1602"/>
                  </a:lnTo>
                  <a:lnTo>
                    <a:pt x="183" y="1846"/>
                  </a:lnTo>
                  <a:lnTo>
                    <a:pt x="122" y="2089"/>
                  </a:lnTo>
                  <a:lnTo>
                    <a:pt x="61" y="2352"/>
                  </a:lnTo>
                  <a:lnTo>
                    <a:pt x="20" y="2636"/>
                  </a:lnTo>
                  <a:lnTo>
                    <a:pt x="20" y="2920"/>
                  </a:lnTo>
                  <a:lnTo>
                    <a:pt x="0" y="3204"/>
                  </a:lnTo>
                  <a:lnTo>
                    <a:pt x="20" y="3488"/>
                  </a:lnTo>
                  <a:lnTo>
                    <a:pt x="81" y="4056"/>
                  </a:lnTo>
                  <a:lnTo>
                    <a:pt x="183" y="4624"/>
                  </a:lnTo>
                  <a:lnTo>
                    <a:pt x="304" y="5171"/>
                  </a:lnTo>
                  <a:lnTo>
                    <a:pt x="466" y="5699"/>
                  </a:lnTo>
                  <a:lnTo>
                    <a:pt x="629" y="6165"/>
                  </a:lnTo>
                  <a:lnTo>
                    <a:pt x="771" y="6591"/>
                  </a:lnTo>
                  <a:lnTo>
                    <a:pt x="1034" y="7199"/>
                  </a:lnTo>
                  <a:lnTo>
                    <a:pt x="1136" y="7422"/>
                  </a:lnTo>
                  <a:lnTo>
                    <a:pt x="1318" y="7524"/>
                  </a:lnTo>
                  <a:lnTo>
                    <a:pt x="1521" y="7584"/>
                  </a:lnTo>
                  <a:lnTo>
                    <a:pt x="1724" y="7584"/>
                  </a:lnTo>
                  <a:lnTo>
                    <a:pt x="1927" y="7564"/>
                  </a:lnTo>
                  <a:lnTo>
                    <a:pt x="2129" y="7483"/>
                  </a:lnTo>
                  <a:lnTo>
                    <a:pt x="2352" y="7382"/>
                  </a:lnTo>
                  <a:lnTo>
                    <a:pt x="2575" y="7240"/>
                  </a:lnTo>
                  <a:lnTo>
                    <a:pt x="2799" y="7077"/>
                  </a:lnTo>
                  <a:lnTo>
                    <a:pt x="3022" y="6875"/>
                  </a:lnTo>
                  <a:lnTo>
                    <a:pt x="3245" y="6652"/>
                  </a:lnTo>
                  <a:lnTo>
                    <a:pt x="3468" y="6408"/>
                  </a:lnTo>
                  <a:lnTo>
                    <a:pt x="3691" y="6145"/>
                  </a:lnTo>
                  <a:lnTo>
                    <a:pt x="4117" y="5557"/>
                  </a:lnTo>
                  <a:lnTo>
                    <a:pt x="4543" y="4948"/>
                  </a:lnTo>
                  <a:lnTo>
                    <a:pt x="4928" y="4320"/>
                  </a:lnTo>
                  <a:lnTo>
                    <a:pt x="5293" y="3691"/>
                  </a:lnTo>
                  <a:lnTo>
                    <a:pt x="5617" y="3103"/>
                  </a:lnTo>
                  <a:lnTo>
                    <a:pt x="5901" y="2555"/>
                  </a:lnTo>
                  <a:lnTo>
                    <a:pt x="6307" y="1744"/>
                  </a:lnTo>
                  <a:lnTo>
                    <a:pt x="6469" y="1420"/>
                  </a:lnTo>
                  <a:lnTo>
                    <a:pt x="6347" y="1318"/>
                  </a:lnTo>
                  <a:lnTo>
                    <a:pt x="5982" y="1055"/>
                  </a:lnTo>
                  <a:lnTo>
                    <a:pt x="5739" y="892"/>
                  </a:lnTo>
                  <a:lnTo>
                    <a:pt x="5435" y="710"/>
                  </a:lnTo>
                  <a:lnTo>
                    <a:pt x="5110" y="548"/>
                  </a:lnTo>
                  <a:lnTo>
                    <a:pt x="4745" y="365"/>
                  </a:lnTo>
                  <a:lnTo>
                    <a:pt x="4340" y="223"/>
                  </a:lnTo>
                  <a:lnTo>
                    <a:pt x="3934" y="102"/>
                  </a:lnTo>
                  <a:lnTo>
                    <a:pt x="3488" y="41"/>
                  </a:lnTo>
                  <a:lnTo>
                    <a:pt x="3265" y="20"/>
                  </a:lnTo>
                  <a:lnTo>
                    <a:pt x="3022" y="0"/>
                  </a:lnTo>
                  <a:close/>
                </a:path>
              </a:pathLst>
            </a:custGeom>
            <a:solidFill>
              <a:srgbClr val="FC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5"/>
            <p:cNvSpPr/>
            <p:nvPr/>
          </p:nvSpPr>
          <p:spPr>
            <a:xfrm>
              <a:off x="5333843" y="1835548"/>
              <a:ext cx="409790" cy="366405"/>
            </a:xfrm>
            <a:custGeom>
              <a:avLst/>
              <a:gdLst/>
              <a:ahLst/>
              <a:cxnLst/>
              <a:rect l="l" t="t" r="r" b="b"/>
              <a:pathLst>
                <a:path w="26627" h="23808" extrusionOk="0">
                  <a:moveTo>
                    <a:pt x="12350" y="1"/>
                  </a:moveTo>
                  <a:lnTo>
                    <a:pt x="11519" y="41"/>
                  </a:lnTo>
                  <a:lnTo>
                    <a:pt x="10687" y="122"/>
                  </a:lnTo>
                  <a:lnTo>
                    <a:pt x="9856" y="244"/>
                  </a:lnTo>
                  <a:lnTo>
                    <a:pt x="9369" y="325"/>
                  </a:lnTo>
                  <a:lnTo>
                    <a:pt x="8923" y="447"/>
                  </a:lnTo>
                  <a:lnTo>
                    <a:pt x="8457" y="589"/>
                  </a:lnTo>
                  <a:lnTo>
                    <a:pt x="8010" y="751"/>
                  </a:lnTo>
                  <a:lnTo>
                    <a:pt x="7585" y="913"/>
                  </a:lnTo>
                  <a:lnTo>
                    <a:pt x="7159" y="1116"/>
                  </a:lnTo>
                  <a:lnTo>
                    <a:pt x="6753" y="1339"/>
                  </a:lnTo>
                  <a:lnTo>
                    <a:pt x="6348" y="1582"/>
                  </a:lnTo>
                  <a:lnTo>
                    <a:pt x="5942" y="1826"/>
                  </a:lnTo>
                  <a:lnTo>
                    <a:pt x="5557" y="2110"/>
                  </a:lnTo>
                  <a:lnTo>
                    <a:pt x="5192" y="2394"/>
                  </a:lnTo>
                  <a:lnTo>
                    <a:pt x="4827" y="2698"/>
                  </a:lnTo>
                  <a:lnTo>
                    <a:pt x="4482" y="3022"/>
                  </a:lnTo>
                  <a:lnTo>
                    <a:pt x="4137" y="3367"/>
                  </a:lnTo>
                  <a:lnTo>
                    <a:pt x="3813" y="3712"/>
                  </a:lnTo>
                  <a:lnTo>
                    <a:pt x="3508" y="4077"/>
                  </a:lnTo>
                  <a:lnTo>
                    <a:pt x="3204" y="4442"/>
                  </a:lnTo>
                  <a:lnTo>
                    <a:pt x="2900" y="4827"/>
                  </a:lnTo>
                  <a:lnTo>
                    <a:pt x="2616" y="5233"/>
                  </a:lnTo>
                  <a:lnTo>
                    <a:pt x="2353" y="5638"/>
                  </a:lnTo>
                  <a:lnTo>
                    <a:pt x="2109" y="6064"/>
                  </a:lnTo>
                  <a:lnTo>
                    <a:pt x="1866" y="6490"/>
                  </a:lnTo>
                  <a:lnTo>
                    <a:pt x="1643" y="6916"/>
                  </a:lnTo>
                  <a:lnTo>
                    <a:pt x="1420" y="7362"/>
                  </a:lnTo>
                  <a:lnTo>
                    <a:pt x="1237" y="7808"/>
                  </a:lnTo>
                  <a:lnTo>
                    <a:pt x="1034" y="8274"/>
                  </a:lnTo>
                  <a:lnTo>
                    <a:pt x="872" y="8741"/>
                  </a:lnTo>
                  <a:lnTo>
                    <a:pt x="710" y="9207"/>
                  </a:lnTo>
                  <a:lnTo>
                    <a:pt x="568" y="9674"/>
                  </a:lnTo>
                  <a:lnTo>
                    <a:pt x="446" y="10160"/>
                  </a:lnTo>
                  <a:lnTo>
                    <a:pt x="345" y="10647"/>
                  </a:lnTo>
                  <a:lnTo>
                    <a:pt x="244" y="11113"/>
                  </a:lnTo>
                  <a:lnTo>
                    <a:pt x="162" y="11600"/>
                  </a:lnTo>
                  <a:lnTo>
                    <a:pt x="102" y="12087"/>
                  </a:lnTo>
                  <a:lnTo>
                    <a:pt x="61" y="12573"/>
                  </a:lnTo>
                  <a:lnTo>
                    <a:pt x="20" y="13060"/>
                  </a:lnTo>
                  <a:lnTo>
                    <a:pt x="0" y="13547"/>
                  </a:lnTo>
                  <a:lnTo>
                    <a:pt x="20" y="14034"/>
                  </a:lnTo>
                  <a:lnTo>
                    <a:pt x="20" y="14520"/>
                  </a:lnTo>
                  <a:lnTo>
                    <a:pt x="61" y="14987"/>
                  </a:lnTo>
                  <a:lnTo>
                    <a:pt x="122" y="15473"/>
                  </a:lnTo>
                  <a:lnTo>
                    <a:pt x="183" y="15940"/>
                  </a:lnTo>
                  <a:lnTo>
                    <a:pt x="284" y="16406"/>
                  </a:lnTo>
                  <a:lnTo>
                    <a:pt x="386" y="16852"/>
                  </a:lnTo>
                  <a:lnTo>
                    <a:pt x="507" y="17319"/>
                  </a:lnTo>
                  <a:lnTo>
                    <a:pt x="669" y="17765"/>
                  </a:lnTo>
                  <a:lnTo>
                    <a:pt x="832" y="18191"/>
                  </a:lnTo>
                  <a:lnTo>
                    <a:pt x="1014" y="18637"/>
                  </a:lnTo>
                  <a:lnTo>
                    <a:pt x="1217" y="19042"/>
                  </a:lnTo>
                  <a:lnTo>
                    <a:pt x="1440" y="19468"/>
                  </a:lnTo>
                  <a:lnTo>
                    <a:pt x="1683" y="19854"/>
                  </a:lnTo>
                  <a:lnTo>
                    <a:pt x="1947" y="20259"/>
                  </a:lnTo>
                  <a:lnTo>
                    <a:pt x="2211" y="20624"/>
                  </a:lnTo>
                  <a:lnTo>
                    <a:pt x="2515" y="20989"/>
                  </a:lnTo>
                  <a:lnTo>
                    <a:pt x="2839" y="21354"/>
                  </a:lnTo>
                  <a:lnTo>
                    <a:pt x="3184" y="21679"/>
                  </a:lnTo>
                  <a:lnTo>
                    <a:pt x="3549" y="22003"/>
                  </a:lnTo>
                  <a:lnTo>
                    <a:pt x="3934" y="22307"/>
                  </a:lnTo>
                  <a:lnTo>
                    <a:pt x="4340" y="22612"/>
                  </a:lnTo>
                  <a:lnTo>
                    <a:pt x="4786" y="22895"/>
                  </a:lnTo>
                  <a:lnTo>
                    <a:pt x="5232" y="23139"/>
                  </a:lnTo>
                  <a:lnTo>
                    <a:pt x="5699" y="23382"/>
                  </a:lnTo>
                  <a:lnTo>
                    <a:pt x="6206" y="23605"/>
                  </a:lnTo>
                  <a:lnTo>
                    <a:pt x="6713" y="23808"/>
                  </a:lnTo>
                  <a:lnTo>
                    <a:pt x="7503" y="23666"/>
                  </a:lnTo>
                  <a:lnTo>
                    <a:pt x="8274" y="23484"/>
                  </a:lnTo>
                  <a:lnTo>
                    <a:pt x="9045" y="23301"/>
                  </a:lnTo>
                  <a:lnTo>
                    <a:pt x="9815" y="23078"/>
                  </a:lnTo>
                  <a:lnTo>
                    <a:pt x="10586" y="22835"/>
                  </a:lnTo>
                  <a:lnTo>
                    <a:pt x="11336" y="22571"/>
                  </a:lnTo>
                  <a:lnTo>
                    <a:pt x="12086" y="22287"/>
                  </a:lnTo>
                  <a:lnTo>
                    <a:pt x="12837" y="22003"/>
                  </a:lnTo>
                  <a:lnTo>
                    <a:pt x="13547" y="21699"/>
                  </a:lnTo>
                  <a:lnTo>
                    <a:pt x="14277" y="21395"/>
                  </a:lnTo>
                  <a:lnTo>
                    <a:pt x="14966" y="21070"/>
                  </a:lnTo>
                  <a:lnTo>
                    <a:pt x="15656" y="20746"/>
                  </a:lnTo>
                  <a:lnTo>
                    <a:pt x="16974" y="20097"/>
                  </a:lnTo>
                  <a:lnTo>
                    <a:pt x="18190" y="19428"/>
                  </a:lnTo>
                  <a:lnTo>
                    <a:pt x="19326" y="18799"/>
                  </a:lnTo>
                  <a:lnTo>
                    <a:pt x="20340" y="18170"/>
                  </a:lnTo>
                  <a:lnTo>
                    <a:pt x="21232" y="17623"/>
                  </a:lnTo>
                  <a:lnTo>
                    <a:pt x="22003" y="17116"/>
                  </a:lnTo>
                  <a:lnTo>
                    <a:pt x="23078" y="16406"/>
                  </a:lnTo>
                  <a:lnTo>
                    <a:pt x="23443" y="16122"/>
                  </a:lnTo>
                  <a:lnTo>
                    <a:pt x="23625" y="16041"/>
                  </a:lnTo>
                  <a:lnTo>
                    <a:pt x="23808" y="15940"/>
                  </a:lnTo>
                  <a:lnTo>
                    <a:pt x="24051" y="15778"/>
                  </a:lnTo>
                  <a:lnTo>
                    <a:pt x="24355" y="15595"/>
                  </a:lnTo>
                  <a:lnTo>
                    <a:pt x="24659" y="15331"/>
                  </a:lnTo>
                  <a:lnTo>
                    <a:pt x="24984" y="15048"/>
                  </a:lnTo>
                  <a:lnTo>
                    <a:pt x="25329" y="14683"/>
                  </a:lnTo>
                  <a:lnTo>
                    <a:pt x="25491" y="14500"/>
                  </a:lnTo>
                  <a:lnTo>
                    <a:pt x="25653" y="14277"/>
                  </a:lnTo>
                  <a:lnTo>
                    <a:pt x="25795" y="14054"/>
                  </a:lnTo>
                  <a:lnTo>
                    <a:pt x="25937" y="13811"/>
                  </a:lnTo>
                  <a:lnTo>
                    <a:pt x="26079" y="13567"/>
                  </a:lnTo>
                  <a:lnTo>
                    <a:pt x="26201" y="13283"/>
                  </a:lnTo>
                  <a:lnTo>
                    <a:pt x="26322" y="12999"/>
                  </a:lnTo>
                  <a:lnTo>
                    <a:pt x="26403" y="12695"/>
                  </a:lnTo>
                  <a:lnTo>
                    <a:pt x="26484" y="12391"/>
                  </a:lnTo>
                  <a:lnTo>
                    <a:pt x="26566" y="12046"/>
                  </a:lnTo>
                  <a:lnTo>
                    <a:pt x="26606" y="11702"/>
                  </a:lnTo>
                  <a:lnTo>
                    <a:pt x="26626" y="11336"/>
                  </a:lnTo>
                  <a:lnTo>
                    <a:pt x="26626" y="10951"/>
                  </a:lnTo>
                  <a:lnTo>
                    <a:pt x="26606" y="10546"/>
                  </a:lnTo>
                  <a:lnTo>
                    <a:pt x="26566" y="10140"/>
                  </a:lnTo>
                  <a:lnTo>
                    <a:pt x="26484" y="9694"/>
                  </a:lnTo>
                  <a:lnTo>
                    <a:pt x="26383" y="9248"/>
                  </a:lnTo>
                  <a:lnTo>
                    <a:pt x="26261" y="8802"/>
                  </a:lnTo>
                  <a:lnTo>
                    <a:pt x="26079" y="8335"/>
                  </a:lnTo>
                  <a:lnTo>
                    <a:pt x="25896" y="7869"/>
                  </a:lnTo>
                  <a:lnTo>
                    <a:pt x="25653" y="7402"/>
                  </a:lnTo>
                  <a:lnTo>
                    <a:pt x="25389" y="6936"/>
                  </a:lnTo>
                  <a:lnTo>
                    <a:pt x="25105" y="6470"/>
                  </a:lnTo>
                  <a:lnTo>
                    <a:pt x="24781" y="6003"/>
                  </a:lnTo>
                  <a:lnTo>
                    <a:pt x="24436" y="5557"/>
                  </a:lnTo>
                  <a:lnTo>
                    <a:pt x="24051" y="5091"/>
                  </a:lnTo>
                  <a:lnTo>
                    <a:pt x="23666" y="4644"/>
                  </a:lnTo>
                  <a:lnTo>
                    <a:pt x="23220" y="4219"/>
                  </a:lnTo>
                  <a:lnTo>
                    <a:pt x="22773" y="3793"/>
                  </a:lnTo>
                  <a:lnTo>
                    <a:pt x="22287" y="3387"/>
                  </a:lnTo>
                  <a:lnTo>
                    <a:pt x="21780" y="2982"/>
                  </a:lnTo>
                  <a:lnTo>
                    <a:pt x="21252" y="2617"/>
                  </a:lnTo>
                  <a:lnTo>
                    <a:pt x="20685" y="2252"/>
                  </a:lnTo>
                  <a:lnTo>
                    <a:pt x="20117" y="1907"/>
                  </a:lnTo>
                  <a:lnTo>
                    <a:pt x="19509" y="1603"/>
                  </a:lnTo>
                  <a:lnTo>
                    <a:pt x="18880" y="1298"/>
                  </a:lnTo>
                  <a:lnTo>
                    <a:pt x="18231" y="1035"/>
                  </a:lnTo>
                  <a:lnTo>
                    <a:pt x="17562" y="791"/>
                  </a:lnTo>
                  <a:lnTo>
                    <a:pt x="16872" y="568"/>
                  </a:lnTo>
                  <a:lnTo>
                    <a:pt x="16162" y="386"/>
                  </a:lnTo>
                  <a:lnTo>
                    <a:pt x="15432" y="244"/>
                  </a:lnTo>
                  <a:lnTo>
                    <a:pt x="14702" y="122"/>
                  </a:lnTo>
                  <a:lnTo>
                    <a:pt x="13932" y="41"/>
                  </a:lnTo>
                  <a:lnTo>
                    <a:pt x="13141" y="1"/>
                  </a:lnTo>
                  <a:close/>
                </a:path>
              </a:pathLst>
            </a:custGeom>
            <a:solidFill>
              <a:srgbClr val="43434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5"/>
            <p:cNvSpPr/>
            <p:nvPr/>
          </p:nvSpPr>
          <p:spPr>
            <a:xfrm>
              <a:off x="5357251" y="2030924"/>
              <a:ext cx="358910" cy="336441"/>
            </a:xfrm>
            <a:custGeom>
              <a:avLst/>
              <a:gdLst/>
              <a:ahLst/>
              <a:cxnLst/>
              <a:rect l="l" t="t" r="r" b="b"/>
              <a:pathLst>
                <a:path w="23321" h="21861" extrusionOk="0">
                  <a:moveTo>
                    <a:pt x="6145" y="0"/>
                  </a:moveTo>
                  <a:lnTo>
                    <a:pt x="5942" y="20"/>
                  </a:lnTo>
                  <a:lnTo>
                    <a:pt x="5759" y="61"/>
                  </a:lnTo>
                  <a:lnTo>
                    <a:pt x="5557" y="102"/>
                  </a:lnTo>
                  <a:lnTo>
                    <a:pt x="5394" y="183"/>
                  </a:lnTo>
                  <a:lnTo>
                    <a:pt x="5212" y="304"/>
                  </a:lnTo>
                  <a:lnTo>
                    <a:pt x="5070" y="426"/>
                  </a:lnTo>
                  <a:lnTo>
                    <a:pt x="4928" y="588"/>
                  </a:lnTo>
                  <a:lnTo>
                    <a:pt x="4806" y="771"/>
                  </a:lnTo>
                  <a:lnTo>
                    <a:pt x="4685" y="974"/>
                  </a:lnTo>
                  <a:lnTo>
                    <a:pt x="4603" y="1197"/>
                  </a:lnTo>
                  <a:lnTo>
                    <a:pt x="4522" y="1420"/>
                  </a:lnTo>
                  <a:lnTo>
                    <a:pt x="4461" y="1643"/>
                  </a:lnTo>
                  <a:lnTo>
                    <a:pt x="4421" y="1866"/>
                  </a:lnTo>
                  <a:lnTo>
                    <a:pt x="4380" y="2089"/>
                  </a:lnTo>
                  <a:lnTo>
                    <a:pt x="4380" y="2292"/>
                  </a:lnTo>
                  <a:lnTo>
                    <a:pt x="4360" y="2738"/>
                  </a:lnTo>
                  <a:lnTo>
                    <a:pt x="4401" y="3143"/>
                  </a:lnTo>
                  <a:lnTo>
                    <a:pt x="4482" y="3549"/>
                  </a:lnTo>
                  <a:lnTo>
                    <a:pt x="4563" y="3914"/>
                  </a:lnTo>
                  <a:lnTo>
                    <a:pt x="4685" y="4279"/>
                  </a:lnTo>
                  <a:lnTo>
                    <a:pt x="4806" y="4603"/>
                  </a:lnTo>
                  <a:lnTo>
                    <a:pt x="4948" y="4908"/>
                  </a:lnTo>
                  <a:lnTo>
                    <a:pt x="5070" y="5151"/>
                  </a:lnTo>
                  <a:lnTo>
                    <a:pt x="5192" y="5374"/>
                  </a:lnTo>
                  <a:lnTo>
                    <a:pt x="5394" y="5678"/>
                  </a:lnTo>
                  <a:lnTo>
                    <a:pt x="5475" y="5800"/>
                  </a:lnTo>
                  <a:lnTo>
                    <a:pt x="0" y="12614"/>
                  </a:lnTo>
                  <a:lnTo>
                    <a:pt x="6064" y="21861"/>
                  </a:lnTo>
                  <a:lnTo>
                    <a:pt x="10951" y="14581"/>
                  </a:lnTo>
                  <a:lnTo>
                    <a:pt x="11052" y="14682"/>
                  </a:lnTo>
                  <a:lnTo>
                    <a:pt x="11174" y="14804"/>
                  </a:lnTo>
                  <a:lnTo>
                    <a:pt x="11356" y="14966"/>
                  </a:lnTo>
                  <a:lnTo>
                    <a:pt x="11579" y="15128"/>
                  </a:lnTo>
                  <a:lnTo>
                    <a:pt x="11863" y="15311"/>
                  </a:lnTo>
                  <a:lnTo>
                    <a:pt x="12208" y="15493"/>
                  </a:lnTo>
                  <a:lnTo>
                    <a:pt x="12593" y="15655"/>
                  </a:lnTo>
                  <a:lnTo>
                    <a:pt x="13039" y="15818"/>
                  </a:lnTo>
                  <a:lnTo>
                    <a:pt x="13546" y="15939"/>
                  </a:lnTo>
                  <a:lnTo>
                    <a:pt x="13810" y="16000"/>
                  </a:lnTo>
                  <a:lnTo>
                    <a:pt x="14094" y="16041"/>
                  </a:lnTo>
                  <a:lnTo>
                    <a:pt x="14398" y="16061"/>
                  </a:lnTo>
                  <a:lnTo>
                    <a:pt x="14702" y="16081"/>
                  </a:lnTo>
                  <a:lnTo>
                    <a:pt x="15027" y="16081"/>
                  </a:lnTo>
                  <a:lnTo>
                    <a:pt x="15372" y="16061"/>
                  </a:lnTo>
                  <a:lnTo>
                    <a:pt x="15716" y="16041"/>
                  </a:lnTo>
                  <a:lnTo>
                    <a:pt x="16102" y="16000"/>
                  </a:lnTo>
                  <a:lnTo>
                    <a:pt x="16467" y="15919"/>
                  </a:lnTo>
                  <a:lnTo>
                    <a:pt x="16872" y="15838"/>
                  </a:lnTo>
                  <a:lnTo>
                    <a:pt x="17278" y="15737"/>
                  </a:lnTo>
                  <a:lnTo>
                    <a:pt x="17704" y="15595"/>
                  </a:lnTo>
                  <a:lnTo>
                    <a:pt x="17886" y="15534"/>
                  </a:lnTo>
                  <a:lnTo>
                    <a:pt x="18069" y="15432"/>
                  </a:lnTo>
                  <a:lnTo>
                    <a:pt x="18251" y="15331"/>
                  </a:lnTo>
                  <a:lnTo>
                    <a:pt x="18434" y="15209"/>
                  </a:lnTo>
                  <a:lnTo>
                    <a:pt x="18616" y="15088"/>
                  </a:lnTo>
                  <a:lnTo>
                    <a:pt x="18778" y="14925"/>
                  </a:lnTo>
                  <a:lnTo>
                    <a:pt x="19103" y="14581"/>
                  </a:lnTo>
                  <a:lnTo>
                    <a:pt x="19427" y="14195"/>
                  </a:lnTo>
                  <a:lnTo>
                    <a:pt x="19731" y="13749"/>
                  </a:lnTo>
                  <a:lnTo>
                    <a:pt x="20015" y="13263"/>
                  </a:lnTo>
                  <a:lnTo>
                    <a:pt x="20279" y="12735"/>
                  </a:lnTo>
                  <a:lnTo>
                    <a:pt x="20543" y="12167"/>
                  </a:lnTo>
                  <a:lnTo>
                    <a:pt x="20806" y="11579"/>
                  </a:lnTo>
                  <a:lnTo>
                    <a:pt x="21029" y="10971"/>
                  </a:lnTo>
                  <a:lnTo>
                    <a:pt x="21252" y="10342"/>
                  </a:lnTo>
                  <a:lnTo>
                    <a:pt x="21475" y="9693"/>
                  </a:lnTo>
                  <a:lnTo>
                    <a:pt x="21658" y="9045"/>
                  </a:lnTo>
                  <a:lnTo>
                    <a:pt x="21861" y="8396"/>
                  </a:lnTo>
                  <a:lnTo>
                    <a:pt x="22023" y="7726"/>
                  </a:lnTo>
                  <a:lnTo>
                    <a:pt x="22347" y="6429"/>
                  </a:lnTo>
                  <a:lnTo>
                    <a:pt x="22611" y="5171"/>
                  </a:lnTo>
                  <a:lnTo>
                    <a:pt x="22834" y="3995"/>
                  </a:lnTo>
                  <a:lnTo>
                    <a:pt x="23017" y="2961"/>
                  </a:lnTo>
                  <a:lnTo>
                    <a:pt x="23138" y="2089"/>
                  </a:lnTo>
                  <a:lnTo>
                    <a:pt x="23240" y="1440"/>
                  </a:lnTo>
                  <a:lnTo>
                    <a:pt x="23321" y="852"/>
                  </a:lnTo>
                  <a:lnTo>
                    <a:pt x="14621" y="852"/>
                  </a:lnTo>
                  <a:lnTo>
                    <a:pt x="14500" y="1075"/>
                  </a:lnTo>
                  <a:lnTo>
                    <a:pt x="14378" y="1339"/>
                  </a:lnTo>
                  <a:lnTo>
                    <a:pt x="14175" y="1683"/>
                  </a:lnTo>
                  <a:lnTo>
                    <a:pt x="13952" y="2069"/>
                  </a:lnTo>
                  <a:lnTo>
                    <a:pt x="13668" y="2494"/>
                  </a:lnTo>
                  <a:lnTo>
                    <a:pt x="13344" y="2941"/>
                  </a:lnTo>
                  <a:lnTo>
                    <a:pt x="12979" y="3387"/>
                  </a:lnTo>
                  <a:lnTo>
                    <a:pt x="12776" y="3610"/>
                  </a:lnTo>
                  <a:lnTo>
                    <a:pt x="12573" y="3813"/>
                  </a:lnTo>
                  <a:lnTo>
                    <a:pt x="12350" y="4015"/>
                  </a:lnTo>
                  <a:lnTo>
                    <a:pt x="12127" y="4198"/>
                  </a:lnTo>
                  <a:lnTo>
                    <a:pt x="11884" y="4380"/>
                  </a:lnTo>
                  <a:lnTo>
                    <a:pt x="11640" y="4543"/>
                  </a:lnTo>
                  <a:lnTo>
                    <a:pt x="11377" y="4664"/>
                  </a:lnTo>
                  <a:lnTo>
                    <a:pt x="11133" y="4786"/>
                  </a:lnTo>
                  <a:lnTo>
                    <a:pt x="10849" y="4887"/>
                  </a:lnTo>
                  <a:lnTo>
                    <a:pt x="10565" y="4968"/>
                  </a:lnTo>
                  <a:lnTo>
                    <a:pt x="10282" y="5009"/>
                  </a:lnTo>
                  <a:lnTo>
                    <a:pt x="9998" y="5029"/>
                  </a:lnTo>
                  <a:lnTo>
                    <a:pt x="9693" y="5009"/>
                  </a:lnTo>
                  <a:lnTo>
                    <a:pt x="9389" y="4948"/>
                  </a:lnTo>
                  <a:lnTo>
                    <a:pt x="9085" y="4867"/>
                  </a:lnTo>
                  <a:lnTo>
                    <a:pt x="8761" y="4725"/>
                  </a:lnTo>
                  <a:lnTo>
                    <a:pt x="8862" y="4380"/>
                  </a:lnTo>
                  <a:lnTo>
                    <a:pt x="8943" y="4036"/>
                  </a:lnTo>
                  <a:lnTo>
                    <a:pt x="8984" y="3691"/>
                  </a:lnTo>
                  <a:lnTo>
                    <a:pt x="8984" y="3366"/>
                  </a:lnTo>
                  <a:lnTo>
                    <a:pt x="8984" y="3042"/>
                  </a:lnTo>
                  <a:lnTo>
                    <a:pt x="8943" y="2758"/>
                  </a:lnTo>
                  <a:lnTo>
                    <a:pt x="8882" y="2454"/>
                  </a:lnTo>
                  <a:lnTo>
                    <a:pt x="8801" y="2190"/>
                  </a:lnTo>
                  <a:lnTo>
                    <a:pt x="8700" y="1927"/>
                  </a:lnTo>
                  <a:lnTo>
                    <a:pt x="8578" y="1663"/>
                  </a:lnTo>
                  <a:lnTo>
                    <a:pt x="8456" y="1440"/>
                  </a:lnTo>
                  <a:lnTo>
                    <a:pt x="8294" y="1217"/>
                  </a:lnTo>
                  <a:lnTo>
                    <a:pt x="8132" y="1014"/>
                  </a:lnTo>
                  <a:lnTo>
                    <a:pt x="7970" y="832"/>
                  </a:lnTo>
                  <a:lnTo>
                    <a:pt x="7787" y="669"/>
                  </a:lnTo>
                  <a:lnTo>
                    <a:pt x="7584" y="507"/>
                  </a:lnTo>
                  <a:lnTo>
                    <a:pt x="7402" y="385"/>
                  </a:lnTo>
                  <a:lnTo>
                    <a:pt x="7199" y="264"/>
                  </a:lnTo>
                  <a:lnTo>
                    <a:pt x="6976" y="183"/>
                  </a:lnTo>
                  <a:lnTo>
                    <a:pt x="6773" y="102"/>
                  </a:lnTo>
                  <a:lnTo>
                    <a:pt x="6570" y="41"/>
                  </a:lnTo>
                  <a:lnTo>
                    <a:pt x="6347" y="20"/>
                  </a:lnTo>
                  <a:lnTo>
                    <a:pt x="6145" y="0"/>
                  </a:lnTo>
                  <a:close/>
                </a:path>
              </a:pathLst>
            </a:custGeom>
            <a:solidFill>
              <a:srgbClr val="FCB58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5"/>
            <p:cNvSpPr/>
            <p:nvPr/>
          </p:nvSpPr>
          <p:spPr>
            <a:xfrm>
              <a:off x="5540762" y="2142333"/>
              <a:ext cx="166674" cy="149822"/>
            </a:xfrm>
            <a:custGeom>
              <a:avLst/>
              <a:gdLst/>
              <a:ahLst/>
              <a:cxnLst/>
              <a:rect l="l" t="t" r="r" b="b"/>
              <a:pathLst>
                <a:path w="10830" h="9735" extrusionOk="0">
                  <a:moveTo>
                    <a:pt x="7361" y="1"/>
                  </a:moveTo>
                  <a:lnTo>
                    <a:pt x="5982" y="21"/>
                  </a:lnTo>
                  <a:lnTo>
                    <a:pt x="4624" y="62"/>
                  </a:lnTo>
                  <a:lnTo>
                    <a:pt x="3488" y="82"/>
                  </a:lnTo>
                  <a:lnTo>
                    <a:pt x="2373" y="122"/>
                  </a:lnTo>
                  <a:lnTo>
                    <a:pt x="1987" y="792"/>
                  </a:lnTo>
                  <a:lnTo>
                    <a:pt x="1156" y="2313"/>
                  </a:lnTo>
                  <a:lnTo>
                    <a:pt x="730" y="3164"/>
                  </a:lnTo>
                  <a:lnTo>
                    <a:pt x="345" y="3935"/>
                  </a:lnTo>
                  <a:lnTo>
                    <a:pt x="203" y="4280"/>
                  </a:lnTo>
                  <a:lnTo>
                    <a:pt x="81" y="4563"/>
                  </a:lnTo>
                  <a:lnTo>
                    <a:pt x="20" y="4787"/>
                  </a:lnTo>
                  <a:lnTo>
                    <a:pt x="0" y="4928"/>
                  </a:lnTo>
                  <a:lnTo>
                    <a:pt x="20" y="5111"/>
                  </a:lnTo>
                  <a:lnTo>
                    <a:pt x="61" y="5294"/>
                  </a:lnTo>
                  <a:lnTo>
                    <a:pt x="122" y="5476"/>
                  </a:lnTo>
                  <a:lnTo>
                    <a:pt x="203" y="5659"/>
                  </a:lnTo>
                  <a:lnTo>
                    <a:pt x="304" y="5861"/>
                  </a:lnTo>
                  <a:lnTo>
                    <a:pt x="426" y="6064"/>
                  </a:lnTo>
                  <a:lnTo>
                    <a:pt x="690" y="6470"/>
                  </a:lnTo>
                  <a:lnTo>
                    <a:pt x="1014" y="6896"/>
                  </a:lnTo>
                  <a:lnTo>
                    <a:pt x="1379" y="7301"/>
                  </a:lnTo>
                  <a:lnTo>
                    <a:pt x="1785" y="7707"/>
                  </a:lnTo>
                  <a:lnTo>
                    <a:pt x="2211" y="8072"/>
                  </a:lnTo>
                  <a:lnTo>
                    <a:pt x="2677" y="8437"/>
                  </a:lnTo>
                  <a:lnTo>
                    <a:pt x="3164" y="8761"/>
                  </a:lnTo>
                  <a:lnTo>
                    <a:pt x="3650" y="9065"/>
                  </a:lnTo>
                  <a:lnTo>
                    <a:pt x="4137" y="9309"/>
                  </a:lnTo>
                  <a:lnTo>
                    <a:pt x="4624" y="9512"/>
                  </a:lnTo>
                  <a:lnTo>
                    <a:pt x="4867" y="9593"/>
                  </a:lnTo>
                  <a:lnTo>
                    <a:pt x="5090" y="9653"/>
                  </a:lnTo>
                  <a:lnTo>
                    <a:pt x="5313" y="9694"/>
                  </a:lnTo>
                  <a:lnTo>
                    <a:pt x="5536" y="9714"/>
                  </a:lnTo>
                  <a:lnTo>
                    <a:pt x="5759" y="9735"/>
                  </a:lnTo>
                  <a:lnTo>
                    <a:pt x="5962" y="9714"/>
                  </a:lnTo>
                  <a:lnTo>
                    <a:pt x="6347" y="9653"/>
                  </a:lnTo>
                  <a:lnTo>
                    <a:pt x="6733" y="9552"/>
                  </a:lnTo>
                  <a:lnTo>
                    <a:pt x="7077" y="9410"/>
                  </a:lnTo>
                  <a:lnTo>
                    <a:pt x="7422" y="9248"/>
                  </a:lnTo>
                  <a:lnTo>
                    <a:pt x="7747" y="9025"/>
                  </a:lnTo>
                  <a:lnTo>
                    <a:pt x="8051" y="8781"/>
                  </a:lnTo>
                  <a:lnTo>
                    <a:pt x="8355" y="8498"/>
                  </a:lnTo>
                  <a:lnTo>
                    <a:pt x="8639" y="8193"/>
                  </a:lnTo>
                  <a:lnTo>
                    <a:pt x="8903" y="7869"/>
                  </a:lnTo>
                  <a:lnTo>
                    <a:pt x="9146" y="7524"/>
                  </a:lnTo>
                  <a:lnTo>
                    <a:pt x="9369" y="7159"/>
                  </a:lnTo>
                  <a:lnTo>
                    <a:pt x="9592" y="6774"/>
                  </a:lnTo>
                  <a:lnTo>
                    <a:pt x="9775" y="6368"/>
                  </a:lnTo>
                  <a:lnTo>
                    <a:pt x="9957" y="5963"/>
                  </a:lnTo>
                  <a:lnTo>
                    <a:pt x="10140" y="5557"/>
                  </a:lnTo>
                  <a:lnTo>
                    <a:pt x="10282" y="5152"/>
                  </a:lnTo>
                  <a:lnTo>
                    <a:pt x="10403" y="4726"/>
                  </a:lnTo>
                  <a:lnTo>
                    <a:pt x="10525" y="4300"/>
                  </a:lnTo>
                  <a:lnTo>
                    <a:pt x="10606" y="3894"/>
                  </a:lnTo>
                  <a:lnTo>
                    <a:pt x="10687" y="3489"/>
                  </a:lnTo>
                  <a:lnTo>
                    <a:pt x="10748" y="3103"/>
                  </a:lnTo>
                  <a:lnTo>
                    <a:pt x="10788" y="2718"/>
                  </a:lnTo>
                  <a:lnTo>
                    <a:pt x="10809" y="2353"/>
                  </a:lnTo>
                  <a:lnTo>
                    <a:pt x="10829" y="2008"/>
                  </a:lnTo>
                  <a:lnTo>
                    <a:pt x="10809" y="1664"/>
                  </a:lnTo>
                  <a:lnTo>
                    <a:pt x="10768" y="1359"/>
                  </a:lnTo>
                  <a:lnTo>
                    <a:pt x="10728" y="1096"/>
                  </a:lnTo>
                  <a:lnTo>
                    <a:pt x="10647" y="852"/>
                  </a:lnTo>
                  <a:lnTo>
                    <a:pt x="10565" y="629"/>
                  </a:lnTo>
                  <a:lnTo>
                    <a:pt x="10444" y="447"/>
                  </a:lnTo>
                  <a:lnTo>
                    <a:pt x="10322" y="305"/>
                  </a:lnTo>
                  <a:lnTo>
                    <a:pt x="10180" y="204"/>
                  </a:lnTo>
                  <a:lnTo>
                    <a:pt x="10079" y="163"/>
                  </a:lnTo>
                  <a:lnTo>
                    <a:pt x="9957" y="143"/>
                  </a:lnTo>
                  <a:lnTo>
                    <a:pt x="9612" y="82"/>
                  </a:lnTo>
                  <a:lnTo>
                    <a:pt x="9166" y="62"/>
                  </a:lnTo>
                  <a:lnTo>
                    <a:pt x="8619" y="21"/>
                  </a:lnTo>
                  <a:lnTo>
                    <a:pt x="7361" y="1"/>
                  </a:lnTo>
                  <a:close/>
                </a:path>
              </a:pathLst>
            </a:custGeom>
            <a:solidFill>
              <a:srgbClr val="FC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5"/>
            <p:cNvSpPr/>
            <p:nvPr/>
          </p:nvSpPr>
          <p:spPr>
            <a:xfrm>
              <a:off x="5495500" y="2078356"/>
              <a:ext cx="102697" cy="82721"/>
            </a:xfrm>
            <a:custGeom>
              <a:avLst/>
              <a:gdLst/>
              <a:ahLst/>
              <a:cxnLst/>
              <a:rect l="l" t="t" r="r" b="b"/>
              <a:pathLst>
                <a:path w="6673" h="5375" extrusionOk="0">
                  <a:moveTo>
                    <a:pt x="1" y="1"/>
                  </a:moveTo>
                  <a:lnTo>
                    <a:pt x="1" y="528"/>
                  </a:lnTo>
                  <a:lnTo>
                    <a:pt x="5679" y="5374"/>
                  </a:lnTo>
                  <a:lnTo>
                    <a:pt x="6672" y="4786"/>
                  </a:lnTo>
                  <a:lnTo>
                    <a:pt x="1" y="1"/>
                  </a:lnTo>
                  <a:close/>
                </a:path>
              </a:pathLst>
            </a:custGeom>
            <a:solidFill>
              <a:srgbClr val="FC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5"/>
            <p:cNvSpPr/>
            <p:nvPr/>
          </p:nvSpPr>
          <p:spPr>
            <a:xfrm>
              <a:off x="5495500" y="2078356"/>
              <a:ext cx="102697" cy="82721"/>
            </a:xfrm>
            <a:custGeom>
              <a:avLst/>
              <a:gdLst/>
              <a:ahLst/>
              <a:cxnLst/>
              <a:rect l="l" t="t" r="r" b="b"/>
              <a:pathLst>
                <a:path w="6673" h="5375" fill="none" extrusionOk="0">
                  <a:moveTo>
                    <a:pt x="6672" y="4786"/>
                  </a:moveTo>
                  <a:lnTo>
                    <a:pt x="1" y="1"/>
                  </a:lnTo>
                  <a:lnTo>
                    <a:pt x="1" y="528"/>
                  </a:lnTo>
                  <a:lnTo>
                    <a:pt x="5679" y="5374"/>
                  </a:lnTo>
                </a:path>
              </a:pathLst>
            </a:cu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5"/>
            <p:cNvSpPr/>
            <p:nvPr/>
          </p:nvSpPr>
          <p:spPr>
            <a:xfrm>
              <a:off x="5434340" y="2120171"/>
              <a:ext cx="128583" cy="81782"/>
            </a:xfrm>
            <a:custGeom>
              <a:avLst/>
              <a:gdLst/>
              <a:ahLst/>
              <a:cxnLst/>
              <a:rect l="l" t="t" r="r" b="b"/>
              <a:pathLst>
                <a:path w="8355" h="5314" extrusionOk="0">
                  <a:moveTo>
                    <a:pt x="466" y="1"/>
                  </a:moveTo>
                  <a:lnTo>
                    <a:pt x="0" y="569"/>
                  </a:lnTo>
                  <a:lnTo>
                    <a:pt x="7848" y="5314"/>
                  </a:lnTo>
                  <a:lnTo>
                    <a:pt x="8355" y="4625"/>
                  </a:lnTo>
                  <a:lnTo>
                    <a:pt x="466" y="1"/>
                  </a:lnTo>
                  <a:close/>
                </a:path>
              </a:pathLst>
            </a:custGeom>
            <a:solidFill>
              <a:srgbClr val="FC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5"/>
            <p:cNvSpPr/>
            <p:nvPr/>
          </p:nvSpPr>
          <p:spPr>
            <a:xfrm>
              <a:off x="5434340" y="2120171"/>
              <a:ext cx="128583" cy="81782"/>
            </a:xfrm>
            <a:custGeom>
              <a:avLst/>
              <a:gdLst/>
              <a:ahLst/>
              <a:cxnLst/>
              <a:rect l="l" t="t" r="r" b="b"/>
              <a:pathLst>
                <a:path w="8355" h="5314" fill="none" extrusionOk="0">
                  <a:moveTo>
                    <a:pt x="7848" y="5314"/>
                  </a:moveTo>
                  <a:lnTo>
                    <a:pt x="0" y="569"/>
                  </a:lnTo>
                  <a:lnTo>
                    <a:pt x="466" y="1"/>
                  </a:lnTo>
                  <a:lnTo>
                    <a:pt x="8355" y="4625"/>
                  </a:lnTo>
                </a:path>
              </a:pathLst>
            </a:cu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5"/>
            <p:cNvSpPr/>
            <p:nvPr/>
          </p:nvSpPr>
          <p:spPr>
            <a:xfrm>
              <a:off x="5257693" y="2351744"/>
              <a:ext cx="517458" cy="688502"/>
            </a:xfrm>
            <a:custGeom>
              <a:avLst/>
              <a:gdLst/>
              <a:ahLst/>
              <a:cxnLst/>
              <a:rect l="l" t="t" r="r" b="b"/>
              <a:pathLst>
                <a:path w="33623" h="44737" extrusionOk="0">
                  <a:moveTo>
                    <a:pt x="4421" y="1"/>
                  </a:moveTo>
                  <a:lnTo>
                    <a:pt x="4157" y="21"/>
                  </a:lnTo>
                  <a:lnTo>
                    <a:pt x="3914" y="41"/>
                  </a:lnTo>
                  <a:lnTo>
                    <a:pt x="3650" y="82"/>
                  </a:lnTo>
                  <a:lnTo>
                    <a:pt x="3143" y="204"/>
                  </a:lnTo>
                  <a:lnTo>
                    <a:pt x="2697" y="366"/>
                  </a:lnTo>
                  <a:lnTo>
                    <a:pt x="2271" y="548"/>
                  </a:lnTo>
                  <a:lnTo>
                    <a:pt x="2089" y="650"/>
                  </a:lnTo>
                  <a:lnTo>
                    <a:pt x="1906" y="771"/>
                  </a:lnTo>
                  <a:lnTo>
                    <a:pt x="1562" y="1035"/>
                  </a:lnTo>
                  <a:lnTo>
                    <a:pt x="1257" y="1319"/>
                  </a:lnTo>
                  <a:lnTo>
                    <a:pt x="994" y="1623"/>
                  </a:lnTo>
                  <a:lnTo>
                    <a:pt x="771" y="1968"/>
                  </a:lnTo>
                  <a:lnTo>
                    <a:pt x="568" y="2333"/>
                  </a:lnTo>
                  <a:lnTo>
                    <a:pt x="406" y="2738"/>
                  </a:lnTo>
                  <a:lnTo>
                    <a:pt x="264" y="3144"/>
                  </a:lnTo>
                  <a:lnTo>
                    <a:pt x="162" y="3590"/>
                  </a:lnTo>
                  <a:lnTo>
                    <a:pt x="81" y="4036"/>
                  </a:lnTo>
                  <a:lnTo>
                    <a:pt x="41" y="4523"/>
                  </a:lnTo>
                  <a:lnTo>
                    <a:pt x="0" y="5010"/>
                  </a:lnTo>
                  <a:lnTo>
                    <a:pt x="0" y="5537"/>
                  </a:lnTo>
                  <a:lnTo>
                    <a:pt x="20" y="6064"/>
                  </a:lnTo>
                  <a:lnTo>
                    <a:pt x="61" y="6591"/>
                  </a:lnTo>
                  <a:lnTo>
                    <a:pt x="122" y="7139"/>
                  </a:lnTo>
                  <a:lnTo>
                    <a:pt x="183" y="7707"/>
                  </a:lnTo>
                  <a:lnTo>
                    <a:pt x="284" y="8275"/>
                  </a:lnTo>
                  <a:lnTo>
                    <a:pt x="385" y="8842"/>
                  </a:lnTo>
                  <a:lnTo>
                    <a:pt x="629" y="10019"/>
                  </a:lnTo>
                  <a:lnTo>
                    <a:pt x="933" y="11195"/>
                  </a:lnTo>
                  <a:lnTo>
                    <a:pt x="1257" y="12371"/>
                  </a:lnTo>
                  <a:lnTo>
                    <a:pt x="1582" y="13527"/>
                  </a:lnTo>
                  <a:lnTo>
                    <a:pt x="1947" y="14662"/>
                  </a:lnTo>
                  <a:lnTo>
                    <a:pt x="2271" y="15656"/>
                  </a:lnTo>
                  <a:lnTo>
                    <a:pt x="2616" y="16650"/>
                  </a:lnTo>
                  <a:lnTo>
                    <a:pt x="2981" y="17603"/>
                  </a:lnTo>
                  <a:lnTo>
                    <a:pt x="3366" y="18536"/>
                  </a:lnTo>
                  <a:lnTo>
                    <a:pt x="3772" y="19469"/>
                  </a:lnTo>
                  <a:lnTo>
                    <a:pt x="4198" y="20361"/>
                  </a:lnTo>
                  <a:lnTo>
                    <a:pt x="4644" y="21253"/>
                  </a:lnTo>
                  <a:lnTo>
                    <a:pt x="5090" y="22125"/>
                  </a:lnTo>
                  <a:lnTo>
                    <a:pt x="5557" y="22977"/>
                  </a:lnTo>
                  <a:lnTo>
                    <a:pt x="6043" y="23808"/>
                  </a:lnTo>
                  <a:lnTo>
                    <a:pt x="6550" y="24619"/>
                  </a:lnTo>
                  <a:lnTo>
                    <a:pt x="7057" y="25410"/>
                  </a:lnTo>
                  <a:lnTo>
                    <a:pt x="7584" y="26201"/>
                  </a:lnTo>
                  <a:lnTo>
                    <a:pt x="8112" y="26951"/>
                  </a:lnTo>
                  <a:lnTo>
                    <a:pt x="8659" y="27702"/>
                  </a:lnTo>
                  <a:lnTo>
                    <a:pt x="9227" y="28432"/>
                  </a:lnTo>
                  <a:lnTo>
                    <a:pt x="9775" y="29142"/>
                  </a:lnTo>
                  <a:lnTo>
                    <a:pt x="10363" y="29831"/>
                  </a:lnTo>
                  <a:lnTo>
                    <a:pt x="10930" y="30500"/>
                  </a:lnTo>
                  <a:lnTo>
                    <a:pt x="11519" y="31149"/>
                  </a:lnTo>
                  <a:lnTo>
                    <a:pt x="12107" y="31798"/>
                  </a:lnTo>
                  <a:lnTo>
                    <a:pt x="12695" y="32427"/>
                  </a:lnTo>
                  <a:lnTo>
                    <a:pt x="13283" y="33035"/>
                  </a:lnTo>
                  <a:lnTo>
                    <a:pt x="13891" y="33623"/>
                  </a:lnTo>
                  <a:lnTo>
                    <a:pt x="14500" y="34191"/>
                  </a:lnTo>
                  <a:lnTo>
                    <a:pt x="15088" y="34759"/>
                  </a:lnTo>
                  <a:lnTo>
                    <a:pt x="16304" y="35813"/>
                  </a:lnTo>
                  <a:lnTo>
                    <a:pt x="17501" y="36807"/>
                  </a:lnTo>
                  <a:lnTo>
                    <a:pt x="18677" y="37760"/>
                  </a:lnTo>
                  <a:lnTo>
                    <a:pt x="19833" y="38632"/>
                  </a:lnTo>
                  <a:lnTo>
                    <a:pt x="20989" y="39443"/>
                  </a:lnTo>
                  <a:lnTo>
                    <a:pt x="22084" y="40194"/>
                  </a:lnTo>
                  <a:lnTo>
                    <a:pt x="23159" y="40883"/>
                  </a:lnTo>
                  <a:lnTo>
                    <a:pt x="24173" y="41512"/>
                  </a:lnTo>
                  <a:lnTo>
                    <a:pt x="25126" y="42080"/>
                  </a:lnTo>
                  <a:lnTo>
                    <a:pt x="26038" y="42607"/>
                  </a:lnTo>
                  <a:lnTo>
                    <a:pt x="26870" y="43053"/>
                  </a:lnTo>
                  <a:lnTo>
                    <a:pt x="27640" y="43458"/>
                  </a:lnTo>
                  <a:lnTo>
                    <a:pt x="28330" y="43803"/>
                  </a:lnTo>
                  <a:lnTo>
                    <a:pt x="29425" y="44310"/>
                  </a:lnTo>
                  <a:lnTo>
                    <a:pt x="30135" y="44635"/>
                  </a:lnTo>
                  <a:lnTo>
                    <a:pt x="30378" y="44736"/>
                  </a:lnTo>
                  <a:lnTo>
                    <a:pt x="30621" y="44270"/>
                  </a:lnTo>
                  <a:lnTo>
                    <a:pt x="31331" y="42992"/>
                  </a:lnTo>
                  <a:lnTo>
                    <a:pt x="31797" y="42080"/>
                  </a:lnTo>
                  <a:lnTo>
                    <a:pt x="32365" y="40984"/>
                  </a:lnTo>
                  <a:lnTo>
                    <a:pt x="32974" y="39747"/>
                  </a:lnTo>
                  <a:lnTo>
                    <a:pt x="33623" y="38348"/>
                  </a:lnTo>
                  <a:lnTo>
                    <a:pt x="32751" y="37922"/>
                  </a:lnTo>
                  <a:lnTo>
                    <a:pt x="31879" y="37456"/>
                  </a:lnTo>
                  <a:lnTo>
                    <a:pt x="31047" y="36969"/>
                  </a:lnTo>
                  <a:lnTo>
                    <a:pt x="30236" y="36483"/>
                  </a:lnTo>
                  <a:lnTo>
                    <a:pt x="29445" y="35976"/>
                  </a:lnTo>
                  <a:lnTo>
                    <a:pt x="28675" y="35448"/>
                  </a:lnTo>
                  <a:lnTo>
                    <a:pt x="27924" y="34921"/>
                  </a:lnTo>
                  <a:lnTo>
                    <a:pt x="27214" y="34374"/>
                  </a:lnTo>
                  <a:lnTo>
                    <a:pt x="26505" y="33806"/>
                  </a:lnTo>
                  <a:lnTo>
                    <a:pt x="25815" y="33238"/>
                  </a:lnTo>
                  <a:lnTo>
                    <a:pt x="25166" y="32650"/>
                  </a:lnTo>
                  <a:lnTo>
                    <a:pt x="24517" y="32062"/>
                  </a:lnTo>
                  <a:lnTo>
                    <a:pt x="23909" y="31453"/>
                  </a:lnTo>
                  <a:lnTo>
                    <a:pt x="23301" y="30845"/>
                  </a:lnTo>
                  <a:lnTo>
                    <a:pt x="22733" y="30216"/>
                  </a:lnTo>
                  <a:lnTo>
                    <a:pt x="22165" y="29608"/>
                  </a:lnTo>
                  <a:lnTo>
                    <a:pt x="21638" y="28979"/>
                  </a:lnTo>
                  <a:lnTo>
                    <a:pt x="21110" y="28330"/>
                  </a:lnTo>
                  <a:lnTo>
                    <a:pt x="20604" y="27702"/>
                  </a:lnTo>
                  <a:lnTo>
                    <a:pt x="20117" y="27053"/>
                  </a:lnTo>
                  <a:lnTo>
                    <a:pt x="19650" y="26404"/>
                  </a:lnTo>
                  <a:lnTo>
                    <a:pt x="19204" y="25755"/>
                  </a:lnTo>
                  <a:lnTo>
                    <a:pt x="18778" y="25106"/>
                  </a:lnTo>
                  <a:lnTo>
                    <a:pt x="18353" y="24457"/>
                  </a:lnTo>
                  <a:lnTo>
                    <a:pt x="17947" y="23808"/>
                  </a:lnTo>
                  <a:lnTo>
                    <a:pt x="17562" y="23159"/>
                  </a:lnTo>
                  <a:lnTo>
                    <a:pt x="17197" y="22531"/>
                  </a:lnTo>
                  <a:lnTo>
                    <a:pt x="16852" y="21882"/>
                  </a:lnTo>
                  <a:lnTo>
                    <a:pt x="16203" y="20604"/>
                  </a:lnTo>
                  <a:lnTo>
                    <a:pt x="15595" y="19347"/>
                  </a:lnTo>
                  <a:lnTo>
                    <a:pt x="15047" y="18130"/>
                  </a:lnTo>
                  <a:lnTo>
                    <a:pt x="14560" y="16934"/>
                  </a:lnTo>
                  <a:lnTo>
                    <a:pt x="14135" y="15798"/>
                  </a:lnTo>
                  <a:lnTo>
                    <a:pt x="13729" y="14683"/>
                  </a:lnTo>
                  <a:lnTo>
                    <a:pt x="13384" y="13628"/>
                  </a:lnTo>
                  <a:lnTo>
                    <a:pt x="13100" y="12635"/>
                  </a:lnTo>
                  <a:lnTo>
                    <a:pt x="12837" y="11702"/>
                  </a:lnTo>
                  <a:lnTo>
                    <a:pt x="12614" y="10850"/>
                  </a:lnTo>
                  <a:lnTo>
                    <a:pt x="12431" y="10059"/>
                  </a:lnTo>
                  <a:lnTo>
                    <a:pt x="12269" y="9370"/>
                  </a:lnTo>
                  <a:lnTo>
                    <a:pt x="12046" y="8254"/>
                  </a:lnTo>
                  <a:lnTo>
                    <a:pt x="11944" y="7545"/>
                  </a:lnTo>
                  <a:lnTo>
                    <a:pt x="11904" y="7301"/>
                  </a:lnTo>
                  <a:lnTo>
                    <a:pt x="11782" y="6936"/>
                  </a:lnTo>
                  <a:lnTo>
                    <a:pt x="11620" y="6531"/>
                  </a:lnTo>
                  <a:lnTo>
                    <a:pt x="11397" y="6024"/>
                  </a:lnTo>
                  <a:lnTo>
                    <a:pt x="11113" y="5415"/>
                  </a:lnTo>
                  <a:lnTo>
                    <a:pt x="10768" y="4746"/>
                  </a:lnTo>
                  <a:lnTo>
                    <a:pt x="10342" y="4036"/>
                  </a:lnTo>
                  <a:lnTo>
                    <a:pt x="10119" y="3671"/>
                  </a:lnTo>
                  <a:lnTo>
                    <a:pt x="9856" y="3306"/>
                  </a:lnTo>
                  <a:lnTo>
                    <a:pt x="9592" y="2941"/>
                  </a:lnTo>
                  <a:lnTo>
                    <a:pt x="9328" y="2597"/>
                  </a:lnTo>
                  <a:lnTo>
                    <a:pt x="9024" y="2252"/>
                  </a:lnTo>
                  <a:lnTo>
                    <a:pt x="8700" y="1907"/>
                  </a:lnTo>
                  <a:lnTo>
                    <a:pt x="8375" y="1603"/>
                  </a:lnTo>
                  <a:lnTo>
                    <a:pt x="8031" y="1299"/>
                  </a:lnTo>
                  <a:lnTo>
                    <a:pt x="7666" y="1015"/>
                  </a:lnTo>
                  <a:lnTo>
                    <a:pt x="7280" y="771"/>
                  </a:lnTo>
                  <a:lnTo>
                    <a:pt x="6895" y="548"/>
                  </a:lnTo>
                  <a:lnTo>
                    <a:pt x="6489" y="366"/>
                  </a:lnTo>
                  <a:lnTo>
                    <a:pt x="6043" y="224"/>
                  </a:lnTo>
                  <a:lnTo>
                    <a:pt x="5597" y="102"/>
                  </a:lnTo>
                  <a:lnTo>
                    <a:pt x="5131" y="21"/>
                  </a:lnTo>
                  <a:lnTo>
                    <a:pt x="4664" y="1"/>
                  </a:lnTo>
                  <a:close/>
                </a:path>
              </a:pathLst>
            </a:custGeom>
            <a:solidFill>
              <a:srgbClr val="FC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5"/>
            <p:cNvSpPr/>
            <p:nvPr/>
          </p:nvSpPr>
          <p:spPr>
            <a:xfrm>
              <a:off x="5117552" y="2956895"/>
              <a:ext cx="334271" cy="647611"/>
            </a:xfrm>
            <a:custGeom>
              <a:avLst/>
              <a:gdLst/>
              <a:ahLst/>
              <a:cxnLst/>
              <a:rect l="l" t="t" r="r" b="b"/>
              <a:pathLst>
                <a:path w="21720" h="42080" extrusionOk="0">
                  <a:moveTo>
                    <a:pt x="1" y="1"/>
                  </a:moveTo>
                  <a:lnTo>
                    <a:pt x="143" y="6794"/>
                  </a:lnTo>
                  <a:lnTo>
                    <a:pt x="3509" y="6794"/>
                  </a:lnTo>
                  <a:lnTo>
                    <a:pt x="3671" y="6956"/>
                  </a:lnTo>
                  <a:lnTo>
                    <a:pt x="4138" y="7402"/>
                  </a:lnTo>
                  <a:lnTo>
                    <a:pt x="4868" y="8132"/>
                  </a:lnTo>
                  <a:lnTo>
                    <a:pt x="5821" y="9167"/>
                  </a:lnTo>
                  <a:lnTo>
                    <a:pt x="6369" y="9795"/>
                  </a:lnTo>
                  <a:lnTo>
                    <a:pt x="6977" y="10485"/>
                  </a:lnTo>
                  <a:lnTo>
                    <a:pt x="7606" y="11235"/>
                  </a:lnTo>
                  <a:lnTo>
                    <a:pt x="8275" y="12067"/>
                  </a:lnTo>
                  <a:lnTo>
                    <a:pt x="8964" y="12959"/>
                  </a:lnTo>
                  <a:lnTo>
                    <a:pt x="9674" y="13912"/>
                  </a:lnTo>
                  <a:lnTo>
                    <a:pt x="10424" y="14946"/>
                  </a:lnTo>
                  <a:lnTo>
                    <a:pt x="11175" y="16041"/>
                  </a:lnTo>
                  <a:lnTo>
                    <a:pt x="11945" y="17197"/>
                  </a:lnTo>
                  <a:lnTo>
                    <a:pt x="12716" y="18434"/>
                  </a:lnTo>
                  <a:lnTo>
                    <a:pt x="13507" y="19732"/>
                  </a:lnTo>
                  <a:lnTo>
                    <a:pt x="14277" y="21070"/>
                  </a:lnTo>
                  <a:lnTo>
                    <a:pt x="15048" y="22490"/>
                  </a:lnTo>
                  <a:lnTo>
                    <a:pt x="15798" y="23970"/>
                  </a:lnTo>
                  <a:lnTo>
                    <a:pt x="16549" y="25511"/>
                  </a:lnTo>
                  <a:lnTo>
                    <a:pt x="17258" y="27113"/>
                  </a:lnTo>
                  <a:lnTo>
                    <a:pt x="17603" y="27945"/>
                  </a:lnTo>
                  <a:lnTo>
                    <a:pt x="17948" y="28797"/>
                  </a:lnTo>
                  <a:lnTo>
                    <a:pt x="18292" y="29648"/>
                  </a:lnTo>
                  <a:lnTo>
                    <a:pt x="18617" y="30520"/>
                  </a:lnTo>
                  <a:lnTo>
                    <a:pt x="18941" y="31392"/>
                  </a:lnTo>
                  <a:lnTo>
                    <a:pt x="19246" y="32305"/>
                  </a:lnTo>
                  <a:lnTo>
                    <a:pt x="19550" y="33217"/>
                  </a:lnTo>
                  <a:lnTo>
                    <a:pt x="19834" y="34130"/>
                  </a:lnTo>
                  <a:lnTo>
                    <a:pt x="20118" y="35083"/>
                  </a:lnTo>
                  <a:lnTo>
                    <a:pt x="20381" y="36036"/>
                  </a:lnTo>
                  <a:lnTo>
                    <a:pt x="20645" y="37010"/>
                  </a:lnTo>
                  <a:lnTo>
                    <a:pt x="20888" y="38003"/>
                  </a:lnTo>
                  <a:lnTo>
                    <a:pt x="21132" y="38997"/>
                  </a:lnTo>
                  <a:lnTo>
                    <a:pt x="21334" y="40011"/>
                  </a:lnTo>
                  <a:lnTo>
                    <a:pt x="21537" y="41045"/>
                  </a:lnTo>
                  <a:lnTo>
                    <a:pt x="21720" y="42079"/>
                  </a:lnTo>
                  <a:lnTo>
                    <a:pt x="21639" y="41471"/>
                  </a:lnTo>
                  <a:lnTo>
                    <a:pt x="21456" y="40214"/>
                  </a:lnTo>
                  <a:lnTo>
                    <a:pt x="21152" y="38409"/>
                  </a:lnTo>
                  <a:lnTo>
                    <a:pt x="20726" y="36117"/>
                  </a:lnTo>
                  <a:lnTo>
                    <a:pt x="20462" y="34819"/>
                  </a:lnTo>
                  <a:lnTo>
                    <a:pt x="20178" y="33440"/>
                  </a:lnTo>
                  <a:lnTo>
                    <a:pt x="19854" y="31980"/>
                  </a:lnTo>
                  <a:lnTo>
                    <a:pt x="19509" y="30439"/>
                  </a:lnTo>
                  <a:lnTo>
                    <a:pt x="19124" y="28837"/>
                  </a:lnTo>
                  <a:lnTo>
                    <a:pt x="18698" y="27195"/>
                  </a:lnTo>
                  <a:lnTo>
                    <a:pt x="18252" y="25511"/>
                  </a:lnTo>
                  <a:lnTo>
                    <a:pt x="17745" y="23808"/>
                  </a:lnTo>
                  <a:lnTo>
                    <a:pt x="17218" y="22064"/>
                  </a:lnTo>
                  <a:lnTo>
                    <a:pt x="16650" y="20320"/>
                  </a:lnTo>
                  <a:lnTo>
                    <a:pt x="16042" y="18576"/>
                  </a:lnTo>
                  <a:lnTo>
                    <a:pt x="15393" y="16832"/>
                  </a:lnTo>
                  <a:lnTo>
                    <a:pt x="14703" y="15129"/>
                  </a:lnTo>
                  <a:lnTo>
                    <a:pt x="14338" y="14277"/>
                  </a:lnTo>
                  <a:lnTo>
                    <a:pt x="13973" y="13425"/>
                  </a:lnTo>
                  <a:lnTo>
                    <a:pt x="13588" y="12594"/>
                  </a:lnTo>
                  <a:lnTo>
                    <a:pt x="13202" y="11783"/>
                  </a:lnTo>
                  <a:lnTo>
                    <a:pt x="12797" y="10971"/>
                  </a:lnTo>
                  <a:lnTo>
                    <a:pt x="12391" y="10181"/>
                  </a:lnTo>
                  <a:lnTo>
                    <a:pt x="11965" y="9390"/>
                  </a:lnTo>
                  <a:lnTo>
                    <a:pt x="11519" y="8619"/>
                  </a:lnTo>
                  <a:lnTo>
                    <a:pt x="11073" y="7889"/>
                  </a:lnTo>
                  <a:lnTo>
                    <a:pt x="10627" y="7159"/>
                  </a:lnTo>
                  <a:lnTo>
                    <a:pt x="10161" y="6449"/>
                  </a:lnTo>
                  <a:lnTo>
                    <a:pt x="9674" y="5760"/>
                  </a:lnTo>
                  <a:lnTo>
                    <a:pt x="9187" y="5091"/>
                  </a:lnTo>
                  <a:lnTo>
                    <a:pt x="8680" y="4442"/>
                  </a:lnTo>
                  <a:lnTo>
                    <a:pt x="8173" y="3813"/>
                  </a:lnTo>
                  <a:lnTo>
                    <a:pt x="7646" y="3225"/>
                  </a:lnTo>
                  <a:lnTo>
                    <a:pt x="7099" y="2657"/>
                  </a:lnTo>
                  <a:lnTo>
                    <a:pt x="6551" y="2110"/>
                  </a:lnTo>
                  <a:lnTo>
                    <a:pt x="5983" y="1603"/>
                  </a:lnTo>
                  <a:lnTo>
                    <a:pt x="5415" y="1136"/>
                  </a:lnTo>
                  <a:lnTo>
                    <a:pt x="4827" y="690"/>
                  </a:lnTo>
                  <a:lnTo>
                    <a:pt x="4239" y="264"/>
                  </a:lnTo>
                  <a:lnTo>
                    <a:pt x="1" y="1"/>
                  </a:lnTo>
                  <a:close/>
                </a:path>
              </a:pathLst>
            </a:custGeom>
            <a:solidFill>
              <a:srgbClr val="E4E7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5"/>
            <p:cNvSpPr/>
            <p:nvPr/>
          </p:nvSpPr>
          <p:spPr>
            <a:xfrm>
              <a:off x="5253630" y="2475957"/>
              <a:ext cx="117672" cy="325529"/>
            </a:xfrm>
            <a:custGeom>
              <a:avLst/>
              <a:gdLst/>
              <a:ahLst/>
              <a:cxnLst/>
              <a:rect l="l" t="t" r="r" b="b"/>
              <a:pathLst>
                <a:path w="7646" h="21152" extrusionOk="0">
                  <a:moveTo>
                    <a:pt x="508" y="1"/>
                  </a:moveTo>
                  <a:lnTo>
                    <a:pt x="406" y="528"/>
                  </a:lnTo>
                  <a:lnTo>
                    <a:pt x="305" y="1035"/>
                  </a:lnTo>
                  <a:lnTo>
                    <a:pt x="224" y="1562"/>
                  </a:lnTo>
                  <a:lnTo>
                    <a:pt x="142" y="2069"/>
                  </a:lnTo>
                  <a:lnTo>
                    <a:pt x="82" y="2576"/>
                  </a:lnTo>
                  <a:lnTo>
                    <a:pt x="41" y="3083"/>
                  </a:lnTo>
                  <a:lnTo>
                    <a:pt x="21" y="3590"/>
                  </a:lnTo>
                  <a:lnTo>
                    <a:pt x="1" y="4097"/>
                  </a:lnTo>
                  <a:lnTo>
                    <a:pt x="1" y="5091"/>
                  </a:lnTo>
                  <a:lnTo>
                    <a:pt x="61" y="6085"/>
                  </a:lnTo>
                  <a:lnTo>
                    <a:pt x="163" y="7038"/>
                  </a:lnTo>
                  <a:lnTo>
                    <a:pt x="284" y="7991"/>
                  </a:lnTo>
                  <a:lnTo>
                    <a:pt x="467" y="8924"/>
                  </a:lnTo>
                  <a:lnTo>
                    <a:pt x="670" y="9816"/>
                  </a:lnTo>
                  <a:lnTo>
                    <a:pt x="893" y="10708"/>
                  </a:lnTo>
                  <a:lnTo>
                    <a:pt x="1156" y="11560"/>
                  </a:lnTo>
                  <a:lnTo>
                    <a:pt x="1420" y="12412"/>
                  </a:lnTo>
                  <a:lnTo>
                    <a:pt x="1724" y="13202"/>
                  </a:lnTo>
                  <a:lnTo>
                    <a:pt x="2028" y="13993"/>
                  </a:lnTo>
                  <a:lnTo>
                    <a:pt x="2353" y="14744"/>
                  </a:lnTo>
                  <a:lnTo>
                    <a:pt x="2677" y="15453"/>
                  </a:lnTo>
                  <a:lnTo>
                    <a:pt x="3022" y="16123"/>
                  </a:lnTo>
                  <a:lnTo>
                    <a:pt x="3347" y="16771"/>
                  </a:lnTo>
                  <a:lnTo>
                    <a:pt x="3671" y="17380"/>
                  </a:lnTo>
                  <a:lnTo>
                    <a:pt x="3995" y="17948"/>
                  </a:lnTo>
                  <a:lnTo>
                    <a:pt x="4320" y="18475"/>
                  </a:lnTo>
                  <a:lnTo>
                    <a:pt x="4908" y="19408"/>
                  </a:lnTo>
                  <a:lnTo>
                    <a:pt x="5415" y="20138"/>
                  </a:lnTo>
                  <a:lnTo>
                    <a:pt x="5800" y="20685"/>
                  </a:lnTo>
                  <a:lnTo>
                    <a:pt x="6145" y="21152"/>
                  </a:lnTo>
                  <a:lnTo>
                    <a:pt x="7646" y="17887"/>
                  </a:lnTo>
                  <a:lnTo>
                    <a:pt x="7362" y="17562"/>
                  </a:lnTo>
                  <a:lnTo>
                    <a:pt x="7058" y="17157"/>
                  </a:lnTo>
                  <a:lnTo>
                    <a:pt x="6632" y="16609"/>
                  </a:lnTo>
                  <a:lnTo>
                    <a:pt x="6145" y="15920"/>
                  </a:lnTo>
                  <a:lnTo>
                    <a:pt x="5598" y="15068"/>
                  </a:lnTo>
                  <a:lnTo>
                    <a:pt x="5009" y="14095"/>
                  </a:lnTo>
                  <a:lnTo>
                    <a:pt x="4685" y="13567"/>
                  </a:lnTo>
                  <a:lnTo>
                    <a:pt x="4381" y="13000"/>
                  </a:lnTo>
                  <a:lnTo>
                    <a:pt x="4056" y="12391"/>
                  </a:lnTo>
                  <a:lnTo>
                    <a:pt x="3752" y="11763"/>
                  </a:lnTo>
                  <a:lnTo>
                    <a:pt x="3428" y="11093"/>
                  </a:lnTo>
                  <a:lnTo>
                    <a:pt x="3123" y="10404"/>
                  </a:lnTo>
                  <a:lnTo>
                    <a:pt x="2819" y="9674"/>
                  </a:lnTo>
                  <a:lnTo>
                    <a:pt x="2515" y="8924"/>
                  </a:lnTo>
                  <a:lnTo>
                    <a:pt x="2231" y="8153"/>
                  </a:lnTo>
                  <a:lnTo>
                    <a:pt x="1968" y="7342"/>
                  </a:lnTo>
                  <a:lnTo>
                    <a:pt x="1704" y="6510"/>
                  </a:lnTo>
                  <a:lnTo>
                    <a:pt x="1461" y="5659"/>
                  </a:lnTo>
                  <a:lnTo>
                    <a:pt x="1258" y="4766"/>
                  </a:lnTo>
                  <a:lnTo>
                    <a:pt x="1055" y="3874"/>
                  </a:lnTo>
                  <a:lnTo>
                    <a:pt x="873" y="2941"/>
                  </a:lnTo>
                  <a:lnTo>
                    <a:pt x="731" y="1988"/>
                  </a:lnTo>
                  <a:lnTo>
                    <a:pt x="609" y="995"/>
                  </a:lnTo>
                  <a:lnTo>
                    <a:pt x="508" y="1"/>
                  </a:lnTo>
                  <a:close/>
                </a:path>
              </a:pathLst>
            </a:custGeom>
            <a:solidFill>
              <a:srgbClr val="E4E7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5"/>
            <p:cNvSpPr/>
            <p:nvPr/>
          </p:nvSpPr>
          <p:spPr>
            <a:xfrm>
              <a:off x="5451807" y="3880372"/>
              <a:ext cx="268725" cy="169167"/>
            </a:xfrm>
            <a:custGeom>
              <a:avLst/>
              <a:gdLst/>
              <a:ahLst/>
              <a:cxnLst/>
              <a:rect l="l" t="t" r="r" b="b"/>
              <a:pathLst>
                <a:path w="17461" h="10992" extrusionOk="0">
                  <a:moveTo>
                    <a:pt x="609" y="1"/>
                  </a:moveTo>
                  <a:lnTo>
                    <a:pt x="1" y="10749"/>
                  </a:lnTo>
                  <a:lnTo>
                    <a:pt x="2394" y="10789"/>
                  </a:lnTo>
                  <a:lnTo>
                    <a:pt x="7686" y="10911"/>
                  </a:lnTo>
                  <a:lnTo>
                    <a:pt x="10586" y="10951"/>
                  </a:lnTo>
                  <a:lnTo>
                    <a:pt x="13202" y="10992"/>
                  </a:lnTo>
                  <a:lnTo>
                    <a:pt x="15190" y="10992"/>
                  </a:lnTo>
                  <a:lnTo>
                    <a:pt x="15838" y="10972"/>
                  </a:lnTo>
                  <a:lnTo>
                    <a:pt x="16183" y="10951"/>
                  </a:lnTo>
                  <a:lnTo>
                    <a:pt x="16285" y="10911"/>
                  </a:lnTo>
                  <a:lnTo>
                    <a:pt x="16386" y="10891"/>
                  </a:lnTo>
                  <a:lnTo>
                    <a:pt x="16589" y="10769"/>
                  </a:lnTo>
                  <a:lnTo>
                    <a:pt x="16751" y="10607"/>
                  </a:lnTo>
                  <a:lnTo>
                    <a:pt x="16913" y="10424"/>
                  </a:lnTo>
                  <a:lnTo>
                    <a:pt x="17075" y="10201"/>
                  </a:lnTo>
                  <a:lnTo>
                    <a:pt x="17197" y="9937"/>
                  </a:lnTo>
                  <a:lnTo>
                    <a:pt x="17299" y="9674"/>
                  </a:lnTo>
                  <a:lnTo>
                    <a:pt x="17380" y="9390"/>
                  </a:lnTo>
                  <a:lnTo>
                    <a:pt x="17440" y="9106"/>
                  </a:lnTo>
                  <a:lnTo>
                    <a:pt x="17461" y="8822"/>
                  </a:lnTo>
                  <a:lnTo>
                    <a:pt x="17461" y="8538"/>
                  </a:lnTo>
                  <a:lnTo>
                    <a:pt x="17420" y="8275"/>
                  </a:lnTo>
                  <a:lnTo>
                    <a:pt x="17359" y="8031"/>
                  </a:lnTo>
                  <a:lnTo>
                    <a:pt x="17299" y="7910"/>
                  </a:lnTo>
                  <a:lnTo>
                    <a:pt x="17238" y="7808"/>
                  </a:lnTo>
                  <a:lnTo>
                    <a:pt x="17177" y="7707"/>
                  </a:lnTo>
                  <a:lnTo>
                    <a:pt x="17075" y="7605"/>
                  </a:lnTo>
                  <a:lnTo>
                    <a:pt x="16994" y="7524"/>
                  </a:lnTo>
                  <a:lnTo>
                    <a:pt x="16893" y="7463"/>
                  </a:lnTo>
                  <a:lnTo>
                    <a:pt x="16609" y="7321"/>
                  </a:lnTo>
                  <a:lnTo>
                    <a:pt x="16224" y="7139"/>
                  </a:lnTo>
                  <a:lnTo>
                    <a:pt x="15230" y="6733"/>
                  </a:lnTo>
                  <a:lnTo>
                    <a:pt x="14034" y="6267"/>
                  </a:lnTo>
                  <a:lnTo>
                    <a:pt x="12756" y="5780"/>
                  </a:lnTo>
                  <a:lnTo>
                    <a:pt x="10485" y="4989"/>
                  </a:lnTo>
                  <a:lnTo>
                    <a:pt x="9511" y="4645"/>
                  </a:lnTo>
                  <a:lnTo>
                    <a:pt x="9593" y="1"/>
                  </a:lnTo>
                  <a:close/>
                </a:path>
              </a:pathLst>
            </a:custGeom>
            <a:solidFill>
              <a:srgbClr val="70AD4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3" name="Google Shape;133;p15"/>
          <p:cNvSpPr txBox="1"/>
          <p:nvPr/>
        </p:nvSpPr>
        <p:spPr>
          <a:xfrm>
            <a:off x="192750" y="2982363"/>
            <a:ext cx="2642400" cy="1360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 sz="1300" b="1" dirty="0">
                <a:latin typeface="Fira Sans Extra Condensed"/>
                <a:ea typeface="Fira Sans Extra Condensed"/>
                <a:cs typeface="Fira Sans Extra Condensed"/>
                <a:sym typeface="Fira Sans Extra Condensed"/>
              </a:rPr>
              <a:t>1.  Root Causes</a:t>
            </a:r>
            <a:br>
              <a:rPr lang="en" sz="1300" b="1" dirty="0">
                <a:latin typeface="Fira Sans Extra Condensed"/>
                <a:ea typeface="Fira Sans Extra Condensed"/>
                <a:cs typeface="Fira Sans Extra Condensed"/>
              </a:rPr>
            </a:br>
            <a:endParaRPr sz="1300" b="1" dirty="0">
              <a:latin typeface="Fira Sans Extra Condensed"/>
              <a:ea typeface="Fira Sans Extra Condensed"/>
              <a:cs typeface="Fira Sans Extra Condensed"/>
              <a:sym typeface="Fira Sans Extra Condensed"/>
            </a:endParaRPr>
          </a:p>
          <a:p>
            <a:pPr marL="609600" lvl="0" indent="-387350" algn="l" rtl="0">
              <a:lnSpc>
                <a:spcPct val="150000"/>
              </a:lnSpc>
              <a:spcBef>
                <a:spcPts val="0"/>
              </a:spcBef>
              <a:spcAft>
                <a:spcPts val="0"/>
              </a:spcAft>
              <a:buClr>
                <a:srgbClr val="000000"/>
              </a:buClr>
              <a:buSzPts val="1300"/>
              <a:buChar char="•"/>
            </a:pPr>
            <a:r>
              <a:rPr lang="en-US" sz="1300" dirty="0">
                <a:latin typeface="Fira Sans Extra Condensed"/>
                <a:ea typeface="Fira Sans Extra Condensed"/>
                <a:cs typeface="Fira Sans Extra Condensed"/>
                <a:sym typeface="Fira Sans Extra Condensed"/>
              </a:rPr>
              <a:t>ED visits rose by 7.4%</a:t>
            </a:r>
          </a:p>
          <a:p>
            <a:pPr marL="609600" lvl="0" indent="-387350" algn="l" rtl="0">
              <a:lnSpc>
                <a:spcPct val="150000"/>
              </a:lnSpc>
              <a:spcBef>
                <a:spcPts val="0"/>
              </a:spcBef>
              <a:spcAft>
                <a:spcPts val="0"/>
              </a:spcAft>
              <a:buClr>
                <a:srgbClr val="000000"/>
              </a:buClr>
              <a:buSzPts val="1300"/>
              <a:buChar char="•"/>
            </a:pPr>
            <a:r>
              <a:rPr lang="en-US" sz="1300" dirty="0">
                <a:latin typeface="Fira Sans Extra Condensed"/>
                <a:ea typeface="Fira Sans Extra Condensed"/>
                <a:cs typeface="Fira Sans Extra Condensed"/>
                <a:sym typeface="Fira Sans Extra Condensed"/>
              </a:rPr>
              <a:t>High-severity visits rising</a:t>
            </a:r>
          </a:p>
        </p:txBody>
      </p:sp>
      <p:sp>
        <p:nvSpPr>
          <p:cNvPr id="134" name="Google Shape;134;p15"/>
          <p:cNvSpPr txBox="1"/>
          <p:nvPr/>
        </p:nvSpPr>
        <p:spPr>
          <a:xfrm>
            <a:off x="813804" y="1051860"/>
            <a:ext cx="3107100" cy="1075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None/>
            </a:pPr>
            <a:r>
              <a:rPr lang="en" sz="1300" b="1" dirty="0">
                <a:latin typeface="Fira Sans Extra Condensed"/>
                <a:ea typeface="Fira Sans Extra Condensed"/>
                <a:cs typeface="Fira Sans Extra Condensed"/>
                <a:sym typeface="Fira Sans Extra Condensed"/>
              </a:rPr>
              <a:t>2. Patients Overflowing</a:t>
            </a:r>
            <a:endParaRPr sz="1300" b="1" dirty="0">
              <a:latin typeface="Fira Sans Extra Condensed"/>
              <a:ea typeface="Fira Sans Extra Condensed"/>
              <a:cs typeface="Fira Sans Extra Condensed"/>
              <a:sym typeface="Fira Sans Extra Condensed"/>
            </a:endParaRPr>
          </a:p>
          <a:p>
            <a:pPr marL="457200" lvl="0" indent="-311150" algn="l" rtl="0">
              <a:lnSpc>
                <a:spcPct val="150000"/>
              </a:lnSpc>
              <a:spcBef>
                <a:spcPts val="1000"/>
              </a:spcBef>
              <a:spcAft>
                <a:spcPts val="0"/>
              </a:spcAft>
              <a:buClr>
                <a:srgbClr val="000000"/>
              </a:buClr>
              <a:buSzPts val="1300"/>
              <a:buFont typeface="Fira Sans Extra Condensed"/>
              <a:buChar char="•"/>
            </a:pPr>
            <a:r>
              <a:rPr lang="en" sz="1300" dirty="0">
                <a:latin typeface="Fira Sans Extra Condensed"/>
                <a:ea typeface="Fira Sans Extra Condensed"/>
                <a:cs typeface="Fira Sans Extra Condensed"/>
                <a:sym typeface="Fira Sans Extra Condensed"/>
              </a:rPr>
              <a:t>Avg wait time : </a:t>
            </a:r>
            <a:r>
              <a:rPr lang="en" sz="1300" b="1" dirty="0">
                <a:latin typeface="Fira Sans Extra Condensed"/>
                <a:ea typeface="Fira Sans Extra Condensed"/>
                <a:cs typeface="Fira Sans Extra Condensed"/>
                <a:sym typeface="Fira Sans Extra Condensed"/>
              </a:rPr>
              <a:t>4h 14m</a:t>
            </a:r>
          </a:p>
          <a:p>
            <a:pPr marL="457200" lvl="0" indent="-311150" algn="l" rtl="0">
              <a:lnSpc>
                <a:spcPct val="150000"/>
              </a:lnSpc>
              <a:spcBef>
                <a:spcPts val="1000"/>
              </a:spcBef>
              <a:spcAft>
                <a:spcPts val="0"/>
              </a:spcAft>
              <a:buClr>
                <a:srgbClr val="000000"/>
              </a:buClr>
              <a:buSzPts val="1300"/>
              <a:buFont typeface="Fira Sans Extra Condensed"/>
              <a:buChar char="•"/>
            </a:pPr>
            <a:r>
              <a:rPr lang="en" sz="1300" dirty="0">
                <a:latin typeface="Fira Sans Extra Condensed"/>
                <a:ea typeface="Fira Sans Extra Condensed"/>
                <a:cs typeface="Fira Sans Extra Condensed"/>
                <a:sym typeface="Fira Sans Extra Condensed"/>
              </a:rPr>
              <a:t>Increasing wait times at different steps</a:t>
            </a:r>
            <a:endParaRPr sz="1300" dirty="0">
              <a:latin typeface="Fira Sans Extra Condensed"/>
              <a:ea typeface="Fira Sans Extra Condensed"/>
              <a:cs typeface="Fira Sans Extra Condensed"/>
              <a:sym typeface="Fira Sans Extra Condensed"/>
            </a:endParaRPr>
          </a:p>
        </p:txBody>
      </p:sp>
      <p:sp>
        <p:nvSpPr>
          <p:cNvPr id="135" name="Google Shape;135;p15"/>
          <p:cNvSpPr txBox="1"/>
          <p:nvPr/>
        </p:nvSpPr>
        <p:spPr>
          <a:xfrm>
            <a:off x="4176475" y="1062175"/>
            <a:ext cx="5155200" cy="15861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1000"/>
              </a:spcBef>
              <a:spcAft>
                <a:spcPts val="0"/>
              </a:spcAft>
              <a:buSzPts val="523"/>
              <a:buNone/>
            </a:pPr>
            <a:r>
              <a:rPr lang="en" sz="1200" b="1" dirty="0">
                <a:latin typeface="Fira Sans Extra Condensed"/>
                <a:ea typeface="Fira Sans Extra Condensed"/>
                <a:cs typeface="Fira Sans Extra Condensed"/>
                <a:sym typeface="Fira Sans Extra Condensed"/>
              </a:rPr>
              <a:t>3. </a:t>
            </a:r>
            <a:r>
              <a:rPr lang="en" sz="1200" b="1" dirty="0">
                <a:solidFill>
                  <a:srgbClr val="000000"/>
                </a:solidFill>
                <a:latin typeface="Fira Sans Extra Condensed"/>
                <a:ea typeface="Fira Sans Extra Condensed"/>
                <a:cs typeface="Fira Sans Extra Condensed"/>
                <a:sym typeface="Fira Sans Extra Condensed"/>
              </a:rPr>
              <a:t>Limited </a:t>
            </a:r>
            <a:r>
              <a:rPr lang="en" sz="1200" b="1" dirty="0">
                <a:latin typeface="Fira Sans Extra Condensed"/>
                <a:ea typeface="Fira Sans Extra Condensed"/>
                <a:cs typeface="Fira Sans Extra Condensed"/>
                <a:sym typeface="Fira Sans Extra Condensed"/>
              </a:rPr>
              <a:t>Resources</a:t>
            </a:r>
            <a:r>
              <a:rPr lang="en" sz="1200" b="1" dirty="0">
                <a:solidFill>
                  <a:srgbClr val="000000"/>
                </a:solidFill>
                <a:latin typeface="Fira Sans Extra Condensed"/>
                <a:ea typeface="Fira Sans Extra Condensed"/>
                <a:cs typeface="Fira Sans Extra Condensed"/>
                <a:sym typeface="Fira Sans Extra Condensed"/>
              </a:rPr>
              <a:t> &amp; Problem</a:t>
            </a:r>
            <a:endParaRPr sz="1200" b="1" dirty="0">
              <a:solidFill>
                <a:srgbClr val="000000"/>
              </a:solidFill>
              <a:latin typeface="Fira Sans Extra Condensed"/>
              <a:ea typeface="Fira Sans Extra Condensed"/>
              <a:cs typeface="Fira Sans Extra Condensed"/>
              <a:sym typeface="Fira Sans Extra Condensed"/>
            </a:endParaRPr>
          </a:p>
          <a:p>
            <a:pPr marL="397510" lvl="0" indent="-171450" algn="l" rtl="0">
              <a:lnSpc>
                <a:spcPct val="80000"/>
              </a:lnSpc>
              <a:spcBef>
                <a:spcPts val="1000"/>
              </a:spcBef>
              <a:spcAft>
                <a:spcPts val="0"/>
              </a:spcAft>
              <a:buClr>
                <a:srgbClr val="000000"/>
              </a:buClr>
              <a:buSzPts val="1240"/>
              <a:buFont typeface="Arial" panose="020B0604020202020204" pitchFamily="34" charset="0"/>
              <a:buChar char="•"/>
            </a:pPr>
            <a:r>
              <a:rPr lang="en" sz="1200" dirty="0">
                <a:solidFill>
                  <a:srgbClr val="000000"/>
                </a:solidFill>
                <a:latin typeface="Fira Sans Extra Condensed"/>
                <a:ea typeface="Fira Sans Extra Condensed"/>
                <a:cs typeface="Fira Sans Extra Condensed"/>
              </a:rPr>
              <a:t>Limited cubicle beds</a:t>
            </a:r>
          </a:p>
          <a:p>
            <a:pPr marL="397510" lvl="0" indent="-171450" algn="l" rtl="0">
              <a:lnSpc>
                <a:spcPct val="80000"/>
              </a:lnSpc>
              <a:spcBef>
                <a:spcPts val="1000"/>
              </a:spcBef>
              <a:spcAft>
                <a:spcPts val="0"/>
              </a:spcAft>
              <a:buClr>
                <a:srgbClr val="000000"/>
              </a:buClr>
              <a:buSzPts val="1240"/>
              <a:buFont typeface="Arial" panose="020B0604020202020204" pitchFamily="34" charset="0"/>
              <a:buChar char="•"/>
            </a:pPr>
            <a:r>
              <a:rPr lang="en" sz="1200" dirty="0">
                <a:solidFill>
                  <a:srgbClr val="000000"/>
                </a:solidFill>
                <a:latin typeface="Fira Sans Extra Condensed"/>
                <a:ea typeface="Fira Sans Extra Condensed"/>
                <a:cs typeface="Fira Sans Extra Condensed"/>
              </a:rPr>
              <a:t>Need to decrease the use of hallway bed</a:t>
            </a:r>
            <a:r>
              <a:rPr lang="en" sz="1200" dirty="0">
                <a:latin typeface="Fira Sans Extra Condensed"/>
                <a:ea typeface="Fira Sans Extra Condensed"/>
                <a:cs typeface="Fira Sans Extra Condensed"/>
              </a:rPr>
              <a:t>s and surge tent beds.</a:t>
            </a:r>
            <a:endParaRPr lang="en" sz="1200" dirty="0">
              <a:solidFill>
                <a:srgbClr val="000000"/>
              </a:solidFill>
              <a:latin typeface="Fira Sans Extra Condensed"/>
              <a:ea typeface="Fira Sans Extra Condensed"/>
              <a:cs typeface="Fira Sans Extra Condensed"/>
            </a:endParaRPr>
          </a:p>
          <a:p>
            <a:pPr marL="0" lvl="0" indent="0" algn="l" rtl="0">
              <a:lnSpc>
                <a:spcPct val="80000"/>
              </a:lnSpc>
              <a:spcBef>
                <a:spcPts val="1000"/>
              </a:spcBef>
              <a:spcAft>
                <a:spcPts val="0"/>
              </a:spcAft>
              <a:buSzPts val="523"/>
              <a:buNone/>
            </a:pPr>
            <a:endParaRPr sz="1002" dirty="0">
              <a:solidFill>
                <a:srgbClr val="000000"/>
              </a:solidFill>
              <a:latin typeface="Calibri"/>
              <a:ea typeface="Calibri"/>
              <a:cs typeface="Calibri"/>
              <a:sym typeface="Calibri"/>
            </a:endParaRPr>
          </a:p>
        </p:txBody>
      </p:sp>
      <p:sp>
        <p:nvSpPr>
          <p:cNvPr id="136" name="Google Shape;136;p15"/>
          <p:cNvSpPr txBox="1"/>
          <p:nvPr/>
        </p:nvSpPr>
        <p:spPr>
          <a:xfrm>
            <a:off x="6069050" y="2982375"/>
            <a:ext cx="3013200" cy="19299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1000"/>
              </a:spcBef>
              <a:spcAft>
                <a:spcPts val="0"/>
              </a:spcAft>
              <a:buNone/>
            </a:pPr>
            <a:r>
              <a:rPr lang="en" sz="1300" b="1" dirty="0">
                <a:latin typeface="Fira Sans Extra Condensed"/>
                <a:ea typeface="Fira Sans Extra Condensed"/>
                <a:cs typeface="Fira Sans Extra Condensed"/>
                <a:sym typeface="Fira Sans Extra Condensed"/>
              </a:rPr>
              <a:t>4. </a:t>
            </a:r>
            <a:r>
              <a:rPr lang="en" sz="1300" b="1" dirty="0">
                <a:solidFill>
                  <a:srgbClr val="000000"/>
                </a:solidFill>
                <a:latin typeface="Fira Sans Extra Condensed"/>
                <a:ea typeface="Fira Sans Extra Condensed"/>
                <a:cs typeface="Fira Sans Extra Condensed"/>
                <a:sym typeface="Fira Sans Extra Condensed"/>
              </a:rPr>
              <a:t>Simulation Engine</a:t>
            </a:r>
            <a:endParaRPr sz="1300" b="1" dirty="0">
              <a:solidFill>
                <a:srgbClr val="000000"/>
              </a:solidFill>
              <a:latin typeface="Fira Sans Extra Condensed"/>
              <a:ea typeface="Fira Sans Extra Condensed"/>
              <a:cs typeface="Fira Sans Extra Condensed"/>
              <a:sym typeface="Fira Sans Extra Condensed"/>
            </a:endParaRPr>
          </a:p>
          <a:p>
            <a:pPr marL="609600" lvl="0" indent="-387350" algn="l" rtl="0">
              <a:lnSpc>
                <a:spcPct val="90000"/>
              </a:lnSpc>
              <a:spcBef>
                <a:spcPts val="1000"/>
              </a:spcBef>
              <a:spcAft>
                <a:spcPts val="0"/>
              </a:spcAft>
              <a:buClr>
                <a:srgbClr val="000000"/>
              </a:buClr>
              <a:buSzPts val="1300"/>
              <a:buFont typeface="Fira Sans Extra Condensed"/>
              <a:buChar char="•"/>
            </a:pPr>
            <a:r>
              <a:rPr lang="en" sz="1300" dirty="0">
                <a:latin typeface="Fira Sans Extra Condensed"/>
                <a:ea typeface="Fira Sans Extra Condensed"/>
                <a:cs typeface="Fira Sans Extra Condensed"/>
                <a:sym typeface="Fira Sans Extra Condensed"/>
              </a:rPr>
              <a:t>Gain clear overview</a:t>
            </a:r>
            <a:endParaRPr sz="1300" dirty="0">
              <a:latin typeface="Fira Sans Extra Condensed"/>
              <a:ea typeface="Fira Sans Extra Condensed"/>
              <a:cs typeface="Fira Sans Extra Condensed"/>
              <a:sym typeface="Fira Sans Extra Condensed"/>
            </a:endParaRPr>
          </a:p>
          <a:p>
            <a:pPr marL="609600" lvl="0" indent="-387350" algn="l" rtl="0">
              <a:lnSpc>
                <a:spcPct val="90000"/>
              </a:lnSpc>
              <a:spcBef>
                <a:spcPts val="1000"/>
              </a:spcBef>
              <a:spcAft>
                <a:spcPts val="0"/>
              </a:spcAft>
              <a:buClr>
                <a:srgbClr val="000000"/>
              </a:buClr>
              <a:buSzPts val="1300"/>
              <a:buFont typeface="Fira Sans Extra Condensed"/>
              <a:buChar char="•"/>
            </a:pPr>
            <a:r>
              <a:rPr lang="en" sz="1300" dirty="0">
                <a:latin typeface="Fira Sans Extra Condensed"/>
                <a:ea typeface="Fira Sans Extra Condensed"/>
                <a:cs typeface="Fira Sans Extra Condensed"/>
                <a:sym typeface="Fira Sans Extra Condensed"/>
              </a:rPr>
              <a:t>Select effective interventions to decrease:</a:t>
            </a:r>
            <a:endParaRPr sz="1300" dirty="0">
              <a:latin typeface="Fira Sans Extra Condensed"/>
              <a:ea typeface="Fira Sans Extra Condensed"/>
              <a:cs typeface="Fira Sans Extra Condensed"/>
              <a:sym typeface="Fira Sans Extra Condensed"/>
            </a:endParaRPr>
          </a:p>
          <a:p>
            <a:pPr marL="914400" lvl="1" indent="-311150" algn="l" rtl="0">
              <a:lnSpc>
                <a:spcPct val="90000"/>
              </a:lnSpc>
              <a:spcBef>
                <a:spcPts val="1000"/>
              </a:spcBef>
              <a:spcAft>
                <a:spcPts val="0"/>
              </a:spcAft>
              <a:buClr>
                <a:srgbClr val="000000"/>
              </a:buClr>
              <a:buSzPts val="1300"/>
              <a:buFont typeface="Fira Sans Extra Condensed"/>
              <a:buChar char="•"/>
            </a:pPr>
            <a:r>
              <a:rPr lang="en" sz="1300" dirty="0">
                <a:latin typeface="Fira Sans Extra Condensed"/>
                <a:ea typeface="Fira Sans Extra Condensed"/>
                <a:cs typeface="Fira Sans Extra Condensed"/>
                <a:sym typeface="Fira Sans Extra Condensed"/>
              </a:rPr>
              <a:t># of patients in ED hallway</a:t>
            </a:r>
            <a:endParaRPr sz="1300" dirty="0">
              <a:latin typeface="Fira Sans Extra Condensed"/>
              <a:ea typeface="Fira Sans Extra Condensed"/>
              <a:cs typeface="Fira Sans Extra Condensed"/>
              <a:sym typeface="Fira Sans Extra Condensed"/>
            </a:endParaRPr>
          </a:p>
          <a:p>
            <a:pPr marL="914400" lvl="1" indent="-311150">
              <a:lnSpc>
                <a:spcPct val="90000"/>
              </a:lnSpc>
              <a:spcBef>
                <a:spcPts val="1000"/>
              </a:spcBef>
              <a:buSzPts val="1300"/>
              <a:buFont typeface="Fira Sans Extra Condensed"/>
              <a:buChar char="•"/>
            </a:pPr>
            <a:r>
              <a:rPr lang="en" sz="1300" dirty="0">
                <a:latin typeface="Fira Sans Extra Condensed"/>
                <a:ea typeface="Fira Sans Extra Condensed"/>
                <a:cs typeface="Fira Sans Extra Condensed"/>
                <a:sym typeface="Fira Sans Extra Condensed"/>
              </a:rPr>
              <a:t>EDIP volume</a:t>
            </a:r>
            <a:endParaRPr sz="1300" dirty="0">
              <a:latin typeface="Fira Sans Extra Condensed"/>
              <a:ea typeface="Fira Sans Extra Condensed"/>
              <a:cs typeface="Fira Sans Extra Condensed"/>
              <a:sym typeface="Fira Sans Extra Condensed"/>
            </a:endParaRPr>
          </a:p>
          <a:p>
            <a:pPr marL="914400" lvl="1" indent="-311150">
              <a:lnSpc>
                <a:spcPct val="90000"/>
              </a:lnSpc>
              <a:spcBef>
                <a:spcPts val="1000"/>
              </a:spcBef>
              <a:buSzPts val="1300"/>
              <a:buFont typeface="Fira Sans Extra Condensed"/>
              <a:buChar char="•"/>
            </a:pPr>
            <a:r>
              <a:rPr lang="en" sz="1300" dirty="0">
                <a:latin typeface="Fira Sans Extra Condensed"/>
                <a:ea typeface="Fira Sans Extra Condensed"/>
                <a:cs typeface="Fira Sans Extra Condensed"/>
                <a:sym typeface="Fira Sans Extra Condensed"/>
              </a:rPr>
              <a:t>EDIP LOS</a:t>
            </a:r>
            <a:endParaRPr sz="1300" dirty="0">
              <a:latin typeface="Fira Sans Extra Condensed"/>
              <a:ea typeface="Fira Sans Extra Condensed"/>
              <a:cs typeface="Fira Sans Extra Condensed"/>
              <a:sym typeface="Fira Sans Extra Condensed"/>
            </a:endParaRPr>
          </a:p>
        </p:txBody>
      </p:sp>
      <p:cxnSp>
        <p:nvCxnSpPr>
          <p:cNvPr id="137" name="Google Shape;137;p15"/>
          <p:cNvCxnSpPr>
            <a:stCxn id="133" idx="3"/>
          </p:cNvCxnSpPr>
          <p:nvPr/>
        </p:nvCxnSpPr>
        <p:spPr>
          <a:xfrm>
            <a:off x="2835150" y="3662463"/>
            <a:ext cx="507300" cy="338400"/>
          </a:xfrm>
          <a:prstGeom prst="bentConnector3">
            <a:avLst>
              <a:gd name="adj1" fmla="val 50000"/>
            </a:avLst>
          </a:prstGeom>
          <a:noFill/>
          <a:ln w="9525" cap="flat" cmpd="sng">
            <a:solidFill>
              <a:srgbClr val="44546A"/>
            </a:solidFill>
            <a:prstDash val="solid"/>
            <a:round/>
            <a:headEnd type="none" w="sm" len="sm"/>
            <a:tailEnd type="oval" w="med" len="med"/>
          </a:ln>
        </p:spPr>
      </p:cxnSp>
      <p:cxnSp>
        <p:nvCxnSpPr>
          <p:cNvPr id="138" name="Google Shape;138;p15"/>
          <p:cNvCxnSpPr>
            <a:cxnSpLocks/>
          </p:cNvCxnSpPr>
          <p:nvPr/>
        </p:nvCxnSpPr>
        <p:spPr>
          <a:xfrm rot="16200000" flipH="1">
            <a:off x="2933766" y="2372964"/>
            <a:ext cx="973297" cy="722566"/>
          </a:xfrm>
          <a:prstGeom prst="bentConnector3">
            <a:avLst>
              <a:gd name="adj1" fmla="val 50000"/>
            </a:avLst>
          </a:prstGeom>
          <a:noFill/>
          <a:ln w="9525" cap="flat" cmpd="sng">
            <a:solidFill>
              <a:srgbClr val="44546A"/>
            </a:solidFill>
            <a:prstDash val="solid"/>
            <a:round/>
            <a:headEnd type="none" w="sm" len="sm"/>
            <a:tailEnd type="oval" w="med" len="med"/>
          </a:ln>
        </p:spPr>
      </p:cxnSp>
      <p:cxnSp>
        <p:nvCxnSpPr>
          <p:cNvPr id="139" name="Google Shape;139;p15"/>
          <p:cNvCxnSpPr>
            <a:cxnSpLocks/>
          </p:cNvCxnSpPr>
          <p:nvPr/>
        </p:nvCxnSpPr>
        <p:spPr>
          <a:xfrm rot="5400000">
            <a:off x="4227595" y="2473807"/>
            <a:ext cx="1176473" cy="223112"/>
          </a:xfrm>
          <a:prstGeom prst="bentConnector3">
            <a:avLst>
              <a:gd name="adj1" fmla="val 50000"/>
            </a:avLst>
          </a:prstGeom>
          <a:noFill/>
          <a:ln w="9525" cap="flat" cmpd="sng">
            <a:solidFill>
              <a:srgbClr val="44546A"/>
            </a:solidFill>
            <a:prstDash val="solid"/>
            <a:round/>
            <a:headEnd type="none" w="sm" len="sm"/>
            <a:tailEnd type="oval" w="med" len="med"/>
          </a:ln>
        </p:spPr>
      </p:cxnSp>
      <p:cxnSp>
        <p:nvCxnSpPr>
          <p:cNvPr id="140" name="Google Shape;140;p15"/>
          <p:cNvCxnSpPr>
            <a:cxnSpLocks/>
            <a:stCxn id="136" idx="1"/>
          </p:cNvCxnSpPr>
          <p:nvPr/>
        </p:nvCxnSpPr>
        <p:spPr>
          <a:xfrm flipH="1">
            <a:off x="5119550" y="3947325"/>
            <a:ext cx="949500" cy="333300"/>
          </a:xfrm>
          <a:prstGeom prst="bentConnector3">
            <a:avLst>
              <a:gd name="adj1" fmla="val 50000"/>
            </a:avLst>
          </a:prstGeom>
          <a:noFill/>
          <a:ln w="9525" cap="flat" cmpd="sng">
            <a:solidFill>
              <a:srgbClr val="44546A"/>
            </a:solidFill>
            <a:prstDash val="solid"/>
            <a:round/>
            <a:headEnd type="none" w="sm" len="sm"/>
            <a:tailEnd type="oval"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0"/>
          <p:cNvSpPr txBox="1">
            <a:spLocks noGrp="1"/>
          </p:cNvSpPr>
          <p:nvPr>
            <p:ph type="title"/>
          </p:nvPr>
        </p:nvSpPr>
        <p:spPr>
          <a:xfrm>
            <a:off x="356305" y="99241"/>
            <a:ext cx="8304357" cy="460265"/>
          </a:xfrm>
          <a:prstGeom prst="rect">
            <a:avLst/>
          </a:prstGeom>
        </p:spPr>
        <p:txBody>
          <a:bodyPr spcFirstLastPara="1" wrap="square" lIns="91425" tIns="91425" rIns="91425" bIns="91425" anchor="t" anchorCtr="0">
            <a:noAutofit/>
          </a:bodyPr>
          <a:lstStyle/>
          <a:p>
            <a:pPr>
              <a:buClr>
                <a:srgbClr val="000000"/>
              </a:buClr>
              <a:buSzPct val="100000"/>
              <a:buFont typeface="Arial"/>
            </a:pPr>
            <a:r>
              <a:rPr lang="en" sz="2400" b="0" dirty="0">
                <a:solidFill>
                  <a:srgbClr val="223E82"/>
                </a:solidFill>
                <a:latin typeface="Arial"/>
                <a:ea typeface="Arial"/>
                <a:cs typeface="Arial"/>
                <a:sym typeface="Arial"/>
              </a:rPr>
              <a:t>Soluti</a:t>
            </a:r>
            <a:r>
              <a:rPr lang="en" sz="2400" b="0" dirty="0">
                <a:solidFill>
                  <a:srgbClr val="223E82"/>
                </a:solidFill>
                <a:latin typeface="Arial"/>
                <a:cs typeface="Arial"/>
                <a:sym typeface="Arial"/>
              </a:rPr>
              <a:t>on - Discrete Event Based Simulation</a:t>
            </a:r>
            <a:endParaRPr lang="en-US" sz="2400" b="0" dirty="0">
              <a:solidFill>
                <a:srgbClr val="223E82"/>
              </a:solidFill>
              <a:latin typeface="Arial"/>
              <a:cs typeface="Arial"/>
            </a:endParaRPr>
          </a:p>
          <a:p>
            <a:pPr marL="44450">
              <a:buClr>
                <a:srgbClr val="EF6C00"/>
              </a:buClr>
            </a:pPr>
            <a:endParaRPr lang="en" sz="1400" b="0" dirty="0">
              <a:solidFill>
                <a:srgbClr val="000000"/>
              </a:solidFill>
              <a:latin typeface="Calibri"/>
              <a:ea typeface="Calibri"/>
              <a:cs typeface="Calibri"/>
            </a:endParaRPr>
          </a:p>
          <a:p>
            <a:pPr marL="44450">
              <a:buFont typeface="Arial"/>
            </a:pPr>
            <a:endParaRPr lang="en" sz="2900" b="0" dirty="0">
              <a:solidFill>
                <a:srgbClr val="A1E8D9"/>
              </a:solidFill>
              <a:latin typeface="Calibri"/>
              <a:ea typeface="Calibri"/>
              <a:cs typeface="Calibri"/>
            </a:endParaRPr>
          </a:p>
          <a:p>
            <a:pPr>
              <a:lnSpc>
                <a:spcPct val="114999"/>
              </a:lnSpc>
              <a:spcAft>
                <a:spcPts val="1200"/>
              </a:spcAft>
              <a:buFont typeface="Arial"/>
            </a:pPr>
            <a:endParaRPr lang="en-US" sz="1800" b="0" dirty="0">
              <a:solidFill>
                <a:srgbClr val="A1E8D9"/>
              </a:solidFill>
              <a:latin typeface="Open Sans"/>
              <a:ea typeface="Open Sans"/>
              <a:cs typeface="Open Sans"/>
            </a:endParaRPr>
          </a:p>
          <a:p>
            <a:pPr>
              <a:buFont typeface="Arial"/>
            </a:pPr>
            <a:endParaRPr lang="en" sz="2400" b="0" dirty="0">
              <a:solidFill>
                <a:srgbClr val="223E82"/>
              </a:solidFill>
              <a:latin typeface="Arial"/>
              <a:ea typeface="Calibri"/>
              <a:cs typeface="Arial"/>
            </a:endParaRPr>
          </a:p>
          <a:p>
            <a:pPr>
              <a:buClr>
                <a:srgbClr val="000000"/>
              </a:buClr>
              <a:buSzPct val="100000"/>
            </a:pPr>
            <a:endParaRPr lang="en-US" sz="1400" b="0" dirty="0">
              <a:solidFill>
                <a:srgbClr val="A1E8D9"/>
              </a:solidFill>
              <a:latin typeface="Calibri"/>
              <a:ea typeface="Calibri"/>
              <a:cs typeface="Calibri"/>
            </a:endParaRPr>
          </a:p>
        </p:txBody>
      </p:sp>
      <p:pic>
        <p:nvPicPr>
          <p:cNvPr id="18" name="Picture 17" descr="A diagram of a hospital bed&#10;&#10;Description automatically generated">
            <a:extLst>
              <a:ext uri="{FF2B5EF4-FFF2-40B4-BE49-F238E27FC236}">
                <a16:creationId xmlns:a16="http://schemas.microsoft.com/office/drawing/2014/main" id="{9339B201-7184-8536-F849-CF194ECE1287}"/>
              </a:ext>
            </a:extLst>
          </p:cNvPr>
          <p:cNvPicPr>
            <a:picLocks noChangeAspect="1"/>
          </p:cNvPicPr>
          <p:nvPr/>
        </p:nvPicPr>
        <p:blipFill>
          <a:blip r:embed="rId3"/>
          <a:stretch>
            <a:fillRect/>
          </a:stretch>
        </p:blipFill>
        <p:spPr>
          <a:xfrm>
            <a:off x="684060" y="905290"/>
            <a:ext cx="7363239" cy="3865113"/>
          </a:xfrm>
          <a:prstGeom prst="rect">
            <a:avLst/>
          </a:prstGeom>
        </p:spPr>
      </p:pic>
      <p:pic>
        <p:nvPicPr>
          <p:cNvPr id="3" name="Graphic 2" descr="Sling with solid fill">
            <a:extLst>
              <a:ext uri="{FF2B5EF4-FFF2-40B4-BE49-F238E27FC236}">
                <a16:creationId xmlns:a16="http://schemas.microsoft.com/office/drawing/2014/main" id="{26F6C37A-65DE-870A-D505-40EF0E3599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19742" y="4217078"/>
            <a:ext cx="481397" cy="481397"/>
          </a:xfrm>
          <a:prstGeom prst="rect">
            <a:avLst/>
          </a:prstGeom>
        </p:spPr>
      </p:pic>
      <p:sp>
        <p:nvSpPr>
          <p:cNvPr id="4" name="TextBox 3">
            <a:extLst>
              <a:ext uri="{FF2B5EF4-FFF2-40B4-BE49-F238E27FC236}">
                <a16:creationId xmlns:a16="http://schemas.microsoft.com/office/drawing/2014/main" id="{75C9A19F-065B-7E45-D0A6-CD8727F582C5}"/>
              </a:ext>
            </a:extLst>
          </p:cNvPr>
          <p:cNvSpPr txBox="1"/>
          <p:nvPr/>
        </p:nvSpPr>
        <p:spPr>
          <a:xfrm>
            <a:off x="4105217" y="3478414"/>
            <a:ext cx="2024342" cy="52322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dirty="0"/>
              <a:t>ESI 1-5</a:t>
            </a:r>
          </a:p>
          <a:p>
            <a:pPr marL="285750" indent="-285750">
              <a:buFont typeface="Arial" panose="020B0604020202020204" pitchFamily="34" charset="0"/>
              <a:buChar char="•"/>
            </a:pPr>
            <a:r>
              <a:rPr lang="en-US" dirty="0"/>
              <a:t> Probability based </a:t>
            </a:r>
          </a:p>
        </p:txBody>
      </p:sp>
      <p:sp>
        <p:nvSpPr>
          <p:cNvPr id="11" name="TextBox 10">
            <a:extLst>
              <a:ext uri="{FF2B5EF4-FFF2-40B4-BE49-F238E27FC236}">
                <a16:creationId xmlns:a16="http://schemas.microsoft.com/office/drawing/2014/main" id="{EAFCA032-C1A6-D4EA-FD10-3EED79E6EC43}"/>
              </a:ext>
            </a:extLst>
          </p:cNvPr>
          <p:cNvSpPr txBox="1"/>
          <p:nvPr/>
        </p:nvSpPr>
        <p:spPr>
          <a:xfrm>
            <a:off x="220152" y="2739750"/>
            <a:ext cx="1831672" cy="1015663"/>
          </a:xfrm>
          <a:prstGeom prst="rect">
            <a:avLst/>
          </a:prstGeom>
          <a:solidFill>
            <a:srgbClr val="0070C0"/>
          </a:solidFill>
        </p:spPr>
        <p:style>
          <a:lnRef idx="3">
            <a:schemeClr val="lt1"/>
          </a:lnRef>
          <a:fillRef idx="1">
            <a:schemeClr val="accent5"/>
          </a:fillRef>
          <a:effectRef idx="1">
            <a:schemeClr val="accent5"/>
          </a:effectRef>
          <a:fontRef idx="minor">
            <a:schemeClr val="lt1"/>
          </a:fontRef>
        </p:style>
        <p:txBody>
          <a:bodyPr wrap="square" rtlCol="0">
            <a:spAutoFit/>
          </a:bodyPr>
          <a:lstStyle/>
          <a:p>
            <a:pPr marL="285750" indent="-285750">
              <a:buFont typeface="Arial" panose="020B0604020202020204" pitchFamily="34" charset="0"/>
              <a:buChar char="•"/>
            </a:pPr>
            <a:r>
              <a:rPr lang="en-US" sz="1200" dirty="0"/>
              <a:t>50 Cubicles</a:t>
            </a:r>
          </a:p>
          <a:p>
            <a:pPr marL="285750" indent="-285750">
              <a:buFont typeface="Arial" panose="020B0604020202020204" pitchFamily="34" charset="0"/>
              <a:buChar char="•"/>
            </a:pPr>
            <a:r>
              <a:rPr lang="en-US" sz="1200" dirty="0"/>
              <a:t>27 Hallway beds</a:t>
            </a:r>
          </a:p>
          <a:p>
            <a:pPr marL="285750" indent="-285750">
              <a:buFont typeface="Arial" panose="020B0604020202020204" pitchFamily="34" charset="0"/>
              <a:buChar char="•"/>
            </a:pPr>
            <a:r>
              <a:rPr lang="en-US" sz="1200" dirty="0"/>
              <a:t>ED Treatment time - Log normal distribution</a:t>
            </a:r>
          </a:p>
        </p:txBody>
      </p:sp>
      <p:sp>
        <p:nvSpPr>
          <p:cNvPr id="15" name="TextBox 14">
            <a:extLst>
              <a:ext uri="{FF2B5EF4-FFF2-40B4-BE49-F238E27FC236}">
                <a16:creationId xmlns:a16="http://schemas.microsoft.com/office/drawing/2014/main" id="{AACC1F2B-83FC-5075-7DE0-2E739B1AD74E}"/>
              </a:ext>
            </a:extLst>
          </p:cNvPr>
          <p:cNvSpPr txBox="1"/>
          <p:nvPr/>
        </p:nvSpPr>
        <p:spPr>
          <a:xfrm>
            <a:off x="5209081" y="2576889"/>
            <a:ext cx="2336577" cy="646331"/>
          </a:xfrm>
          <a:prstGeom prst="rect">
            <a:avLst/>
          </a:prstGeom>
          <a:solidFill>
            <a:srgbClr val="0070C0"/>
          </a:solidFill>
        </p:spPr>
        <p:style>
          <a:lnRef idx="3">
            <a:schemeClr val="lt1"/>
          </a:lnRef>
          <a:fillRef idx="1">
            <a:schemeClr val="accent5"/>
          </a:fillRef>
          <a:effectRef idx="1">
            <a:schemeClr val="accent5"/>
          </a:effectRef>
          <a:fontRef idx="minor">
            <a:schemeClr val="lt1"/>
          </a:fontRef>
        </p:style>
        <p:txBody>
          <a:bodyPr wrap="square" rtlCol="0">
            <a:spAutoFit/>
          </a:bodyPr>
          <a:lstStyle/>
          <a:p>
            <a:pPr marL="285750" indent="-285750">
              <a:buFont typeface="Arial" panose="020B0604020202020204" pitchFamily="34" charset="0"/>
              <a:buChar char="•"/>
            </a:pPr>
            <a:r>
              <a:rPr lang="en-US" sz="1200" dirty="0"/>
              <a:t>32 EDIP beds.</a:t>
            </a:r>
          </a:p>
          <a:p>
            <a:pPr marL="285750" indent="-285750">
              <a:buFont typeface="Arial" panose="020B0604020202020204" pitchFamily="34" charset="0"/>
              <a:buChar char="•"/>
            </a:pPr>
            <a:r>
              <a:rPr lang="en-US" sz="1200" dirty="0"/>
              <a:t>Wait time determined by bed availability</a:t>
            </a:r>
          </a:p>
        </p:txBody>
      </p:sp>
      <p:sp>
        <p:nvSpPr>
          <p:cNvPr id="16" name="TextBox 15">
            <a:extLst>
              <a:ext uri="{FF2B5EF4-FFF2-40B4-BE49-F238E27FC236}">
                <a16:creationId xmlns:a16="http://schemas.microsoft.com/office/drawing/2014/main" id="{6FB8A596-9612-5A46-091C-7F40C43DDD77}"/>
              </a:ext>
            </a:extLst>
          </p:cNvPr>
          <p:cNvSpPr txBox="1"/>
          <p:nvPr/>
        </p:nvSpPr>
        <p:spPr>
          <a:xfrm>
            <a:off x="3519742" y="1299300"/>
            <a:ext cx="2257406" cy="461665"/>
          </a:xfrm>
          <a:prstGeom prst="rect">
            <a:avLst/>
          </a:prstGeom>
          <a:solidFill>
            <a:schemeClr val="tx1">
              <a:lumMod val="50000"/>
            </a:schemeClr>
          </a:solidFill>
        </p:spPr>
        <p:style>
          <a:lnRef idx="3">
            <a:schemeClr val="lt1"/>
          </a:lnRef>
          <a:fillRef idx="1">
            <a:schemeClr val="accent5"/>
          </a:fillRef>
          <a:effectRef idx="1">
            <a:schemeClr val="accent5"/>
          </a:effectRef>
          <a:fontRef idx="minor">
            <a:schemeClr val="lt1"/>
          </a:fontRef>
        </p:style>
        <p:txBody>
          <a:bodyPr wrap="square" rtlCol="0">
            <a:spAutoFit/>
          </a:bodyPr>
          <a:lstStyle/>
          <a:p>
            <a:pPr marL="285750" indent="-285750">
              <a:buFont typeface="Arial" panose="020B0604020202020204" pitchFamily="34" charset="0"/>
              <a:buChar char="•"/>
            </a:pPr>
            <a:r>
              <a:rPr lang="en-US" sz="1200" dirty="0"/>
              <a:t>Hospital Treatment time - Log normal distribution</a:t>
            </a:r>
          </a:p>
        </p:txBody>
      </p:sp>
      <p:sp>
        <p:nvSpPr>
          <p:cNvPr id="17" name="TextBox 16">
            <a:extLst>
              <a:ext uri="{FF2B5EF4-FFF2-40B4-BE49-F238E27FC236}">
                <a16:creationId xmlns:a16="http://schemas.microsoft.com/office/drawing/2014/main" id="{9729A285-A5F3-2819-A9FE-955F3C565B25}"/>
              </a:ext>
            </a:extLst>
          </p:cNvPr>
          <p:cNvSpPr txBox="1"/>
          <p:nvPr/>
        </p:nvSpPr>
        <p:spPr>
          <a:xfrm>
            <a:off x="4353027" y="4209888"/>
            <a:ext cx="1883650" cy="830997"/>
          </a:xfrm>
          <a:prstGeom prst="rect">
            <a:avLst/>
          </a:prstGeom>
          <a:solidFill>
            <a:srgbClr val="00B0F0"/>
          </a:solidFill>
        </p:spPr>
        <p:style>
          <a:lnRef idx="3">
            <a:schemeClr val="lt1"/>
          </a:lnRef>
          <a:fillRef idx="1">
            <a:schemeClr val="accent3"/>
          </a:fillRef>
          <a:effectRef idx="1">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sz="1200" dirty="0"/>
              <a:t>80 weeks</a:t>
            </a:r>
          </a:p>
          <a:p>
            <a:pPr marL="285750" indent="-285750">
              <a:buFont typeface="Arial" panose="020B0604020202020204" pitchFamily="34" charset="0"/>
              <a:buChar char="•"/>
            </a:pPr>
            <a:r>
              <a:rPr lang="en-US" sz="1200" dirty="0"/>
              <a:t>Hourly arrival rate</a:t>
            </a:r>
          </a:p>
          <a:p>
            <a:pPr marL="285750" indent="-285750">
              <a:buFont typeface="Arial" panose="020B0604020202020204" pitchFamily="34" charset="0"/>
              <a:buChar char="•"/>
            </a:pPr>
            <a:r>
              <a:rPr lang="en-US" sz="1200" dirty="0"/>
              <a:t> Data from Jan 2022- April 2023</a:t>
            </a:r>
          </a:p>
        </p:txBody>
      </p:sp>
      <p:sp>
        <p:nvSpPr>
          <p:cNvPr id="20" name="TextBox 19">
            <a:extLst>
              <a:ext uri="{FF2B5EF4-FFF2-40B4-BE49-F238E27FC236}">
                <a16:creationId xmlns:a16="http://schemas.microsoft.com/office/drawing/2014/main" id="{6426E0C0-9495-7CDD-DA7F-200791DDBF68}"/>
              </a:ext>
            </a:extLst>
          </p:cNvPr>
          <p:cNvSpPr txBox="1"/>
          <p:nvPr/>
        </p:nvSpPr>
        <p:spPr>
          <a:xfrm>
            <a:off x="491973" y="905290"/>
            <a:ext cx="2024342" cy="307777"/>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dirty="0"/>
              <a:t>160 beds</a:t>
            </a:r>
          </a:p>
        </p:txBody>
      </p:sp>
    </p:spTree>
    <p:extLst>
      <p:ext uri="{BB962C8B-B14F-4D97-AF65-F5344CB8AC3E}">
        <p14:creationId xmlns:p14="http://schemas.microsoft.com/office/powerpoint/2010/main" val="192476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4" presetClass="path" presetSubtype="0" accel="50000" decel="50000" fill="hold" nodeType="clickEffect">
                                  <p:stCondLst>
                                    <p:cond delay="0"/>
                                  </p:stCondLst>
                                  <p:childTnLst>
                                    <p:animMotion origin="layout" path="M -1.11111E-6 3.33333E-6 L 0.00573 -0.16358 " pathEditMode="relative" rAng="0" ptsTypes="AA">
                                      <p:cBhvr>
                                        <p:cTn id="10" dur="1000" fill="hold"/>
                                        <p:tgtEl>
                                          <p:spTgt spid="3"/>
                                        </p:tgtEl>
                                        <p:attrNameLst>
                                          <p:attrName>ppt_x</p:attrName>
                                          <p:attrName>ppt_y</p:attrName>
                                        </p:attrNameLst>
                                      </p:cBhvr>
                                      <p:rCtr x="278" y="-8179"/>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4" presetClass="path" presetSubtype="0" accel="50000" decel="50000" fill="hold" nodeType="clickEffect">
                                  <p:stCondLst>
                                    <p:cond delay="0"/>
                                  </p:stCondLst>
                                  <p:childTnLst>
                                    <p:animMotion origin="layout" path="M 0.00573 -0.16358 L -0.17378 -0.40865 " pathEditMode="relative" rAng="0" ptsTypes="AA">
                                      <p:cBhvr>
                                        <p:cTn id="18" dur="1000" fill="hold"/>
                                        <p:tgtEl>
                                          <p:spTgt spid="3"/>
                                        </p:tgtEl>
                                        <p:attrNameLst>
                                          <p:attrName>ppt_x</p:attrName>
                                          <p:attrName>ppt_y</p:attrName>
                                        </p:attrNameLst>
                                      </p:cBhvr>
                                      <p:rCtr x="-8976" y="-12253"/>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17378 -0.40865 L 0.02639 -0.40988 " pathEditMode="relative" rAng="0" ptsTypes="AA">
                                      <p:cBhvr>
                                        <p:cTn id="34" dur="1000" fill="hold"/>
                                        <p:tgtEl>
                                          <p:spTgt spid="3"/>
                                        </p:tgtEl>
                                        <p:attrNameLst>
                                          <p:attrName>ppt_x</p:attrName>
                                          <p:attrName>ppt_y</p:attrName>
                                        </p:attrNameLst>
                                      </p:cBhvr>
                                      <p:rCtr x="10000" y="-62"/>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64" presetClass="path" presetSubtype="0" accel="50000" decel="50000" fill="hold" nodeType="clickEffect">
                                  <p:stCondLst>
                                    <p:cond delay="0"/>
                                  </p:stCondLst>
                                  <p:childTnLst>
                                    <p:animMotion origin="layout" path="M 0.02639 -0.40988 L 0.02222 -0.64692 " pathEditMode="relative" rAng="0" ptsTypes="AA">
                                      <p:cBhvr>
                                        <p:cTn id="42" dur="1000" fill="hold"/>
                                        <p:tgtEl>
                                          <p:spTgt spid="3"/>
                                        </p:tgtEl>
                                        <p:attrNameLst>
                                          <p:attrName>ppt_x</p:attrName>
                                          <p:attrName>ppt_y</p:attrName>
                                        </p:attrNameLst>
                                      </p:cBhvr>
                                      <p:rCtr x="486" y="-11481"/>
                                    </p:animMotion>
                                  </p:childTnLst>
                                </p:cTn>
                              </p:par>
                            </p:childTnLst>
                          </p:cTn>
                        </p:par>
                      </p:childTnLst>
                    </p:cTn>
                  </p:par>
                  <p:par>
                    <p:cTn id="43" fill="hold">
                      <p:stCondLst>
                        <p:cond delay="indefinite"/>
                      </p:stCondLst>
                      <p:childTnLst>
                        <p:par>
                          <p:cTn id="44" fill="hold">
                            <p:stCondLst>
                              <p:cond delay="0"/>
                            </p:stCondLst>
                            <p:childTnLst>
                              <p:par>
                                <p:cTn id="45" presetID="49" presetClass="path" presetSubtype="0" accel="50000" decel="50000" fill="hold" nodeType="clickEffect">
                                  <p:stCondLst>
                                    <p:cond delay="0"/>
                                  </p:stCondLst>
                                  <p:childTnLst>
                                    <p:animMotion origin="layout" path="M 0.02222 -0.64692 L 0.36771 -0.46482 " pathEditMode="relative" rAng="0" ptsTypes="AA">
                                      <p:cBhvr>
                                        <p:cTn id="46" dur="1000" fill="hold"/>
                                        <p:tgtEl>
                                          <p:spTgt spid="3"/>
                                        </p:tgtEl>
                                        <p:attrNameLst>
                                          <p:attrName>ppt_x</p:attrName>
                                          <p:attrName>ppt_y</p:attrName>
                                        </p:attrNameLst>
                                      </p:cBhvr>
                                      <p:rCtr x="15764" y="87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5" grpId="0" animBg="1"/>
      <p:bldP spid="16" grpId="0" animBg="1"/>
      <p:bldP spid="17"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C99E8-DD44-628A-D1AF-3F1D0D55959B}"/>
              </a:ext>
            </a:extLst>
          </p:cNvPr>
          <p:cNvSpPr>
            <a:spLocks noGrp="1"/>
          </p:cNvSpPr>
          <p:nvPr>
            <p:ph type="title"/>
          </p:nvPr>
        </p:nvSpPr>
        <p:spPr/>
        <p:txBody>
          <a:bodyPr>
            <a:normAutofit/>
          </a:bodyPr>
          <a:lstStyle/>
          <a:p>
            <a:r>
              <a:rPr lang="en-US" sz="2400" b="0" dirty="0">
                <a:solidFill>
                  <a:srgbClr val="223E82"/>
                </a:solidFill>
                <a:latin typeface="Arial"/>
                <a:cs typeface="Arial"/>
              </a:rPr>
              <a:t>Why Simulation is Essential Beyond AI Predictions</a:t>
            </a:r>
          </a:p>
        </p:txBody>
      </p:sp>
      <p:graphicFrame>
        <p:nvGraphicFramePr>
          <p:cNvPr id="6" name="Diagram 5">
            <a:extLst>
              <a:ext uri="{FF2B5EF4-FFF2-40B4-BE49-F238E27FC236}">
                <a16:creationId xmlns:a16="http://schemas.microsoft.com/office/drawing/2014/main" id="{3A18CB5B-C965-3016-FF4B-7BCF2402A582}"/>
              </a:ext>
            </a:extLst>
          </p:cNvPr>
          <p:cNvGraphicFramePr/>
          <p:nvPr>
            <p:extLst>
              <p:ext uri="{D42A27DB-BD31-4B8C-83A1-F6EECF244321}">
                <p14:modId xmlns:p14="http://schemas.microsoft.com/office/powerpoint/2010/main" val="796234033"/>
              </p:ext>
            </p:extLst>
          </p:nvPr>
        </p:nvGraphicFramePr>
        <p:xfrm>
          <a:off x="1978702" y="1152424"/>
          <a:ext cx="5641298" cy="345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689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C99E8-DD44-628A-D1AF-3F1D0D55959B}"/>
              </a:ext>
            </a:extLst>
          </p:cNvPr>
          <p:cNvSpPr>
            <a:spLocks noGrp="1"/>
          </p:cNvSpPr>
          <p:nvPr>
            <p:ph type="title"/>
          </p:nvPr>
        </p:nvSpPr>
        <p:spPr/>
        <p:txBody>
          <a:bodyPr>
            <a:normAutofit fontScale="90000"/>
          </a:bodyPr>
          <a:lstStyle/>
          <a:p>
            <a:r>
              <a:rPr lang="en-US" sz="2400" b="0" dirty="0">
                <a:solidFill>
                  <a:srgbClr val="223E82"/>
                </a:solidFill>
                <a:latin typeface="Arial"/>
                <a:cs typeface="Arial"/>
              </a:rPr>
              <a:t>Key Differences Between Previous Iterations and Current Model</a:t>
            </a:r>
          </a:p>
        </p:txBody>
      </p:sp>
      <p:graphicFrame>
        <p:nvGraphicFramePr>
          <p:cNvPr id="6" name="Diagram 5">
            <a:extLst>
              <a:ext uri="{FF2B5EF4-FFF2-40B4-BE49-F238E27FC236}">
                <a16:creationId xmlns:a16="http://schemas.microsoft.com/office/drawing/2014/main" id="{3A18CB5B-C965-3016-FF4B-7BCF2402A582}"/>
              </a:ext>
            </a:extLst>
          </p:cNvPr>
          <p:cNvGraphicFramePr/>
          <p:nvPr>
            <p:extLst>
              <p:ext uri="{D42A27DB-BD31-4B8C-83A1-F6EECF244321}">
                <p14:modId xmlns:p14="http://schemas.microsoft.com/office/powerpoint/2010/main" val="2808346510"/>
              </p:ext>
            </p:extLst>
          </p:nvPr>
        </p:nvGraphicFramePr>
        <p:xfrm>
          <a:off x="1978702" y="1152424"/>
          <a:ext cx="5641298" cy="345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7499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19"/>
          <p:cNvPicPr preferRelativeResize="0"/>
          <p:nvPr/>
        </p:nvPicPr>
        <p:blipFill>
          <a:blip r:embed="rId3">
            <a:alphaModFix/>
          </a:blip>
          <a:stretch>
            <a:fillRect/>
          </a:stretch>
        </p:blipFill>
        <p:spPr>
          <a:xfrm>
            <a:off x="219006" y="906553"/>
            <a:ext cx="4136293" cy="3236377"/>
          </a:xfrm>
          <a:prstGeom prst="rect">
            <a:avLst/>
          </a:prstGeom>
          <a:noFill/>
          <a:ln>
            <a:noFill/>
          </a:ln>
        </p:spPr>
      </p:pic>
      <p:sp>
        <p:nvSpPr>
          <p:cNvPr id="163" name="Google Shape;163;p19"/>
          <p:cNvSpPr txBox="1"/>
          <p:nvPr/>
        </p:nvSpPr>
        <p:spPr>
          <a:xfrm>
            <a:off x="1098500" y="174525"/>
            <a:ext cx="6786300" cy="554400"/>
          </a:xfrm>
          <a:prstGeom prst="rect">
            <a:avLst/>
          </a:prstGeom>
          <a:noFill/>
          <a:ln>
            <a:noFill/>
          </a:ln>
        </p:spPr>
        <p:txBody>
          <a:bodyPr spcFirstLastPara="1" wrap="square" lIns="91425" tIns="91425" rIns="91425" bIns="91425" anchor="t" anchorCtr="0">
            <a:noAutofit/>
          </a:bodyPr>
          <a:lstStyle/>
          <a:p>
            <a:r>
              <a:rPr lang="en" sz="2400">
                <a:solidFill>
                  <a:srgbClr val="223E82"/>
                </a:solidFill>
                <a:sym typeface="Open Sans"/>
              </a:rPr>
              <a:t>Input - Average Arrival Rate of Patients</a:t>
            </a:r>
            <a:endParaRPr lang="en-US" sz="2400">
              <a:solidFill>
                <a:srgbClr val="223E82"/>
              </a:solidFill>
              <a:sym typeface="PT Sans Narrow"/>
            </a:endParaRPr>
          </a:p>
        </p:txBody>
      </p:sp>
      <p:sp>
        <p:nvSpPr>
          <p:cNvPr id="164" name="Google Shape;164;p19"/>
          <p:cNvSpPr/>
          <p:nvPr/>
        </p:nvSpPr>
        <p:spPr>
          <a:xfrm>
            <a:off x="1734624" y="1378323"/>
            <a:ext cx="1054428" cy="850744"/>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6" name="Google Shape;166;p19"/>
          <p:cNvSpPr txBox="1"/>
          <p:nvPr/>
        </p:nvSpPr>
        <p:spPr>
          <a:xfrm>
            <a:off x="3481144" y="4142465"/>
            <a:ext cx="1751369" cy="84025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2"/>
                </a:solidFill>
                <a:latin typeface="Open Sans"/>
                <a:ea typeface="Open Sans"/>
                <a:cs typeface="Open Sans"/>
                <a:sym typeface="Open Sans"/>
              </a:rPr>
              <a:t>Peak during the daytime hours, especially between </a:t>
            </a:r>
            <a:r>
              <a:rPr lang="en" sz="1100">
                <a:solidFill>
                  <a:srgbClr val="FF0000"/>
                </a:solidFill>
                <a:latin typeface="Open Sans"/>
                <a:ea typeface="Open Sans"/>
                <a:cs typeface="Open Sans"/>
                <a:sym typeface="Open Sans"/>
              </a:rPr>
              <a:t>10 AM and 2 PM on weekdays</a:t>
            </a:r>
            <a:endParaRPr sz="1100">
              <a:solidFill>
                <a:srgbClr val="FF0000"/>
              </a:solidFill>
              <a:latin typeface="Open Sans"/>
              <a:ea typeface="Open Sans"/>
              <a:cs typeface="Open Sans"/>
              <a:sym typeface="Open Sans"/>
            </a:endParaRPr>
          </a:p>
        </p:txBody>
      </p:sp>
      <p:pic>
        <p:nvPicPr>
          <p:cNvPr id="2" name="Picture 1" descr="A graph with different colored lines&#10;&#10;Description automatically generated">
            <a:extLst>
              <a:ext uri="{FF2B5EF4-FFF2-40B4-BE49-F238E27FC236}">
                <a16:creationId xmlns:a16="http://schemas.microsoft.com/office/drawing/2014/main" id="{A078D061-70E7-18B3-EB92-B47F1DD06904}"/>
              </a:ext>
            </a:extLst>
          </p:cNvPr>
          <p:cNvPicPr>
            <a:picLocks noChangeAspect="1"/>
          </p:cNvPicPr>
          <p:nvPr/>
        </p:nvPicPr>
        <p:blipFill>
          <a:blip r:embed="rId4"/>
          <a:stretch>
            <a:fillRect/>
          </a:stretch>
        </p:blipFill>
        <p:spPr>
          <a:xfrm>
            <a:off x="4486456" y="903588"/>
            <a:ext cx="4449614" cy="3235927"/>
          </a:xfrm>
          <a:prstGeom prst="rect">
            <a:avLst/>
          </a:prstGeom>
        </p:spPr>
      </p:pic>
      <p:sp>
        <p:nvSpPr>
          <p:cNvPr id="3" name="Google Shape;164;p19">
            <a:extLst>
              <a:ext uri="{FF2B5EF4-FFF2-40B4-BE49-F238E27FC236}">
                <a16:creationId xmlns:a16="http://schemas.microsoft.com/office/drawing/2014/main" id="{4DCFD53C-0CD8-418C-670A-FAC312CE3B84}"/>
              </a:ext>
            </a:extLst>
          </p:cNvPr>
          <p:cNvSpPr/>
          <p:nvPr/>
        </p:nvSpPr>
        <p:spPr>
          <a:xfrm>
            <a:off x="6229394" y="1023066"/>
            <a:ext cx="1069873" cy="912528"/>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4" name="Google Shape;165;p19">
            <a:extLst>
              <a:ext uri="{FF2B5EF4-FFF2-40B4-BE49-F238E27FC236}">
                <a16:creationId xmlns:a16="http://schemas.microsoft.com/office/drawing/2014/main" id="{7869D929-E9CF-107E-835F-7BC02C6C3691}"/>
              </a:ext>
            </a:extLst>
          </p:cNvPr>
          <p:cNvCxnSpPr/>
          <p:nvPr/>
        </p:nvCxnSpPr>
        <p:spPr>
          <a:xfrm>
            <a:off x="2472318" y="2279203"/>
            <a:ext cx="1319010" cy="1930868"/>
          </a:xfrm>
          <a:prstGeom prst="straightConnector1">
            <a:avLst/>
          </a:prstGeom>
          <a:noFill/>
          <a:ln w="19050" cap="flat" cmpd="sng">
            <a:solidFill>
              <a:srgbClr val="FF0000"/>
            </a:solidFill>
            <a:prstDash val="solid"/>
            <a:round/>
            <a:headEnd type="stealth" w="med" len="med"/>
            <a:tailEnd type="none" w="med" len="med"/>
          </a:ln>
        </p:spPr>
      </p:cxnSp>
      <p:cxnSp>
        <p:nvCxnSpPr>
          <p:cNvPr id="5" name="Google Shape;165;p19">
            <a:extLst>
              <a:ext uri="{FF2B5EF4-FFF2-40B4-BE49-F238E27FC236}">
                <a16:creationId xmlns:a16="http://schemas.microsoft.com/office/drawing/2014/main" id="{4E712A28-BD3B-E9C6-367B-458BC3C76FC0}"/>
              </a:ext>
            </a:extLst>
          </p:cNvPr>
          <p:cNvCxnSpPr>
            <a:cxnSpLocks/>
          </p:cNvCxnSpPr>
          <p:nvPr/>
        </p:nvCxnSpPr>
        <p:spPr>
          <a:xfrm flipH="1">
            <a:off x="4293320" y="1784933"/>
            <a:ext cx="1986423" cy="2432861"/>
          </a:xfrm>
          <a:prstGeom prst="straightConnector1">
            <a:avLst/>
          </a:prstGeom>
          <a:noFill/>
          <a:ln w="19050" cap="flat" cmpd="sng">
            <a:solidFill>
              <a:srgbClr val="FF0000"/>
            </a:solidFill>
            <a:prstDash val="solid"/>
            <a:round/>
            <a:headEnd type="stealth" w="med" len="med"/>
            <a:tailEnd type="none" w="med" len="med"/>
          </a:ln>
        </p:spPr>
      </p:cxnSp>
      <p:sp>
        <p:nvSpPr>
          <p:cNvPr id="6" name="TextBox 5">
            <a:extLst>
              <a:ext uri="{FF2B5EF4-FFF2-40B4-BE49-F238E27FC236}">
                <a16:creationId xmlns:a16="http://schemas.microsoft.com/office/drawing/2014/main" id="{D2B91ECA-76D3-BD63-408B-7E45DF5325C2}"/>
              </a:ext>
            </a:extLst>
          </p:cNvPr>
          <p:cNvSpPr txBox="1"/>
          <p:nvPr/>
        </p:nvSpPr>
        <p:spPr>
          <a:xfrm>
            <a:off x="907731" y="4314418"/>
            <a:ext cx="2421793" cy="307777"/>
          </a:xfrm>
          <a:prstGeom prst="rect">
            <a:avLst/>
          </a:prstGeom>
          <a:noFill/>
        </p:spPr>
        <p:txBody>
          <a:bodyPr wrap="square" rtlCol="0">
            <a:spAutoFit/>
          </a:bodyPr>
          <a:lstStyle/>
          <a:p>
            <a:r>
              <a:rPr lang="en-US" dirty="0"/>
              <a:t>Real world</a:t>
            </a:r>
          </a:p>
        </p:txBody>
      </p:sp>
      <p:sp>
        <p:nvSpPr>
          <p:cNvPr id="7" name="TextBox 6">
            <a:extLst>
              <a:ext uri="{FF2B5EF4-FFF2-40B4-BE49-F238E27FC236}">
                <a16:creationId xmlns:a16="http://schemas.microsoft.com/office/drawing/2014/main" id="{4FF3E7EC-B9B1-FF08-3C6D-E13D47F8D30F}"/>
              </a:ext>
            </a:extLst>
          </p:cNvPr>
          <p:cNvSpPr txBox="1"/>
          <p:nvPr/>
        </p:nvSpPr>
        <p:spPr>
          <a:xfrm>
            <a:off x="6271305" y="4219353"/>
            <a:ext cx="2166078" cy="307777"/>
          </a:xfrm>
          <a:prstGeom prst="rect">
            <a:avLst/>
          </a:prstGeom>
          <a:noFill/>
        </p:spPr>
        <p:txBody>
          <a:bodyPr wrap="square" rtlCol="0">
            <a:spAutoFit/>
          </a:bodyPr>
          <a:lstStyle/>
          <a:p>
            <a:r>
              <a:rPr lang="en-US" dirty="0"/>
              <a:t>Simulation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7"/>
          <p:cNvSpPr txBox="1"/>
          <p:nvPr/>
        </p:nvSpPr>
        <p:spPr>
          <a:xfrm>
            <a:off x="6000522" y="624251"/>
            <a:ext cx="2692253" cy="3697174"/>
          </a:xfrm>
          <a:prstGeom prst="rect">
            <a:avLst/>
          </a:prstGeom>
          <a:noFill/>
          <a:ln>
            <a:noFill/>
          </a:ln>
        </p:spPr>
        <p:txBody>
          <a:bodyPr spcFirstLastPara="1" wrap="square" lIns="91425" tIns="91425" rIns="91425" bIns="91425" anchor="t" anchorCtr="0">
            <a:noAutofit/>
          </a:bodyPr>
          <a:lstStyle/>
          <a:p>
            <a:pPr marL="457200" indent="-342900">
              <a:buClr>
                <a:schemeClr val="dk2"/>
              </a:buClr>
              <a:buSzPts val="1800"/>
              <a:buFont typeface="Open Sans"/>
              <a:buChar char="●"/>
            </a:pPr>
            <a:r>
              <a:rPr lang="en">
                <a:solidFill>
                  <a:schemeClr val="dk2"/>
                </a:solidFill>
                <a:latin typeface="Open Sans"/>
                <a:ea typeface="Open Sans"/>
                <a:cs typeface="Open Sans"/>
                <a:sym typeface="Open Sans"/>
              </a:rPr>
              <a:t>High evening utilization, Consistent with Patient Arrival Rates.</a:t>
            </a:r>
            <a:endParaRPr lang="en">
              <a:solidFill>
                <a:schemeClr val="dk2"/>
              </a:solidFill>
              <a:latin typeface="Open Sans"/>
              <a:ea typeface="Open Sans"/>
              <a:cs typeface="Open Sans"/>
            </a:endParaRPr>
          </a:p>
        </p:txBody>
      </p:sp>
      <p:pic>
        <p:nvPicPr>
          <p:cNvPr id="2" name="Picture 1" descr="A graph of a bed&#10;&#10;Description automatically generated">
            <a:extLst>
              <a:ext uri="{FF2B5EF4-FFF2-40B4-BE49-F238E27FC236}">
                <a16:creationId xmlns:a16="http://schemas.microsoft.com/office/drawing/2014/main" id="{C6E30166-03BF-2631-8F2E-11C10A15647C}"/>
              </a:ext>
            </a:extLst>
          </p:cNvPr>
          <p:cNvPicPr>
            <a:picLocks noChangeAspect="1"/>
          </p:cNvPicPr>
          <p:nvPr/>
        </p:nvPicPr>
        <p:blipFill>
          <a:blip r:embed="rId3"/>
          <a:stretch>
            <a:fillRect/>
          </a:stretch>
        </p:blipFill>
        <p:spPr>
          <a:xfrm>
            <a:off x="369095" y="815098"/>
            <a:ext cx="5494769" cy="3503544"/>
          </a:xfrm>
          <a:prstGeom prst="rect">
            <a:avLst/>
          </a:prstGeom>
        </p:spPr>
      </p:pic>
      <p:sp>
        <p:nvSpPr>
          <p:cNvPr id="5" name="Google Shape;190;p23">
            <a:extLst>
              <a:ext uri="{FF2B5EF4-FFF2-40B4-BE49-F238E27FC236}">
                <a16:creationId xmlns:a16="http://schemas.microsoft.com/office/drawing/2014/main" id="{A4D6ABB8-74D0-8294-1B86-7D02E09CF8F5}"/>
              </a:ext>
            </a:extLst>
          </p:cNvPr>
          <p:cNvSpPr txBox="1">
            <a:spLocks noGrp="1"/>
          </p:cNvSpPr>
          <p:nvPr>
            <p:ph type="title"/>
          </p:nvPr>
        </p:nvSpPr>
        <p:spPr>
          <a:xfrm>
            <a:off x="369678" y="10337"/>
            <a:ext cx="7526688" cy="690835"/>
          </a:xfrm>
          <a:prstGeom prst="rect">
            <a:avLst/>
          </a:prstGeom>
        </p:spPr>
        <p:txBody>
          <a:bodyPr spcFirstLastPara="1" wrap="square" lIns="91425" tIns="91425" rIns="91425" bIns="91425" anchor="t" anchorCtr="0">
            <a:normAutofit/>
          </a:bodyPr>
          <a:lstStyle/>
          <a:p>
            <a:pPr>
              <a:buSzPts val="990"/>
            </a:pPr>
            <a:r>
              <a:rPr lang="en" sz="2900" b="0" dirty="0">
                <a:solidFill>
                  <a:srgbClr val="223E82"/>
                </a:solidFill>
                <a:latin typeface="Arial"/>
                <a:cs typeface="Arial"/>
              </a:rPr>
              <a:t>Simulated Cubicle Bed Utilization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8"/>
          <p:cNvSpPr txBox="1"/>
          <p:nvPr/>
        </p:nvSpPr>
        <p:spPr>
          <a:xfrm>
            <a:off x="5960852" y="845599"/>
            <a:ext cx="2556600" cy="31983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dk2"/>
              </a:buClr>
              <a:buSzPts val="1300"/>
              <a:buFont typeface="Open Sans"/>
              <a:buChar char="●"/>
            </a:pPr>
            <a:r>
              <a:rPr lang="en" sz="1300">
                <a:solidFill>
                  <a:schemeClr val="dk2"/>
                </a:solidFill>
                <a:latin typeface="Open Sans"/>
                <a:ea typeface="Open Sans"/>
                <a:cs typeface="Open Sans"/>
                <a:sym typeface="Open Sans"/>
              </a:rPr>
              <a:t>All days show a similar pattern with utilization dipping to its lowest around early-morning and peaking in the late evening.</a:t>
            </a:r>
            <a:endParaRPr sz="1300">
              <a:solidFill>
                <a:schemeClr val="dk2"/>
              </a:solidFill>
              <a:latin typeface="Open Sans"/>
              <a:ea typeface="Open Sans"/>
              <a:cs typeface="Open Sans"/>
              <a:sym typeface="Open Sans"/>
            </a:endParaRPr>
          </a:p>
          <a:p>
            <a:pPr marL="0" lvl="0" indent="0" algn="l" rtl="0">
              <a:spcBef>
                <a:spcPts val="0"/>
              </a:spcBef>
              <a:spcAft>
                <a:spcPts val="0"/>
              </a:spcAft>
              <a:buNone/>
            </a:pPr>
            <a:endParaRPr sz="1300">
              <a:solidFill>
                <a:schemeClr val="dk2"/>
              </a:solidFill>
              <a:latin typeface="Open Sans"/>
              <a:ea typeface="Open Sans"/>
              <a:cs typeface="Open Sans"/>
              <a:sym typeface="Open Sans"/>
            </a:endParaRPr>
          </a:p>
          <a:p>
            <a:pPr marL="457200" lvl="0" indent="-311150" algn="l" rtl="0">
              <a:spcBef>
                <a:spcPts val="0"/>
              </a:spcBef>
              <a:spcAft>
                <a:spcPts val="0"/>
              </a:spcAft>
              <a:buClr>
                <a:schemeClr val="dk2"/>
              </a:buClr>
              <a:buSzPts val="1300"/>
              <a:buFont typeface="Open Sans"/>
              <a:buChar char="●"/>
            </a:pPr>
            <a:r>
              <a:rPr lang="en" sz="1300">
                <a:solidFill>
                  <a:schemeClr val="dk2"/>
                </a:solidFill>
                <a:latin typeface="Open Sans"/>
                <a:ea typeface="Open Sans"/>
                <a:cs typeface="Open Sans"/>
                <a:sym typeface="Open Sans"/>
              </a:rPr>
              <a:t>Evening hours (from around 7 PM onwards) show the highest utilization, consistently close to 100% across all days.</a:t>
            </a:r>
            <a:endParaRPr sz="1300">
              <a:solidFill>
                <a:schemeClr val="dk2"/>
              </a:solidFill>
              <a:latin typeface="Open Sans"/>
              <a:ea typeface="Open Sans"/>
              <a:cs typeface="Open Sans"/>
              <a:sym typeface="Open Sans"/>
            </a:endParaRPr>
          </a:p>
          <a:p>
            <a:pPr marL="0" lvl="0" indent="0" algn="l" rtl="0">
              <a:spcBef>
                <a:spcPts val="0"/>
              </a:spcBef>
              <a:spcAft>
                <a:spcPts val="0"/>
              </a:spcAft>
              <a:buNone/>
            </a:pPr>
            <a:endParaRPr sz="1300">
              <a:solidFill>
                <a:schemeClr val="dk2"/>
              </a:solidFill>
              <a:latin typeface="Open Sans"/>
              <a:ea typeface="Open Sans"/>
              <a:cs typeface="Open Sans"/>
              <a:sym typeface="Open Sans"/>
            </a:endParaRPr>
          </a:p>
          <a:p>
            <a:pPr marL="457200" lvl="0" indent="-311150" algn="l" rtl="0">
              <a:spcBef>
                <a:spcPts val="0"/>
              </a:spcBef>
              <a:spcAft>
                <a:spcPts val="0"/>
              </a:spcAft>
              <a:buClr>
                <a:schemeClr val="dk2"/>
              </a:buClr>
              <a:buSzPts val="1300"/>
              <a:buFont typeface="Open Sans"/>
              <a:buChar char="●"/>
            </a:pPr>
            <a:endParaRPr lang="en" sz="1300">
              <a:solidFill>
                <a:schemeClr val="dk2"/>
              </a:solidFill>
              <a:latin typeface="Open Sans"/>
              <a:ea typeface="Open Sans"/>
              <a:cs typeface="Open Sans"/>
            </a:endParaRPr>
          </a:p>
        </p:txBody>
      </p:sp>
      <p:pic>
        <p:nvPicPr>
          <p:cNvPr id="2" name="Picture 1" descr="A graph of different colored lines&#10;&#10;Description automatically generated">
            <a:extLst>
              <a:ext uri="{FF2B5EF4-FFF2-40B4-BE49-F238E27FC236}">
                <a16:creationId xmlns:a16="http://schemas.microsoft.com/office/drawing/2014/main" id="{EF42130C-33BB-0BF0-73CD-753C5606B2A2}"/>
              </a:ext>
            </a:extLst>
          </p:cNvPr>
          <p:cNvPicPr>
            <a:picLocks noChangeAspect="1"/>
          </p:cNvPicPr>
          <p:nvPr/>
        </p:nvPicPr>
        <p:blipFill>
          <a:blip r:embed="rId3"/>
          <a:srcRect t="200" r="207" b="-6"/>
          <a:stretch/>
        </p:blipFill>
        <p:spPr>
          <a:xfrm>
            <a:off x="369373" y="699384"/>
            <a:ext cx="5431774" cy="3485320"/>
          </a:xfrm>
          <a:prstGeom prst="rect">
            <a:avLst/>
          </a:prstGeom>
        </p:spPr>
      </p:pic>
      <p:sp>
        <p:nvSpPr>
          <p:cNvPr id="4" name="Google Shape;190;p23">
            <a:extLst>
              <a:ext uri="{FF2B5EF4-FFF2-40B4-BE49-F238E27FC236}">
                <a16:creationId xmlns:a16="http://schemas.microsoft.com/office/drawing/2014/main" id="{7D2B3AC4-C9B2-D292-0BC2-C1E3238FCB92}"/>
              </a:ext>
            </a:extLst>
          </p:cNvPr>
          <p:cNvSpPr txBox="1">
            <a:spLocks noGrp="1"/>
          </p:cNvSpPr>
          <p:nvPr>
            <p:ph type="title"/>
          </p:nvPr>
        </p:nvSpPr>
        <p:spPr>
          <a:xfrm>
            <a:off x="369678" y="10337"/>
            <a:ext cx="7526688" cy="690835"/>
          </a:xfrm>
          <a:prstGeom prst="rect">
            <a:avLst/>
          </a:prstGeom>
        </p:spPr>
        <p:txBody>
          <a:bodyPr spcFirstLastPara="1" wrap="square" lIns="91425" tIns="91425" rIns="91425" bIns="91425" anchor="t" anchorCtr="0">
            <a:normAutofit/>
          </a:bodyPr>
          <a:lstStyle/>
          <a:p>
            <a:pPr>
              <a:buSzPts val="990"/>
            </a:pPr>
            <a:r>
              <a:rPr lang="en" sz="2400" b="0" dirty="0">
                <a:solidFill>
                  <a:srgbClr val="223E82"/>
                </a:solidFill>
                <a:latin typeface="Arial"/>
                <a:cs typeface="Arial"/>
              </a:rPr>
              <a:t>Simulated Hallway Bed Utilization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6E3AA-2CDF-95AE-763B-5793561FDC6D}"/>
              </a:ext>
            </a:extLst>
          </p:cNvPr>
          <p:cNvSpPr>
            <a:spLocks noGrp="1"/>
          </p:cNvSpPr>
          <p:nvPr>
            <p:ph type="title"/>
          </p:nvPr>
        </p:nvSpPr>
        <p:spPr>
          <a:xfrm>
            <a:off x="311700" y="213112"/>
            <a:ext cx="7866274" cy="483770"/>
          </a:xfrm>
        </p:spPr>
        <p:txBody>
          <a:bodyPr>
            <a:normAutofit fontScale="90000"/>
          </a:bodyPr>
          <a:lstStyle/>
          <a:p>
            <a:r>
              <a:rPr lang="en" sz="2800" b="0" dirty="0">
                <a:solidFill>
                  <a:srgbClr val="223E82"/>
                </a:solidFill>
                <a:latin typeface="Arial"/>
                <a:cs typeface="Arial"/>
              </a:rPr>
              <a:t>Simulated </a:t>
            </a:r>
            <a:r>
              <a:rPr lang="en" sz="2700" b="0" dirty="0">
                <a:solidFill>
                  <a:srgbClr val="223E82"/>
                </a:solidFill>
                <a:latin typeface="Arial"/>
                <a:cs typeface="Arial"/>
              </a:rPr>
              <a:t>EDIP Volumes</a:t>
            </a:r>
            <a:endParaRPr lang="en-US" dirty="0"/>
          </a:p>
        </p:txBody>
      </p:sp>
      <p:sp>
        <p:nvSpPr>
          <p:cNvPr id="3" name="Text Placeholder 2">
            <a:extLst>
              <a:ext uri="{FF2B5EF4-FFF2-40B4-BE49-F238E27FC236}">
                <a16:creationId xmlns:a16="http://schemas.microsoft.com/office/drawing/2014/main" id="{EB3583D9-4967-0611-3692-DA8E72E9CD6B}"/>
              </a:ext>
            </a:extLst>
          </p:cNvPr>
          <p:cNvSpPr>
            <a:spLocks noGrp="1"/>
          </p:cNvSpPr>
          <p:nvPr>
            <p:ph type="body" idx="1"/>
          </p:nvPr>
        </p:nvSpPr>
        <p:spPr>
          <a:xfrm>
            <a:off x="6424265" y="686543"/>
            <a:ext cx="2408035" cy="3882482"/>
          </a:xfrm>
        </p:spPr>
        <p:txBody>
          <a:bodyPr/>
          <a:lstStyle/>
          <a:p>
            <a:r>
              <a:rPr lang="en-US" sz="1400"/>
              <a:t>Friday and</a:t>
            </a:r>
            <a:r>
              <a:rPr lang="en-US" sz="1100"/>
              <a:t> </a:t>
            </a:r>
            <a:r>
              <a:rPr lang="en-US" sz="1400"/>
              <a:t>Saturday – highest volume</a:t>
            </a:r>
          </a:p>
          <a:p>
            <a:pPr>
              <a:lnSpc>
                <a:spcPct val="114999"/>
              </a:lnSpc>
            </a:pPr>
            <a:r>
              <a:rPr lang="en-US" sz="1400"/>
              <a:t>EDIP clears out over the weekend</a:t>
            </a:r>
          </a:p>
          <a:p>
            <a:pPr>
              <a:lnSpc>
                <a:spcPct val="114999"/>
              </a:lnSpc>
            </a:pPr>
            <a:r>
              <a:rPr lang="en-US" sz="1400"/>
              <a:t>Effect can be seen on Monday</a:t>
            </a:r>
          </a:p>
        </p:txBody>
      </p:sp>
      <p:pic>
        <p:nvPicPr>
          <p:cNvPr id="5" name="Picture 4" descr="A graph of blue bars&#10;&#10;Description automatically generated">
            <a:extLst>
              <a:ext uri="{FF2B5EF4-FFF2-40B4-BE49-F238E27FC236}">
                <a16:creationId xmlns:a16="http://schemas.microsoft.com/office/drawing/2014/main" id="{095E6C91-6C48-8C92-1AD4-E8424FFBA378}"/>
              </a:ext>
            </a:extLst>
          </p:cNvPr>
          <p:cNvPicPr>
            <a:picLocks noChangeAspect="1"/>
          </p:cNvPicPr>
          <p:nvPr/>
        </p:nvPicPr>
        <p:blipFill>
          <a:blip r:embed="rId2"/>
          <a:stretch>
            <a:fillRect/>
          </a:stretch>
        </p:blipFill>
        <p:spPr>
          <a:xfrm>
            <a:off x="435389" y="687457"/>
            <a:ext cx="5556528" cy="3677479"/>
          </a:xfrm>
          <a:prstGeom prst="rect">
            <a:avLst/>
          </a:prstGeom>
        </p:spPr>
      </p:pic>
    </p:spTree>
    <p:extLst>
      <p:ext uri="{BB962C8B-B14F-4D97-AF65-F5344CB8AC3E}">
        <p14:creationId xmlns:p14="http://schemas.microsoft.com/office/powerpoint/2010/main" val="2044794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6E3AA-2CDF-95AE-763B-5793561FDC6D}"/>
              </a:ext>
            </a:extLst>
          </p:cNvPr>
          <p:cNvSpPr>
            <a:spLocks noGrp="1"/>
          </p:cNvSpPr>
          <p:nvPr>
            <p:ph type="title"/>
          </p:nvPr>
        </p:nvSpPr>
        <p:spPr>
          <a:xfrm>
            <a:off x="311700" y="213112"/>
            <a:ext cx="7866274" cy="483770"/>
          </a:xfrm>
        </p:spPr>
        <p:txBody>
          <a:bodyPr>
            <a:normAutofit fontScale="90000"/>
          </a:bodyPr>
          <a:lstStyle/>
          <a:p>
            <a:r>
              <a:rPr lang="en" sz="2800" b="0" dirty="0">
                <a:solidFill>
                  <a:srgbClr val="223E82"/>
                </a:solidFill>
                <a:latin typeface="Arial"/>
                <a:cs typeface="Arial"/>
              </a:rPr>
              <a:t>Simulated </a:t>
            </a:r>
            <a:r>
              <a:rPr lang="en" sz="2700" b="0" dirty="0">
                <a:solidFill>
                  <a:srgbClr val="223E82"/>
                </a:solidFill>
                <a:latin typeface="Arial"/>
                <a:cs typeface="Arial"/>
              </a:rPr>
              <a:t>EDIP LOS</a:t>
            </a:r>
            <a:endParaRPr lang="en-US" dirty="0"/>
          </a:p>
        </p:txBody>
      </p:sp>
      <p:sp>
        <p:nvSpPr>
          <p:cNvPr id="3" name="Text Placeholder 2">
            <a:extLst>
              <a:ext uri="{FF2B5EF4-FFF2-40B4-BE49-F238E27FC236}">
                <a16:creationId xmlns:a16="http://schemas.microsoft.com/office/drawing/2014/main" id="{EB3583D9-4967-0611-3692-DA8E72E9CD6B}"/>
              </a:ext>
            </a:extLst>
          </p:cNvPr>
          <p:cNvSpPr>
            <a:spLocks noGrp="1"/>
          </p:cNvSpPr>
          <p:nvPr>
            <p:ph type="body" idx="1"/>
          </p:nvPr>
        </p:nvSpPr>
        <p:spPr>
          <a:xfrm>
            <a:off x="6424265" y="686543"/>
            <a:ext cx="2408035" cy="3882482"/>
          </a:xfrm>
        </p:spPr>
        <p:txBody>
          <a:bodyPr/>
          <a:lstStyle/>
          <a:p>
            <a:r>
              <a:rPr lang="en-US" sz="1400" dirty="0"/>
              <a:t>Most EDIP patients have a stay of 10–17 hours, peaking around 16 hours</a:t>
            </a:r>
          </a:p>
          <a:p>
            <a:pPr>
              <a:lnSpc>
                <a:spcPct val="114999"/>
              </a:lnSpc>
            </a:pPr>
            <a:r>
              <a:rPr lang="en-US" sz="1400" dirty="0"/>
              <a:t>Significant portion of patients experience a length of stay longer than </a:t>
            </a:r>
            <a:r>
              <a:rPr lang="en-US" sz="1400" b="1" dirty="0"/>
              <a:t>24 hours</a:t>
            </a:r>
            <a:endParaRPr lang="en-US" dirty="0"/>
          </a:p>
          <a:p>
            <a:pPr>
              <a:lnSpc>
                <a:spcPct val="114999"/>
              </a:lnSpc>
            </a:pPr>
            <a:r>
              <a:rPr lang="en-US" sz="1400" dirty="0"/>
              <a:t>Max is a little over 2 days</a:t>
            </a:r>
          </a:p>
        </p:txBody>
      </p:sp>
      <p:pic>
        <p:nvPicPr>
          <p:cNvPr id="4" name="Picture 3" descr="A graph of a number of people&#10;&#10;Description automatically generated">
            <a:extLst>
              <a:ext uri="{FF2B5EF4-FFF2-40B4-BE49-F238E27FC236}">
                <a16:creationId xmlns:a16="http://schemas.microsoft.com/office/drawing/2014/main" id="{F85FAD27-371A-5DF5-54F7-8F14BE4AF3AC}"/>
              </a:ext>
            </a:extLst>
          </p:cNvPr>
          <p:cNvPicPr>
            <a:picLocks noChangeAspect="1"/>
          </p:cNvPicPr>
          <p:nvPr/>
        </p:nvPicPr>
        <p:blipFill>
          <a:blip r:embed="rId2"/>
          <a:stretch>
            <a:fillRect/>
          </a:stretch>
        </p:blipFill>
        <p:spPr>
          <a:xfrm>
            <a:off x="315241" y="633284"/>
            <a:ext cx="6011275" cy="3876933"/>
          </a:xfrm>
          <a:prstGeom prst="rect">
            <a:avLst/>
          </a:prstGeom>
        </p:spPr>
      </p:pic>
    </p:spTree>
    <p:extLst>
      <p:ext uri="{BB962C8B-B14F-4D97-AF65-F5344CB8AC3E}">
        <p14:creationId xmlns:p14="http://schemas.microsoft.com/office/powerpoint/2010/main" val="3690960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r>
              <a:rPr lang="en" sz="2800" b="0">
                <a:solidFill>
                  <a:srgbClr val="223E82"/>
                </a:solidFill>
                <a:latin typeface="Arial"/>
                <a:ea typeface="Arial"/>
                <a:cs typeface="Arial"/>
                <a:sym typeface="Arial"/>
              </a:rPr>
              <a:t>Intervention #1: Reduce LOS for 50% SNF patients</a:t>
            </a:r>
            <a:endParaRPr lang="en-US" sz="2800"/>
          </a:p>
        </p:txBody>
      </p:sp>
      <p:sp>
        <p:nvSpPr>
          <p:cNvPr id="266" name="Google Shape;266;p31"/>
          <p:cNvSpPr txBox="1">
            <a:spLocks noGrp="1"/>
          </p:cNvSpPr>
          <p:nvPr>
            <p:ph type="body" idx="1"/>
          </p:nvPr>
        </p:nvSpPr>
        <p:spPr>
          <a:xfrm>
            <a:off x="401050" y="1158234"/>
            <a:ext cx="6817504" cy="3333591"/>
          </a:xfrm>
          <a:prstGeom prst="rect">
            <a:avLst/>
          </a:prstGeom>
        </p:spPr>
        <p:txBody>
          <a:bodyPr spcFirstLastPara="1" wrap="square" lIns="91425" tIns="91425" rIns="91425" bIns="91425" anchor="t" anchorCtr="0">
            <a:noAutofit/>
          </a:bodyPr>
          <a:lstStyle/>
          <a:p>
            <a:pPr indent="-323850">
              <a:buSzPts val="1500"/>
            </a:pPr>
            <a:r>
              <a:rPr lang="en"/>
              <a:t>Randomly select 50% of the patients with the disposition 'SNF'</a:t>
            </a:r>
          </a:p>
          <a:p>
            <a:pPr indent="-323850">
              <a:lnSpc>
                <a:spcPct val="114999"/>
              </a:lnSpc>
              <a:buSzPts val="1500"/>
            </a:pPr>
            <a:r>
              <a:rPr lang="en"/>
              <a:t>Check if their LOS is greater than 3 days</a:t>
            </a:r>
          </a:p>
          <a:p>
            <a:pPr indent="-323850">
              <a:lnSpc>
                <a:spcPct val="114999"/>
              </a:lnSpc>
              <a:buSzPts val="1500"/>
            </a:pPr>
            <a:r>
              <a:rPr lang="en"/>
              <a:t>Reduce their hospital stay by 1 day</a:t>
            </a:r>
          </a:p>
          <a:p>
            <a:pPr indent="-323850">
              <a:lnSpc>
                <a:spcPct val="114999"/>
              </a:lnSpc>
              <a:buSzPts val="1500"/>
            </a:pPr>
            <a:endParaRPr lang="en" sz="1500"/>
          </a:p>
        </p:txBody>
      </p:sp>
    </p:spTree>
    <p:extLst>
      <p:ext uri="{BB962C8B-B14F-4D97-AF65-F5344CB8AC3E}">
        <p14:creationId xmlns:p14="http://schemas.microsoft.com/office/powerpoint/2010/main" val="2549437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4" name="Picture 3">
            <a:extLst>
              <a:ext uri="{FF2B5EF4-FFF2-40B4-BE49-F238E27FC236}">
                <a16:creationId xmlns:a16="http://schemas.microsoft.com/office/drawing/2014/main" id="{498EB6B1-4AFC-F64E-D555-6C5402E4E870}"/>
              </a:ext>
            </a:extLst>
          </p:cNvPr>
          <p:cNvPicPr>
            <a:picLocks noChangeAspect="1"/>
          </p:cNvPicPr>
          <p:nvPr/>
        </p:nvPicPr>
        <p:blipFill>
          <a:blip r:embed="rId3"/>
          <a:stretch>
            <a:fillRect/>
          </a:stretch>
        </p:blipFill>
        <p:spPr>
          <a:xfrm>
            <a:off x="4870173" y="1031155"/>
            <a:ext cx="4018358" cy="2538354"/>
          </a:xfrm>
          <a:prstGeom prst="rect">
            <a:avLst/>
          </a:prstGeom>
        </p:spPr>
      </p:pic>
      <p:pic>
        <p:nvPicPr>
          <p:cNvPr id="12" name="Picture 11" descr="A graph of a number of people&#10;&#10;Description automatically generated">
            <a:extLst>
              <a:ext uri="{FF2B5EF4-FFF2-40B4-BE49-F238E27FC236}">
                <a16:creationId xmlns:a16="http://schemas.microsoft.com/office/drawing/2014/main" id="{4852DC9E-3184-2957-9984-107865A1124C}"/>
              </a:ext>
            </a:extLst>
          </p:cNvPr>
          <p:cNvPicPr>
            <a:picLocks noChangeAspect="1"/>
          </p:cNvPicPr>
          <p:nvPr/>
        </p:nvPicPr>
        <p:blipFill>
          <a:blip r:embed="rId4"/>
          <a:stretch>
            <a:fillRect/>
          </a:stretch>
        </p:blipFill>
        <p:spPr>
          <a:xfrm>
            <a:off x="445749" y="1082448"/>
            <a:ext cx="4080531" cy="2618089"/>
          </a:xfrm>
          <a:prstGeom prst="rect">
            <a:avLst/>
          </a:prstGeom>
        </p:spPr>
      </p:pic>
      <p:sp>
        <p:nvSpPr>
          <p:cNvPr id="272" name="Google Shape;272;p32"/>
          <p:cNvSpPr txBox="1">
            <a:spLocks noGrp="1"/>
          </p:cNvSpPr>
          <p:nvPr>
            <p:ph type="title"/>
          </p:nvPr>
        </p:nvSpPr>
        <p:spPr>
          <a:xfrm>
            <a:off x="261550" y="204400"/>
            <a:ext cx="8520600" cy="707400"/>
          </a:xfrm>
          <a:prstGeom prst="rect">
            <a:avLst/>
          </a:prstGeom>
        </p:spPr>
        <p:txBody>
          <a:bodyPr spcFirstLastPara="1" wrap="square" lIns="91425" tIns="91425" rIns="91425" bIns="91425" anchor="t" anchorCtr="0">
            <a:normAutofit/>
          </a:bodyPr>
          <a:lstStyle/>
          <a:p>
            <a:pPr>
              <a:buSzPts val="990"/>
            </a:pPr>
            <a:r>
              <a:rPr lang="en" sz="2400" b="0">
                <a:solidFill>
                  <a:srgbClr val="223E82"/>
                </a:solidFill>
                <a:latin typeface="Arial"/>
                <a:ea typeface="Arial"/>
                <a:cs typeface="Arial"/>
                <a:sym typeface="Arial"/>
              </a:rPr>
              <a:t>Intervention #1- EDIP LOS</a:t>
            </a:r>
            <a:endParaRPr lang="en-US" sz="2800">
              <a:solidFill>
                <a:srgbClr val="223E82"/>
              </a:solidFill>
            </a:endParaRPr>
          </a:p>
        </p:txBody>
      </p:sp>
      <p:sp>
        <p:nvSpPr>
          <p:cNvPr id="3" name="TextBox 2">
            <a:extLst>
              <a:ext uri="{FF2B5EF4-FFF2-40B4-BE49-F238E27FC236}">
                <a16:creationId xmlns:a16="http://schemas.microsoft.com/office/drawing/2014/main" id="{6CE1B016-F3B6-0FC2-89EC-CD77A554EDFF}"/>
              </a:ext>
            </a:extLst>
          </p:cNvPr>
          <p:cNvSpPr txBox="1"/>
          <p:nvPr/>
        </p:nvSpPr>
        <p:spPr>
          <a:xfrm>
            <a:off x="972379" y="3701498"/>
            <a:ext cx="779558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695D46"/>
                </a:solidFill>
                <a:latin typeface="Open Sans"/>
              </a:rPr>
              <a:t> Original Simulation                                         </a:t>
            </a:r>
            <a:r>
              <a:rPr lang="en-US" sz="1800" dirty="0">
                <a:solidFill>
                  <a:srgbClr val="695D46"/>
                </a:solidFill>
                <a:latin typeface="Open Sans"/>
                <a:ea typeface="Open Sans"/>
                <a:cs typeface="Open Sans"/>
              </a:rPr>
              <a:t>Intervention #1 </a:t>
            </a:r>
            <a:endParaRPr lang="en-US" sz="1800" dirty="0">
              <a:solidFill>
                <a:srgbClr val="695D46"/>
              </a:solidFill>
              <a:latin typeface="Open Sans"/>
            </a:endParaRPr>
          </a:p>
          <a:p>
            <a:endParaRPr lang="en-US" sz="1600" b="1">
              <a:solidFill>
                <a:srgbClr val="695D46"/>
              </a:solidFill>
            </a:endParaRPr>
          </a:p>
        </p:txBody>
      </p:sp>
      <p:sp>
        <p:nvSpPr>
          <p:cNvPr id="6" name="TextBox 5">
            <a:extLst>
              <a:ext uri="{FF2B5EF4-FFF2-40B4-BE49-F238E27FC236}">
                <a16:creationId xmlns:a16="http://schemas.microsoft.com/office/drawing/2014/main" id="{ECA5DE3F-B7D4-DB00-9BB8-CAAE6BB4EA06}"/>
              </a:ext>
            </a:extLst>
          </p:cNvPr>
          <p:cNvSpPr txBox="1"/>
          <p:nvPr/>
        </p:nvSpPr>
        <p:spPr>
          <a:xfrm>
            <a:off x="527896" y="4171419"/>
            <a:ext cx="856020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200" dirty="0">
                <a:solidFill>
                  <a:srgbClr val="695D46"/>
                </a:solidFill>
              </a:rPr>
              <a:t>Reduced Long Stays: The intervention reduced stays beyond 1.4 days, while the original shows a tail extending to 2 days.</a:t>
            </a:r>
            <a:endParaRPr lang="en-US" sz="1200" dirty="0">
              <a:solidFill>
                <a:srgbClr val="A1E8D9"/>
              </a:solidFill>
            </a:endParaRPr>
          </a:p>
          <a:p>
            <a:pPr marL="285750" indent="-285750">
              <a:buChar char="•"/>
            </a:pPr>
            <a:r>
              <a:rPr lang="en-US" sz="1200" b="1" dirty="0">
                <a:solidFill>
                  <a:srgbClr val="695D46"/>
                </a:solidFill>
              </a:rPr>
              <a:t>Shift Toward Shorter Stays</a:t>
            </a:r>
            <a:r>
              <a:rPr lang="en-US" sz="1200" dirty="0">
                <a:solidFill>
                  <a:srgbClr val="695D46"/>
                </a:solidFill>
              </a:rPr>
              <a:t>: The peak in the intervention is between </a:t>
            </a:r>
            <a:r>
              <a:rPr lang="en-US" sz="1200" b="1" dirty="0">
                <a:solidFill>
                  <a:srgbClr val="695D46"/>
                </a:solidFill>
              </a:rPr>
              <a:t>0.35–0.5 days</a:t>
            </a:r>
            <a:r>
              <a:rPr lang="en-US" sz="1200" dirty="0">
                <a:solidFill>
                  <a:srgbClr val="695D46"/>
                </a:solidFill>
              </a:rPr>
              <a:t> (8–12 hours), indicating shorter wait compared to the original simulation.</a:t>
            </a:r>
            <a:endParaRPr lang="en-US" sz="1200" dirty="0"/>
          </a:p>
        </p:txBody>
      </p:sp>
      <p:sp>
        <p:nvSpPr>
          <p:cNvPr id="9" name="Google Shape;293;p34">
            <a:extLst>
              <a:ext uri="{FF2B5EF4-FFF2-40B4-BE49-F238E27FC236}">
                <a16:creationId xmlns:a16="http://schemas.microsoft.com/office/drawing/2014/main" id="{9F592983-4B89-3BB8-C77A-998027F47DE1}"/>
              </a:ext>
            </a:extLst>
          </p:cNvPr>
          <p:cNvSpPr/>
          <p:nvPr/>
        </p:nvSpPr>
        <p:spPr>
          <a:xfrm>
            <a:off x="7839686" y="2843168"/>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 name="Google Shape;293;p34">
            <a:extLst>
              <a:ext uri="{FF2B5EF4-FFF2-40B4-BE49-F238E27FC236}">
                <a16:creationId xmlns:a16="http://schemas.microsoft.com/office/drawing/2014/main" id="{C4F42D79-95ED-B275-B102-9619F4215158}"/>
              </a:ext>
            </a:extLst>
          </p:cNvPr>
          <p:cNvSpPr/>
          <p:nvPr/>
        </p:nvSpPr>
        <p:spPr>
          <a:xfrm>
            <a:off x="3669279" y="2935844"/>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5" name="Straight Arrow Connector 4">
            <a:extLst>
              <a:ext uri="{FF2B5EF4-FFF2-40B4-BE49-F238E27FC236}">
                <a16:creationId xmlns:a16="http://schemas.microsoft.com/office/drawing/2014/main" id="{1C06CDC3-0B51-12BD-61B8-6387CE916893}"/>
              </a:ext>
            </a:extLst>
          </p:cNvPr>
          <p:cNvCxnSpPr/>
          <p:nvPr/>
        </p:nvCxnSpPr>
        <p:spPr>
          <a:xfrm>
            <a:off x="4870173" y="1079292"/>
            <a:ext cx="0" cy="76449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17324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8" name="Picture 7">
            <a:extLst>
              <a:ext uri="{FF2B5EF4-FFF2-40B4-BE49-F238E27FC236}">
                <a16:creationId xmlns:a16="http://schemas.microsoft.com/office/drawing/2014/main" id="{D62DAE93-151E-EB8F-149E-D0AFDAD2BA9A}"/>
              </a:ext>
            </a:extLst>
          </p:cNvPr>
          <p:cNvPicPr>
            <a:picLocks noChangeAspect="1"/>
          </p:cNvPicPr>
          <p:nvPr/>
        </p:nvPicPr>
        <p:blipFill>
          <a:blip r:embed="rId3"/>
          <a:stretch>
            <a:fillRect/>
          </a:stretch>
        </p:blipFill>
        <p:spPr>
          <a:xfrm>
            <a:off x="4762551" y="966866"/>
            <a:ext cx="4067325" cy="2622298"/>
          </a:xfrm>
          <a:prstGeom prst="rect">
            <a:avLst/>
          </a:prstGeom>
        </p:spPr>
      </p:pic>
      <p:pic>
        <p:nvPicPr>
          <p:cNvPr id="4" name="Picture 3" descr="A graph of blue bars&#10;&#10;Description automatically generated">
            <a:extLst>
              <a:ext uri="{FF2B5EF4-FFF2-40B4-BE49-F238E27FC236}">
                <a16:creationId xmlns:a16="http://schemas.microsoft.com/office/drawing/2014/main" id="{8F485FA4-93D2-D804-C34A-B2014F017213}"/>
              </a:ext>
            </a:extLst>
          </p:cNvPr>
          <p:cNvPicPr>
            <a:picLocks noChangeAspect="1"/>
          </p:cNvPicPr>
          <p:nvPr/>
        </p:nvPicPr>
        <p:blipFill>
          <a:blip r:embed="rId4"/>
          <a:stretch>
            <a:fillRect/>
          </a:stretch>
        </p:blipFill>
        <p:spPr>
          <a:xfrm>
            <a:off x="518215" y="1027045"/>
            <a:ext cx="3726071" cy="2526196"/>
          </a:xfrm>
          <a:prstGeom prst="rect">
            <a:avLst/>
          </a:prstGeom>
        </p:spPr>
      </p:pic>
      <p:sp>
        <p:nvSpPr>
          <p:cNvPr id="272" name="Google Shape;272;p32"/>
          <p:cNvSpPr txBox="1">
            <a:spLocks noGrp="1"/>
          </p:cNvSpPr>
          <p:nvPr>
            <p:ph type="title"/>
          </p:nvPr>
        </p:nvSpPr>
        <p:spPr>
          <a:xfrm>
            <a:off x="261550" y="204400"/>
            <a:ext cx="8520600" cy="707400"/>
          </a:xfrm>
          <a:prstGeom prst="rect">
            <a:avLst/>
          </a:prstGeom>
        </p:spPr>
        <p:txBody>
          <a:bodyPr spcFirstLastPara="1" wrap="square" lIns="91425" tIns="91425" rIns="91425" bIns="91425" anchor="t" anchorCtr="0">
            <a:normAutofit/>
          </a:bodyPr>
          <a:lstStyle/>
          <a:p>
            <a:pPr>
              <a:buSzPts val="990"/>
            </a:pPr>
            <a:r>
              <a:rPr lang="en" sz="2400" b="0">
                <a:solidFill>
                  <a:srgbClr val="223E82"/>
                </a:solidFill>
                <a:latin typeface="Arial"/>
                <a:ea typeface="Arial"/>
                <a:cs typeface="Arial"/>
                <a:sym typeface="Arial"/>
              </a:rPr>
              <a:t>Intervention #1- EDIP Average Volumes</a:t>
            </a:r>
            <a:endParaRPr lang="en-US" sz="2800">
              <a:solidFill>
                <a:srgbClr val="223E82"/>
              </a:solidFill>
            </a:endParaRPr>
          </a:p>
        </p:txBody>
      </p:sp>
      <p:sp>
        <p:nvSpPr>
          <p:cNvPr id="3" name="TextBox 2">
            <a:extLst>
              <a:ext uri="{FF2B5EF4-FFF2-40B4-BE49-F238E27FC236}">
                <a16:creationId xmlns:a16="http://schemas.microsoft.com/office/drawing/2014/main" id="{6CE1B016-F3B6-0FC2-89EC-CD77A554EDFF}"/>
              </a:ext>
            </a:extLst>
          </p:cNvPr>
          <p:cNvSpPr txBox="1"/>
          <p:nvPr/>
        </p:nvSpPr>
        <p:spPr>
          <a:xfrm>
            <a:off x="972379" y="3701498"/>
            <a:ext cx="779558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695D46"/>
                </a:solidFill>
                <a:latin typeface="Open Sans"/>
                <a:ea typeface="Open Sans"/>
                <a:cs typeface="Open Sans"/>
              </a:rPr>
              <a:t>Original Simulation                                                  Intervention #1 </a:t>
            </a:r>
            <a:endParaRPr lang="en-US" dirty="0"/>
          </a:p>
          <a:p>
            <a:endParaRPr lang="en-US" sz="1600" b="1">
              <a:solidFill>
                <a:srgbClr val="695D46"/>
              </a:solidFill>
            </a:endParaRPr>
          </a:p>
        </p:txBody>
      </p:sp>
      <p:sp>
        <p:nvSpPr>
          <p:cNvPr id="6" name="TextBox 5">
            <a:extLst>
              <a:ext uri="{FF2B5EF4-FFF2-40B4-BE49-F238E27FC236}">
                <a16:creationId xmlns:a16="http://schemas.microsoft.com/office/drawing/2014/main" id="{BE2CC91E-DD68-07F1-EEB5-5C020F47C962}"/>
              </a:ext>
            </a:extLst>
          </p:cNvPr>
          <p:cNvSpPr txBox="1"/>
          <p:nvPr/>
        </p:nvSpPr>
        <p:spPr>
          <a:xfrm>
            <a:off x="828073" y="4461244"/>
            <a:ext cx="816687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b="1" dirty="0"/>
              <a:t>Lower Volumes</a:t>
            </a:r>
            <a:r>
              <a:rPr lang="en-US" dirty="0"/>
              <a:t>: Intervention reduces EDIP volumes to </a:t>
            </a:r>
            <a:r>
              <a:rPr lang="en-US" b="1" dirty="0"/>
              <a:t>15-20</a:t>
            </a:r>
            <a:r>
              <a:rPr lang="en-US" dirty="0"/>
              <a:t>, compared to </a:t>
            </a:r>
            <a:r>
              <a:rPr lang="en-US" b="1" dirty="0"/>
              <a:t>25-30</a:t>
            </a:r>
            <a:r>
              <a:rPr lang="en-US" dirty="0"/>
              <a:t> in the original.</a:t>
            </a:r>
          </a:p>
          <a:p>
            <a:pPr marL="285750" indent="-285750">
              <a:buChar char="•"/>
            </a:pPr>
            <a:endParaRPr lang="en-US" dirty="0"/>
          </a:p>
          <a:p>
            <a:pPr algn="l"/>
            <a:endParaRPr lang="en-US" dirty="0"/>
          </a:p>
        </p:txBody>
      </p:sp>
      <p:sp>
        <p:nvSpPr>
          <p:cNvPr id="7" name="Google Shape;293;p34">
            <a:extLst>
              <a:ext uri="{FF2B5EF4-FFF2-40B4-BE49-F238E27FC236}">
                <a16:creationId xmlns:a16="http://schemas.microsoft.com/office/drawing/2014/main" id="{C299471B-D0B5-C629-E064-E8076F191DBE}"/>
              </a:ext>
            </a:extLst>
          </p:cNvPr>
          <p:cNvSpPr/>
          <p:nvPr/>
        </p:nvSpPr>
        <p:spPr>
          <a:xfrm>
            <a:off x="405931" y="807214"/>
            <a:ext cx="753784" cy="702301"/>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 name="Google Shape;293;p34">
            <a:extLst>
              <a:ext uri="{FF2B5EF4-FFF2-40B4-BE49-F238E27FC236}">
                <a16:creationId xmlns:a16="http://schemas.microsoft.com/office/drawing/2014/main" id="{F396E975-C6F2-363C-8BD2-DCE981117CB9}"/>
              </a:ext>
            </a:extLst>
          </p:cNvPr>
          <p:cNvSpPr/>
          <p:nvPr/>
        </p:nvSpPr>
        <p:spPr>
          <a:xfrm>
            <a:off x="4493281" y="1783880"/>
            <a:ext cx="753784" cy="611193"/>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extLst>
      <p:ext uri="{BB962C8B-B14F-4D97-AF65-F5344CB8AC3E}">
        <p14:creationId xmlns:p14="http://schemas.microsoft.com/office/powerpoint/2010/main" val="1028541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7C54-CBB5-7E31-282C-47AD1697668A}"/>
              </a:ext>
            </a:extLst>
          </p:cNvPr>
          <p:cNvSpPr>
            <a:spLocks noGrp="1"/>
          </p:cNvSpPr>
          <p:nvPr>
            <p:ph type="title"/>
          </p:nvPr>
        </p:nvSpPr>
        <p:spPr>
          <a:xfrm>
            <a:off x="469096" y="123339"/>
            <a:ext cx="8520600" cy="707400"/>
          </a:xfrm>
        </p:spPr>
        <p:txBody>
          <a:bodyPr>
            <a:noAutofit/>
          </a:bodyPr>
          <a:lstStyle/>
          <a:p>
            <a:r>
              <a:rPr lang="en" sz="2400" b="0" dirty="0">
                <a:solidFill>
                  <a:srgbClr val="223E82"/>
                </a:solidFill>
                <a:latin typeface="Arial"/>
                <a:ea typeface="Arial"/>
                <a:cs typeface="Arial"/>
                <a:sym typeface="Arial"/>
              </a:rPr>
              <a:t>Sensitivity Analysis for SNF LOS Reduction Intervention</a:t>
            </a:r>
            <a:endParaRPr lang="en-US" sz="2400" dirty="0"/>
          </a:p>
        </p:txBody>
      </p:sp>
      <p:pic>
        <p:nvPicPr>
          <p:cNvPr id="7" name="Picture 6">
            <a:extLst>
              <a:ext uri="{FF2B5EF4-FFF2-40B4-BE49-F238E27FC236}">
                <a16:creationId xmlns:a16="http://schemas.microsoft.com/office/drawing/2014/main" id="{CD59B377-CCA7-6AC7-F2EC-7A741CEC7F25}"/>
              </a:ext>
            </a:extLst>
          </p:cNvPr>
          <p:cNvPicPr>
            <a:picLocks noChangeAspect="1"/>
          </p:cNvPicPr>
          <p:nvPr/>
        </p:nvPicPr>
        <p:blipFill>
          <a:blip r:embed="rId2"/>
          <a:stretch>
            <a:fillRect/>
          </a:stretch>
        </p:blipFill>
        <p:spPr>
          <a:xfrm>
            <a:off x="1267483" y="776105"/>
            <a:ext cx="5369832" cy="3591289"/>
          </a:xfrm>
          <a:prstGeom prst="rect">
            <a:avLst/>
          </a:prstGeom>
        </p:spPr>
      </p:pic>
    </p:spTree>
    <p:extLst>
      <p:ext uri="{BB962C8B-B14F-4D97-AF65-F5344CB8AC3E}">
        <p14:creationId xmlns:p14="http://schemas.microsoft.com/office/powerpoint/2010/main" val="1713429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6"/>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a:bodyPr>
          <a:lstStyle/>
          <a:p>
            <a:pPr>
              <a:buSzPts val="990"/>
            </a:pPr>
            <a:r>
              <a:rPr lang="en" sz="2300" b="0">
                <a:solidFill>
                  <a:srgbClr val="223E82"/>
                </a:solidFill>
                <a:latin typeface="Arial"/>
                <a:ea typeface="Arial"/>
                <a:cs typeface="Arial"/>
                <a:sym typeface="Arial"/>
              </a:rPr>
              <a:t>Intervention #2:</a:t>
            </a:r>
            <a:r>
              <a:rPr lang="en" sz="2400" b="0">
                <a:solidFill>
                  <a:srgbClr val="223E82"/>
                </a:solidFill>
                <a:latin typeface="Arial"/>
                <a:ea typeface="Arial"/>
                <a:cs typeface="Arial"/>
                <a:sym typeface="Arial"/>
              </a:rPr>
              <a:t> Early Discharges</a:t>
            </a:r>
            <a:endParaRPr lang="en" sz="2400" b="0">
              <a:solidFill>
                <a:srgbClr val="223E82"/>
              </a:solidFill>
              <a:latin typeface="Arial"/>
              <a:cs typeface="Arial"/>
            </a:endParaRPr>
          </a:p>
        </p:txBody>
      </p:sp>
      <p:sp>
        <p:nvSpPr>
          <p:cNvPr id="316" name="Google Shape;316;p36"/>
          <p:cNvSpPr txBox="1"/>
          <p:nvPr/>
        </p:nvSpPr>
        <p:spPr>
          <a:xfrm>
            <a:off x="633385" y="882120"/>
            <a:ext cx="8296403" cy="795386"/>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lang="en" sz="1500">
              <a:solidFill>
                <a:schemeClr val="dk2"/>
              </a:solidFill>
              <a:latin typeface="Open Sans"/>
              <a:ea typeface="Open Sans"/>
              <a:cs typeface="Open Sans"/>
            </a:endParaRPr>
          </a:p>
          <a:p>
            <a:pPr marL="457200" indent="-323850">
              <a:buClr>
                <a:schemeClr val="dk2"/>
              </a:buClr>
              <a:buSzPts val="1500"/>
              <a:buFont typeface="Open Sans"/>
              <a:buChar char="●"/>
            </a:pPr>
            <a:r>
              <a:rPr lang="en" sz="1200" b="1">
                <a:solidFill>
                  <a:schemeClr val="dk2"/>
                </a:solidFill>
                <a:latin typeface="Open Sans"/>
                <a:ea typeface="Open Sans"/>
                <a:cs typeface="Open Sans"/>
              </a:rPr>
              <a:t>Shift Discharge time for 50% of the patients discharging between 3 – 6 pm to 10 am</a:t>
            </a:r>
          </a:p>
          <a:p>
            <a:pPr marL="457200" indent="-323850">
              <a:buClr>
                <a:schemeClr val="dk2"/>
              </a:buClr>
              <a:buSzPts val="1500"/>
              <a:buFont typeface="Open Sans"/>
              <a:buChar char="●"/>
            </a:pPr>
            <a:r>
              <a:rPr lang="en" sz="1200" b="1">
                <a:solidFill>
                  <a:schemeClr val="dk2"/>
                </a:solidFill>
                <a:latin typeface="Open Sans"/>
                <a:ea typeface="Open Sans"/>
                <a:cs typeface="Open Sans"/>
              </a:rPr>
              <a:t>Adjust the hospital stay time accordingly</a:t>
            </a:r>
          </a:p>
        </p:txBody>
      </p:sp>
      <p:pic>
        <p:nvPicPr>
          <p:cNvPr id="2" name="Picture 1">
            <a:extLst>
              <a:ext uri="{FF2B5EF4-FFF2-40B4-BE49-F238E27FC236}">
                <a16:creationId xmlns:a16="http://schemas.microsoft.com/office/drawing/2014/main" id="{D1B5206B-EEE3-8B94-5646-FD77AE9A0F63}"/>
              </a:ext>
            </a:extLst>
          </p:cNvPr>
          <p:cNvPicPr>
            <a:picLocks noChangeAspect="1"/>
          </p:cNvPicPr>
          <p:nvPr/>
        </p:nvPicPr>
        <p:blipFill>
          <a:blip r:embed="rId3"/>
          <a:srcRect r="96" b="1351"/>
          <a:stretch/>
        </p:blipFill>
        <p:spPr>
          <a:xfrm>
            <a:off x="313839" y="1721998"/>
            <a:ext cx="4212625" cy="2618092"/>
          </a:xfrm>
          <a:prstGeom prst="rect">
            <a:avLst/>
          </a:prstGeom>
        </p:spPr>
      </p:pic>
      <p:pic>
        <p:nvPicPr>
          <p:cNvPr id="3" name="Picture 2">
            <a:extLst>
              <a:ext uri="{FF2B5EF4-FFF2-40B4-BE49-F238E27FC236}">
                <a16:creationId xmlns:a16="http://schemas.microsoft.com/office/drawing/2014/main" id="{570C03EA-BC30-C795-5918-1E7F4FBDAA1B}"/>
              </a:ext>
            </a:extLst>
          </p:cNvPr>
          <p:cNvPicPr>
            <a:picLocks noChangeAspect="1"/>
          </p:cNvPicPr>
          <p:nvPr/>
        </p:nvPicPr>
        <p:blipFill>
          <a:blip r:embed="rId4"/>
          <a:stretch>
            <a:fillRect/>
          </a:stretch>
        </p:blipFill>
        <p:spPr>
          <a:xfrm>
            <a:off x="4569733" y="1676613"/>
            <a:ext cx="4323578" cy="2697892"/>
          </a:xfrm>
          <a:prstGeom prst="rect">
            <a:avLst/>
          </a:prstGeom>
        </p:spPr>
      </p:pic>
      <p:sp>
        <p:nvSpPr>
          <p:cNvPr id="5" name="TextBox 4">
            <a:extLst>
              <a:ext uri="{FF2B5EF4-FFF2-40B4-BE49-F238E27FC236}">
                <a16:creationId xmlns:a16="http://schemas.microsoft.com/office/drawing/2014/main" id="{C48488A6-017B-5651-35B0-DB9A14FEBCBD}"/>
              </a:ext>
            </a:extLst>
          </p:cNvPr>
          <p:cNvSpPr txBox="1"/>
          <p:nvPr/>
        </p:nvSpPr>
        <p:spPr>
          <a:xfrm>
            <a:off x="157549" y="4497859"/>
            <a:ext cx="88289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695D46"/>
                </a:solidFill>
                <a:latin typeface="Open Sans"/>
              </a:rPr>
              <a:t>  </a:t>
            </a:r>
            <a:r>
              <a:rPr lang="en-US" sz="1600" dirty="0">
                <a:solidFill>
                  <a:srgbClr val="695D46"/>
                </a:solidFill>
                <a:latin typeface="Open Sans"/>
              </a:rPr>
              <a:t>                 </a:t>
            </a:r>
            <a:r>
              <a:rPr lang="en-US" sz="1600" dirty="0">
                <a:solidFill>
                  <a:srgbClr val="695D46"/>
                </a:solidFill>
                <a:latin typeface="Open Sans"/>
                <a:ea typeface="Open Sans"/>
                <a:cs typeface="Open Sans"/>
              </a:rPr>
              <a:t>Original Simulation</a:t>
            </a:r>
            <a:r>
              <a:rPr lang="en-US" sz="1600" dirty="0">
                <a:solidFill>
                  <a:srgbClr val="695D46"/>
                </a:solidFill>
                <a:latin typeface="Open Sans"/>
              </a:rPr>
              <a:t>                                                       Intervention #2</a:t>
            </a:r>
            <a:endParaRPr lang="en-US" sz="1600" dirty="0"/>
          </a:p>
        </p:txBody>
      </p:sp>
      <p:sp>
        <p:nvSpPr>
          <p:cNvPr id="7" name="Google Shape;293;p34">
            <a:extLst>
              <a:ext uri="{FF2B5EF4-FFF2-40B4-BE49-F238E27FC236}">
                <a16:creationId xmlns:a16="http://schemas.microsoft.com/office/drawing/2014/main" id="{093CDAD9-FC68-3C28-6742-2B31AE89A6AF}"/>
              </a:ext>
            </a:extLst>
          </p:cNvPr>
          <p:cNvSpPr/>
          <p:nvPr/>
        </p:nvSpPr>
        <p:spPr>
          <a:xfrm>
            <a:off x="4909320" y="1805828"/>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5" name="Picture 4">
            <a:extLst>
              <a:ext uri="{FF2B5EF4-FFF2-40B4-BE49-F238E27FC236}">
                <a16:creationId xmlns:a16="http://schemas.microsoft.com/office/drawing/2014/main" id="{A13EC950-CE07-32CD-A427-E0444C566E78}"/>
              </a:ext>
            </a:extLst>
          </p:cNvPr>
          <p:cNvPicPr>
            <a:picLocks noChangeAspect="1"/>
          </p:cNvPicPr>
          <p:nvPr/>
        </p:nvPicPr>
        <p:blipFill>
          <a:blip r:embed="rId3"/>
          <a:stretch>
            <a:fillRect/>
          </a:stretch>
        </p:blipFill>
        <p:spPr>
          <a:xfrm>
            <a:off x="4781415" y="914945"/>
            <a:ext cx="4085089" cy="2605223"/>
          </a:xfrm>
          <a:prstGeom prst="rect">
            <a:avLst/>
          </a:prstGeom>
        </p:spPr>
      </p:pic>
      <p:pic>
        <p:nvPicPr>
          <p:cNvPr id="12" name="Picture 11" descr="A graph of a number of people&#10;&#10;Description automatically generated">
            <a:extLst>
              <a:ext uri="{FF2B5EF4-FFF2-40B4-BE49-F238E27FC236}">
                <a16:creationId xmlns:a16="http://schemas.microsoft.com/office/drawing/2014/main" id="{4852DC9E-3184-2957-9984-107865A1124C}"/>
              </a:ext>
            </a:extLst>
          </p:cNvPr>
          <p:cNvPicPr>
            <a:picLocks noChangeAspect="1"/>
          </p:cNvPicPr>
          <p:nvPr/>
        </p:nvPicPr>
        <p:blipFill>
          <a:blip r:embed="rId4"/>
          <a:stretch>
            <a:fillRect/>
          </a:stretch>
        </p:blipFill>
        <p:spPr>
          <a:xfrm>
            <a:off x="437466" y="908513"/>
            <a:ext cx="4080531" cy="2618089"/>
          </a:xfrm>
          <a:prstGeom prst="rect">
            <a:avLst/>
          </a:prstGeom>
        </p:spPr>
      </p:pic>
      <p:sp>
        <p:nvSpPr>
          <p:cNvPr id="272" name="Google Shape;272;p32"/>
          <p:cNvSpPr txBox="1">
            <a:spLocks noGrp="1"/>
          </p:cNvSpPr>
          <p:nvPr>
            <p:ph type="title"/>
          </p:nvPr>
        </p:nvSpPr>
        <p:spPr>
          <a:xfrm>
            <a:off x="261550" y="204400"/>
            <a:ext cx="8520600" cy="707400"/>
          </a:xfrm>
          <a:prstGeom prst="rect">
            <a:avLst/>
          </a:prstGeom>
        </p:spPr>
        <p:txBody>
          <a:bodyPr spcFirstLastPara="1" wrap="square" lIns="91425" tIns="91425" rIns="91425" bIns="91425" anchor="t" anchorCtr="0">
            <a:normAutofit/>
          </a:bodyPr>
          <a:lstStyle/>
          <a:p>
            <a:pPr>
              <a:buSzPts val="990"/>
            </a:pPr>
            <a:r>
              <a:rPr lang="en" sz="2400" b="0">
                <a:solidFill>
                  <a:srgbClr val="223E82"/>
                </a:solidFill>
                <a:latin typeface="Arial"/>
                <a:ea typeface="Arial"/>
                <a:cs typeface="Arial"/>
                <a:sym typeface="Arial"/>
              </a:rPr>
              <a:t>Intervention #2 - EDIP LOS</a:t>
            </a:r>
            <a:endParaRPr lang="en-US" sz="2800">
              <a:solidFill>
                <a:srgbClr val="223E82"/>
              </a:solidFill>
            </a:endParaRPr>
          </a:p>
        </p:txBody>
      </p:sp>
      <p:sp>
        <p:nvSpPr>
          <p:cNvPr id="3" name="TextBox 2">
            <a:extLst>
              <a:ext uri="{FF2B5EF4-FFF2-40B4-BE49-F238E27FC236}">
                <a16:creationId xmlns:a16="http://schemas.microsoft.com/office/drawing/2014/main" id="{6CE1B016-F3B6-0FC2-89EC-CD77A554EDFF}"/>
              </a:ext>
            </a:extLst>
          </p:cNvPr>
          <p:cNvSpPr txBox="1"/>
          <p:nvPr/>
        </p:nvSpPr>
        <p:spPr>
          <a:xfrm>
            <a:off x="972379" y="3701498"/>
            <a:ext cx="779558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695D46"/>
                </a:solidFill>
                <a:latin typeface="Open Sans"/>
                <a:ea typeface="Open Sans"/>
                <a:cs typeface="Open Sans"/>
              </a:rPr>
              <a:t>Original Simulation</a:t>
            </a:r>
            <a:r>
              <a:rPr lang="en-US" sz="1800" dirty="0">
                <a:solidFill>
                  <a:srgbClr val="695D46"/>
                </a:solidFill>
                <a:latin typeface="Open Sans"/>
              </a:rPr>
              <a:t>                                        Intervention #2      </a:t>
            </a:r>
            <a:endParaRPr lang="en-US" dirty="0"/>
          </a:p>
          <a:p>
            <a:endParaRPr lang="en-US" sz="1600" b="1">
              <a:solidFill>
                <a:srgbClr val="695D46"/>
              </a:solidFill>
            </a:endParaRPr>
          </a:p>
        </p:txBody>
      </p:sp>
      <p:sp>
        <p:nvSpPr>
          <p:cNvPr id="6" name="TextBox 5">
            <a:extLst>
              <a:ext uri="{FF2B5EF4-FFF2-40B4-BE49-F238E27FC236}">
                <a16:creationId xmlns:a16="http://schemas.microsoft.com/office/drawing/2014/main" id="{ECA5DE3F-B7D4-DB00-9BB8-CAAE6BB4EA06}"/>
              </a:ext>
            </a:extLst>
          </p:cNvPr>
          <p:cNvSpPr txBox="1"/>
          <p:nvPr/>
        </p:nvSpPr>
        <p:spPr>
          <a:xfrm>
            <a:off x="527896" y="4171419"/>
            <a:ext cx="856020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Char char="•"/>
            </a:pPr>
            <a:r>
              <a:rPr lang="en-US" sz="1200" dirty="0">
                <a:solidFill>
                  <a:srgbClr val="695D46"/>
                </a:solidFill>
              </a:rPr>
              <a:t>Limits stays to 1.4 days (2000 minutes), while the original shows patients with stays as long as 2 days (3000 minutes).</a:t>
            </a:r>
            <a:endParaRPr lang="en-US" sz="1200" dirty="0">
              <a:solidFill>
                <a:srgbClr val="A1E8D9"/>
              </a:solidFill>
            </a:endParaRPr>
          </a:p>
          <a:p>
            <a:pPr marL="171450" indent="-171450">
              <a:buChar char="•"/>
            </a:pPr>
            <a:r>
              <a:rPr lang="en-US" sz="1200" dirty="0">
                <a:solidFill>
                  <a:srgbClr val="695D46"/>
                </a:solidFill>
              </a:rPr>
              <a:t>More patients with stays under </a:t>
            </a:r>
            <a:r>
              <a:rPr lang="en-US" sz="1200" b="1" dirty="0">
                <a:solidFill>
                  <a:srgbClr val="695D46"/>
                </a:solidFill>
              </a:rPr>
              <a:t>0.7 days (1000 minutes)</a:t>
            </a:r>
            <a:r>
              <a:rPr lang="en-US" sz="1200" dirty="0">
                <a:solidFill>
                  <a:srgbClr val="695D46"/>
                </a:solidFill>
              </a:rPr>
              <a:t>, whereas the original simulation had a larger spread of longer stays.</a:t>
            </a:r>
          </a:p>
          <a:p>
            <a:endParaRPr lang="en-US" sz="1200" dirty="0">
              <a:solidFill>
                <a:srgbClr val="695D46"/>
              </a:solidFill>
            </a:endParaRPr>
          </a:p>
          <a:p>
            <a:pPr marL="285750" indent="-285750">
              <a:buChar char="•"/>
            </a:pPr>
            <a:endParaRPr lang="en-US" sz="1200" dirty="0">
              <a:solidFill>
                <a:srgbClr val="695D46"/>
              </a:solidFill>
            </a:endParaRPr>
          </a:p>
        </p:txBody>
      </p:sp>
      <p:sp>
        <p:nvSpPr>
          <p:cNvPr id="9" name="Google Shape;293;p34">
            <a:extLst>
              <a:ext uri="{FF2B5EF4-FFF2-40B4-BE49-F238E27FC236}">
                <a16:creationId xmlns:a16="http://schemas.microsoft.com/office/drawing/2014/main" id="{9F592983-4B89-3BB8-C77A-998027F47DE1}"/>
              </a:ext>
            </a:extLst>
          </p:cNvPr>
          <p:cNvSpPr/>
          <p:nvPr/>
        </p:nvSpPr>
        <p:spPr>
          <a:xfrm>
            <a:off x="7930795" y="2843168"/>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 name="Google Shape;293;p34">
            <a:extLst>
              <a:ext uri="{FF2B5EF4-FFF2-40B4-BE49-F238E27FC236}">
                <a16:creationId xmlns:a16="http://schemas.microsoft.com/office/drawing/2014/main" id="{C4F42D79-95ED-B275-B102-9619F4215158}"/>
              </a:ext>
            </a:extLst>
          </p:cNvPr>
          <p:cNvSpPr/>
          <p:nvPr/>
        </p:nvSpPr>
        <p:spPr>
          <a:xfrm>
            <a:off x="3669279" y="2935844"/>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13" name="Straight Arrow Connector 12">
            <a:extLst>
              <a:ext uri="{FF2B5EF4-FFF2-40B4-BE49-F238E27FC236}">
                <a16:creationId xmlns:a16="http://schemas.microsoft.com/office/drawing/2014/main" id="{1CF3E9B4-90BD-25E5-4F43-2FA21D2144F4}"/>
              </a:ext>
            </a:extLst>
          </p:cNvPr>
          <p:cNvCxnSpPr/>
          <p:nvPr/>
        </p:nvCxnSpPr>
        <p:spPr>
          <a:xfrm>
            <a:off x="4870173" y="1079292"/>
            <a:ext cx="0" cy="76449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33896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8" name="Picture 7">
            <a:extLst>
              <a:ext uri="{FF2B5EF4-FFF2-40B4-BE49-F238E27FC236}">
                <a16:creationId xmlns:a16="http://schemas.microsoft.com/office/drawing/2014/main" id="{415EF607-4C2D-18F6-AACB-18766191876E}"/>
              </a:ext>
            </a:extLst>
          </p:cNvPr>
          <p:cNvPicPr>
            <a:picLocks noChangeAspect="1"/>
          </p:cNvPicPr>
          <p:nvPr/>
        </p:nvPicPr>
        <p:blipFill>
          <a:blip r:embed="rId3"/>
          <a:stretch>
            <a:fillRect/>
          </a:stretch>
        </p:blipFill>
        <p:spPr>
          <a:xfrm>
            <a:off x="4631961" y="957707"/>
            <a:ext cx="3919511" cy="2526196"/>
          </a:xfrm>
          <a:prstGeom prst="rect">
            <a:avLst/>
          </a:prstGeom>
        </p:spPr>
      </p:pic>
      <p:pic>
        <p:nvPicPr>
          <p:cNvPr id="4" name="Picture 3" descr="A graph of blue bars&#10;&#10;Description automatically generated">
            <a:extLst>
              <a:ext uri="{FF2B5EF4-FFF2-40B4-BE49-F238E27FC236}">
                <a16:creationId xmlns:a16="http://schemas.microsoft.com/office/drawing/2014/main" id="{8F485FA4-93D2-D804-C34A-B2014F017213}"/>
              </a:ext>
            </a:extLst>
          </p:cNvPr>
          <p:cNvPicPr>
            <a:picLocks noChangeAspect="1"/>
          </p:cNvPicPr>
          <p:nvPr/>
        </p:nvPicPr>
        <p:blipFill>
          <a:blip r:embed="rId4"/>
          <a:stretch>
            <a:fillRect/>
          </a:stretch>
        </p:blipFill>
        <p:spPr>
          <a:xfrm>
            <a:off x="427106" y="1035327"/>
            <a:ext cx="3726071" cy="2526196"/>
          </a:xfrm>
          <a:prstGeom prst="rect">
            <a:avLst/>
          </a:prstGeom>
        </p:spPr>
      </p:pic>
      <p:sp>
        <p:nvSpPr>
          <p:cNvPr id="272" name="Google Shape;272;p32"/>
          <p:cNvSpPr txBox="1">
            <a:spLocks noGrp="1"/>
          </p:cNvSpPr>
          <p:nvPr>
            <p:ph type="title"/>
          </p:nvPr>
        </p:nvSpPr>
        <p:spPr>
          <a:xfrm>
            <a:off x="261550" y="204400"/>
            <a:ext cx="8520600" cy="707400"/>
          </a:xfrm>
          <a:prstGeom prst="rect">
            <a:avLst/>
          </a:prstGeom>
        </p:spPr>
        <p:txBody>
          <a:bodyPr spcFirstLastPara="1" wrap="square" lIns="91425" tIns="91425" rIns="91425" bIns="91425" anchor="t" anchorCtr="0">
            <a:normAutofit/>
          </a:bodyPr>
          <a:lstStyle/>
          <a:p>
            <a:pPr>
              <a:buSzPts val="990"/>
            </a:pPr>
            <a:r>
              <a:rPr lang="en" sz="2400" b="0">
                <a:solidFill>
                  <a:srgbClr val="223E82"/>
                </a:solidFill>
                <a:latin typeface="Arial"/>
                <a:ea typeface="Arial"/>
                <a:cs typeface="Arial"/>
                <a:sym typeface="Arial"/>
              </a:rPr>
              <a:t>Intervention #2 - EDIP Average Volumes</a:t>
            </a:r>
            <a:endParaRPr lang="en-US" sz="2800">
              <a:solidFill>
                <a:srgbClr val="223E82"/>
              </a:solidFill>
            </a:endParaRPr>
          </a:p>
        </p:txBody>
      </p:sp>
      <p:sp>
        <p:nvSpPr>
          <p:cNvPr id="3" name="TextBox 2">
            <a:extLst>
              <a:ext uri="{FF2B5EF4-FFF2-40B4-BE49-F238E27FC236}">
                <a16:creationId xmlns:a16="http://schemas.microsoft.com/office/drawing/2014/main" id="{6CE1B016-F3B6-0FC2-89EC-CD77A554EDFF}"/>
              </a:ext>
            </a:extLst>
          </p:cNvPr>
          <p:cNvSpPr txBox="1"/>
          <p:nvPr/>
        </p:nvSpPr>
        <p:spPr>
          <a:xfrm>
            <a:off x="972379" y="3701498"/>
            <a:ext cx="779558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695D46"/>
                </a:solidFill>
                <a:latin typeface="Open Sans"/>
                <a:ea typeface="Open Sans"/>
                <a:cs typeface="Open Sans"/>
              </a:rPr>
              <a:t>Original Simulation                                             Intervention #2 </a:t>
            </a:r>
            <a:endParaRPr lang="en-US" dirty="0"/>
          </a:p>
          <a:p>
            <a:endParaRPr lang="en-US" sz="1600" b="1" dirty="0">
              <a:solidFill>
                <a:srgbClr val="695D46"/>
              </a:solidFill>
            </a:endParaRPr>
          </a:p>
        </p:txBody>
      </p:sp>
      <p:sp>
        <p:nvSpPr>
          <p:cNvPr id="6" name="TextBox 5">
            <a:extLst>
              <a:ext uri="{FF2B5EF4-FFF2-40B4-BE49-F238E27FC236}">
                <a16:creationId xmlns:a16="http://schemas.microsoft.com/office/drawing/2014/main" id="{BE2CC91E-DD68-07F1-EEB5-5C020F47C962}"/>
              </a:ext>
            </a:extLst>
          </p:cNvPr>
          <p:cNvSpPr txBox="1"/>
          <p:nvPr/>
        </p:nvSpPr>
        <p:spPr>
          <a:xfrm>
            <a:off x="828073" y="4461244"/>
            <a:ext cx="795980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b="1"/>
              <a:t>Lower Peak Volumes</a:t>
            </a:r>
            <a:r>
              <a:rPr lang="en-US"/>
              <a:t>: Intervention peaks at </a:t>
            </a:r>
            <a:r>
              <a:rPr lang="en-US" b="1"/>
              <a:t>20 EDIP volumes</a:t>
            </a:r>
            <a:r>
              <a:rPr lang="en-US"/>
              <a:t>, compared to </a:t>
            </a:r>
            <a:r>
              <a:rPr lang="en-US" b="1"/>
              <a:t>25-30</a:t>
            </a:r>
            <a:r>
              <a:rPr lang="en-US"/>
              <a:t> in the original.</a:t>
            </a:r>
          </a:p>
          <a:p>
            <a:pPr marL="285750" indent="-285750">
              <a:buChar char="•"/>
            </a:pPr>
            <a:endParaRPr lang="en-US"/>
          </a:p>
          <a:p>
            <a:pPr algn="l"/>
            <a:endParaRPr lang="en-US"/>
          </a:p>
        </p:txBody>
      </p:sp>
      <p:sp>
        <p:nvSpPr>
          <p:cNvPr id="7" name="Google Shape;293;p34">
            <a:extLst>
              <a:ext uri="{FF2B5EF4-FFF2-40B4-BE49-F238E27FC236}">
                <a16:creationId xmlns:a16="http://schemas.microsoft.com/office/drawing/2014/main" id="{69DB2C66-F06F-CC4C-DF5E-C16ABC314EA2}"/>
              </a:ext>
            </a:extLst>
          </p:cNvPr>
          <p:cNvSpPr/>
          <p:nvPr/>
        </p:nvSpPr>
        <p:spPr>
          <a:xfrm>
            <a:off x="124322" y="1039127"/>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 name="Google Shape;293;p34">
            <a:extLst>
              <a:ext uri="{FF2B5EF4-FFF2-40B4-BE49-F238E27FC236}">
                <a16:creationId xmlns:a16="http://schemas.microsoft.com/office/drawing/2014/main" id="{B4280E76-6FF2-41EE-F251-AA442A09F16D}"/>
              </a:ext>
            </a:extLst>
          </p:cNvPr>
          <p:cNvSpPr/>
          <p:nvPr/>
        </p:nvSpPr>
        <p:spPr>
          <a:xfrm>
            <a:off x="4447727" y="1695542"/>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extLst>
      <p:ext uri="{BB962C8B-B14F-4D97-AF65-F5344CB8AC3E}">
        <p14:creationId xmlns:p14="http://schemas.microsoft.com/office/powerpoint/2010/main" val="3967331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7C54-CBB5-7E31-282C-47AD1697668A}"/>
              </a:ext>
            </a:extLst>
          </p:cNvPr>
          <p:cNvSpPr>
            <a:spLocks noGrp="1"/>
          </p:cNvSpPr>
          <p:nvPr>
            <p:ph type="title"/>
          </p:nvPr>
        </p:nvSpPr>
        <p:spPr>
          <a:xfrm>
            <a:off x="469096" y="123339"/>
            <a:ext cx="8520600" cy="707400"/>
          </a:xfrm>
        </p:spPr>
        <p:txBody>
          <a:bodyPr>
            <a:noAutofit/>
          </a:bodyPr>
          <a:lstStyle/>
          <a:p>
            <a:r>
              <a:rPr lang="en" sz="2800" b="0" dirty="0">
                <a:solidFill>
                  <a:srgbClr val="223E82"/>
                </a:solidFill>
                <a:latin typeface="Arial"/>
                <a:ea typeface="Arial"/>
                <a:cs typeface="Arial"/>
                <a:sym typeface="Arial"/>
              </a:rPr>
              <a:t>Sensitivity Analysis for Early Discharge Intervention</a:t>
            </a:r>
            <a:endParaRPr lang="en-US" sz="2800" dirty="0"/>
          </a:p>
        </p:txBody>
      </p:sp>
      <p:pic>
        <p:nvPicPr>
          <p:cNvPr id="5" name="Picture 4">
            <a:extLst>
              <a:ext uri="{FF2B5EF4-FFF2-40B4-BE49-F238E27FC236}">
                <a16:creationId xmlns:a16="http://schemas.microsoft.com/office/drawing/2014/main" id="{B148061A-C930-F12D-E1F9-C7563A1CE486}"/>
              </a:ext>
            </a:extLst>
          </p:cNvPr>
          <p:cNvPicPr>
            <a:picLocks noChangeAspect="1"/>
          </p:cNvPicPr>
          <p:nvPr/>
        </p:nvPicPr>
        <p:blipFill>
          <a:blip r:embed="rId2"/>
          <a:stretch>
            <a:fillRect/>
          </a:stretch>
        </p:blipFill>
        <p:spPr>
          <a:xfrm>
            <a:off x="1015372" y="830739"/>
            <a:ext cx="6196748" cy="3664482"/>
          </a:xfrm>
          <a:prstGeom prst="rect">
            <a:avLst/>
          </a:prstGeom>
        </p:spPr>
      </p:pic>
    </p:spTree>
    <p:extLst>
      <p:ext uri="{BB962C8B-B14F-4D97-AF65-F5344CB8AC3E}">
        <p14:creationId xmlns:p14="http://schemas.microsoft.com/office/powerpoint/2010/main" val="3743382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algn="ctr"/>
            <a:r>
              <a:rPr lang="en">
                <a:solidFill>
                  <a:schemeClr val="dk2"/>
                </a:solidFill>
              </a:rPr>
              <a:t>Next Steps</a:t>
            </a:r>
            <a:endParaRPr>
              <a:solidFill>
                <a:schemeClr val="dk2"/>
              </a:solidFill>
            </a:endParaRPr>
          </a:p>
        </p:txBody>
      </p:sp>
      <p:sp>
        <p:nvSpPr>
          <p:cNvPr id="379" name="Google Shape;379;p4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r>
              <a:rPr lang="en" b="1"/>
              <a:t>Include Surgical Impact</a:t>
            </a:r>
            <a:r>
              <a:rPr lang="en"/>
              <a:t>: Assess how surgical cases affect ED admissions to identify potential bottlenecks.</a:t>
            </a:r>
          </a:p>
          <a:p>
            <a:pPr>
              <a:lnSpc>
                <a:spcPct val="114999"/>
              </a:lnSpc>
            </a:pPr>
            <a:r>
              <a:rPr lang="en" b="1"/>
              <a:t>Separate Treatment vs. Discharge</a:t>
            </a:r>
            <a:r>
              <a:rPr lang="en"/>
              <a:t>: Clarify the distinction between treatment time and discharge to optimize patient flow.</a:t>
            </a:r>
          </a:p>
          <a:p>
            <a:pPr>
              <a:lnSpc>
                <a:spcPct val="114999"/>
              </a:lnSpc>
            </a:pPr>
            <a:r>
              <a:rPr lang="en" b="1"/>
              <a:t>Test More Interventions</a:t>
            </a:r>
            <a:r>
              <a:rPr lang="en"/>
              <a:t>: Implement additional interventions to further reduce wait times and improve efficiency.</a:t>
            </a:r>
          </a:p>
          <a:p>
            <a:pPr>
              <a:lnSpc>
                <a:spcPct val="114999"/>
              </a:lnSpc>
            </a:pPr>
            <a:endParaRPr lang="en"/>
          </a:p>
          <a:p>
            <a:pPr marL="457200" lvl="0" indent="-342900" algn="l">
              <a:lnSpc>
                <a:spcPct val="114999"/>
              </a:lnSpc>
              <a:spcBef>
                <a:spcPts val="0"/>
              </a:spcBef>
              <a:spcAft>
                <a:spcPts val="0"/>
              </a:spcAft>
              <a:buSzPts val="1800"/>
              <a:buChar char="●"/>
            </a:pPr>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3"/>
          <p:cNvSpPr txBox="1"/>
          <p:nvPr/>
        </p:nvSpPr>
        <p:spPr>
          <a:xfrm>
            <a:off x="2401350" y="1985225"/>
            <a:ext cx="4341300" cy="1015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 sz="6000">
                <a:latin typeface="Calibri"/>
                <a:ea typeface="Calibri"/>
                <a:cs typeface="Calibri"/>
                <a:sym typeface="Calibri"/>
              </a:rPr>
              <a:t>Thank You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64"/>
        <p:cNvGrpSpPr/>
        <p:nvPr/>
      </p:nvGrpSpPr>
      <p:grpSpPr>
        <a:xfrm>
          <a:off x="0" y="0"/>
          <a:ext cx="0" cy="0"/>
          <a:chOff x="0" y="0"/>
          <a:chExt cx="0" cy="0"/>
        </a:xfrm>
      </p:grpSpPr>
      <p:sp>
        <p:nvSpPr>
          <p:cNvPr id="265" name="Google Shape;265;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0" dirty="0">
                <a:solidFill>
                  <a:srgbClr val="223E82"/>
                </a:solidFill>
                <a:latin typeface="Arial"/>
                <a:ea typeface="Arial"/>
                <a:cs typeface="Arial"/>
                <a:sym typeface="Arial"/>
              </a:rPr>
              <a:t>Intervention #3 Diversion to Urgent Care</a:t>
            </a:r>
            <a:endParaRPr dirty="0"/>
          </a:p>
        </p:txBody>
      </p:sp>
      <p:sp>
        <p:nvSpPr>
          <p:cNvPr id="266" name="Google Shape;266;p31"/>
          <p:cNvSpPr txBox="1">
            <a:spLocks noGrp="1"/>
          </p:cNvSpPr>
          <p:nvPr>
            <p:ph type="body" idx="1"/>
          </p:nvPr>
        </p:nvSpPr>
        <p:spPr>
          <a:xfrm>
            <a:off x="401050" y="1158234"/>
            <a:ext cx="7968227" cy="3333591"/>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a:t>After triage, patients with lower ESI levels (typically levels 4 and 5) are identified</a:t>
            </a:r>
          </a:p>
          <a:p>
            <a:pPr indent="-323850">
              <a:lnSpc>
                <a:spcPct val="114999"/>
              </a:lnSpc>
              <a:buSzPts val="1500"/>
            </a:pPr>
            <a:r>
              <a:rPr lang="en" sz="1500"/>
              <a:t>90% of these patients are diverted to Urgent care</a:t>
            </a:r>
          </a:p>
          <a:p>
            <a:pPr indent="-323850">
              <a:lnSpc>
                <a:spcPct val="114999"/>
              </a:lnSpc>
              <a:buSzPts val="1500"/>
            </a:pPr>
            <a:r>
              <a:rPr lang="en" sz="1500"/>
              <a:t>In the simulation they will not occupy an ED beds</a:t>
            </a:r>
          </a:p>
          <a:p>
            <a:pPr indent="-323850">
              <a:lnSpc>
                <a:spcPct val="114999"/>
              </a:lnSpc>
              <a:buSzPts val="1500"/>
            </a:pPr>
            <a:r>
              <a:rPr lang="en" sz="1500"/>
              <a:t>More focused on reducing incoming patients in the 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71"/>
        <p:cNvGrpSpPr/>
        <p:nvPr/>
      </p:nvGrpSpPr>
      <p:grpSpPr>
        <a:xfrm>
          <a:off x="0" y="0"/>
          <a:ext cx="0" cy="0"/>
          <a:chOff x="0" y="0"/>
          <a:chExt cx="0" cy="0"/>
        </a:xfrm>
      </p:grpSpPr>
      <p:pic>
        <p:nvPicPr>
          <p:cNvPr id="4" name="Picture 3" descr="A graph of a number of people&#10;&#10;Description automatically generated">
            <a:extLst>
              <a:ext uri="{FF2B5EF4-FFF2-40B4-BE49-F238E27FC236}">
                <a16:creationId xmlns:a16="http://schemas.microsoft.com/office/drawing/2014/main" id="{9226CB69-025C-923C-8A5D-2CD09908952A}"/>
              </a:ext>
            </a:extLst>
          </p:cNvPr>
          <p:cNvPicPr>
            <a:picLocks noChangeAspect="1"/>
          </p:cNvPicPr>
          <p:nvPr/>
        </p:nvPicPr>
        <p:blipFill>
          <a:blip r:embed="rId3"/>
          <a:stretch>
            <a:fillRect/>
          </a:stretch>
        </p:blipFill>
        <p:spPr>
          <a:xfrm>
            <a:off x="4624802" y="1175303"/>
            <a:ext cx="4052267" cy="2527853"/>
          </a:xfrm>
          <a:prstGeom prst="rect">
            <a:avLst/>
          </a:prstGeom>
        </p:spPr>
      </p:pic>
      <p:pic>
        <p:nvPicPr>
          <p:cNvPr id="12" name="Picture 11" descr="A graph of a number of people&#10;&#10;Description automatically generated">
            <a:extLst>
              <a:ext uri="{FF2B5EF4-FFF2-40B4-BE49-F238E27FC236}">
                <a16:creationId xmlns:a16="http://schemas.microsoft.com/office/drawing/2014/main" id="{4852DC9E-3184-2957-9984-107865A1124C}"/>
              </a:ext>
            </a:extLst>
          </p:cNvPr>
          <p:cNvPicPr>
            <a:picLocks noChangeAspect="1"/>
          </p:cNvPicPr>
          <p:nvPr/>
        </p:nvPicPr>
        <p:blipFill>
          <a:blip r:embed="rId4"/>
          <a:stretch>
            <a:fillRect/>
          </a:stretch>
        </p:blipFill>
        <p:spPr>
          <a:xfrm>
            <a:off x="528574" y="1132143"/>
            <a:ext cx="4080531" cy="2618089"/>
          </a:xfrm>
          <a:prstGeom prst="rect">
            <a:avLst/>
          </a:prstGeom>
        </p:spPr>
      </p:pic>
      <p:sp>
        <p:nvSpPr>
          <p:cNvPr id="272" name="Google Shape;272;p32"/>
          <p:cNvSpPr txBox="1">
            <a:spLocks noGrp="1"/>
          </p:cNvSpPr>
          <p:nvPr>
            <p:ph type="title"/>
          </p:nvPr>
        </p:nvSpPr>
        <p:spPr>
          <a:xfrm>
            <a:off x="261550" y="204400"/>
            <a:ext cx="8520600" cy="707400"/>
          </a:xfrm>
          <a:prstGeom prst="rect">
            <a:avLst/>
          </a:prstGeom>
        </p:spPr>
        <p:txBody>
          <a:bodyPr spcFirstLastPara="1" wrap="square" lIns="91425" tIns="91425" rIns="91425" bIns="91425" anchor="t" anchorCtr="0">
            <a:normAutofit/>
          </a:bodyPr>
          <a:lstStyle/>
          <a:p>
            <a:pPr>
              <a:buSzPts val="990"/>
            </a:pPr>
            <a:r>
              <a:rPr lang="en" sz="2400" b="0">
                <a:solidFill>
                  <a:srgbClr val="223E82"/>
                </a:solidFill>
                <a:latin typeface="Arial"/>
                <a:ea typeface="Arial"/>
                <a:cs typeface="Arial"/>
                <a:sym typeface="Arial"/>
              </a:rPr>
              <a:t>Intervention #3 - EDIP LOS</a:t>
            </a:r>
            <a:endParaRPr lang="en-US" sz="2800">
              <a:solidFill>
                <a:srgbClr val="223E82"/>
              </a:solidFill>
            </a:endParaRPr>
          </a:p>
        </p:txBody>
      </p:sp>
      <p:sp>
        <p:nvSpPr>
          <p:cNvPr id="3" name="TextBox 2">
            <a:extLst>
              <a:ext uri="{FF2B5EF4-FFF2-40B4-BE49-F238E27FC236}">
                <a16:creationId xmlns:a16="http://schemas.microsoft.com/office/drawing/2014/main" id="{6CE1B016-F3B6-0FC2-89EC-CD77A554EDFF}"/>
              </a:ext>
            </a:extLst>
          </p:cNvPr>
          <p:cNvSpPr txBox="1"/>
          <p:nvPr/>
        </p:nvSpPr>
        <p:spPr>
          <a:xfrm>
            <a:off x="972379" y="3701498"/>
            <a:ext cx="779558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695D46"/>
                </a:solidFill>
                <a:latin typeface="Open Sans"/>
              </a:rPr>
              <a:t>Original Simulation                                             </a:t>
            </a:r>
            <a:r>
              <a:rPr lang="en-US" sz="1800" dirty="0">
                <a:solidFill>
                  <a:srgbClr val="695D46"/>
                </a:solidFill>
                <a:latin typeface="Open Sans"/>
                <a:ea typeface="Open Sans"/>
                <a:cs typeface="Open Sans"/>
              </a:rPr>
              <a:t>Intervention #3   </a:t>
            </a:r>
            <a:endParaRPr lang="en-US" dirty="0"/>
          </a:p>
          <a:p>
            <a:endParaRPr lang="en-US" sz="1600" b="1">
              <a:solidFill>
                <a:srgbClr val="695D46"/>
              </a:solidFill>
            </a:endParaRPr>
          </a:p>
        </p:txBody>
      </p:sp>
      <p:sp>
        <p:nvSpPr>
          <p:cNvPr id="6" name="TextBox 5">
            <a:extLst>
              <a:ext uri="{FF2B5EF4-FFF2-40B4-BE49-F238E27FC236}">
                <a16:creationId xmlns:a16="http://schemas.microsoft.com/office/drawing/2014/main" id="{ECA5DE3F-B7D4-DB00-9BB8-CAAE6BB4EA06}"/>
              </a:ext>
            </a:extLst>
          </p:cNvPr>
          <p:cNvSpPr txBox="1"/>
          <p:nvPr/>
        </p:nvSpPr>
        <p:spPr>
          <a:xfrm>
            <a:off x="527896" y="4171419"/>
            <a:ext cx="856020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Char char="•"/>
            </a:pPr>
            <a:r>
              <a:rPr lang="en-US" sz="1200">
                <a:solidFill>
                  <a:srgbClr val="695D46"/>
                </a:solidFill>
              </a:rPr>
              <a:t>Limits stays to less than 3000, although not as effective as the other interventions</a:t>
            </a:r>
            <a:endParaRPr lang="en-US" sz="1200">
              <a:solidFill>
                <a:srgbClr val="A1E8D9"/>
              </a:solidFill>
            </a:endParaRPr>
          </a:p>
          <a:p>
            <a:pPr marL="171450" indent="-171450">
              <a:buChar char="•"/>
            </a:pPr>
            <a:r>
              <a:rPr lang="en-US" sz="1200">
                <a:solidFill>
                  <a:srgbClr val="695D46"/>
                </a:solidFill>
              </a:rPr>
              <a:t>More patients with stays under </a:t>
            </a:r>
            <a:r>
              <a:rPr lang="en-US" sz="1200" b="1">
                <a:solidFill>
                  <a:srgbClr val="695D46"/>
                </a:solidFill>
              </a:rPr>
              <a:t>0.5 days, </a:t>
            </a:r>
            <a:r>
              <a:rPr lang="en-US" sz="1200">
                <a:solidFill>
                  <a:srgbClr val="695D46"/>
                </a:solidFill>
              </a:rPr>
              <a:t>quicker turnover compared to the original simulation.</a:t>
            </a:r>
          </a:p>
          <a:p>
            <a:endParaRPr lang="en-US" sz="1200">
              <a:solidFill>
                <a:srgbClr val="695D46"/>
              </a:solidFill>
            </a:endParaRPr>
          </a:p>
          <a:p>
            <a:pPr marL="285750" indent="-285750">
              <a:buChar char="•"/>
            </a:pPr>
            <a:endParaRPr lang="en-US" sz="1200">
              <a:solidFill>
                <a:srgbClr val="695D46"/>
              </a:solidFill>
            </a:endParaRPr>
          </a:p>
        </p:txBody>
      </p:sp>
      <p:sp>
        <p:nvSpPr>
          <p:cNvPr id="9" name="Google Shape;293;p34">
            <a:extLst>
              <a:ext uri="{FF2B5EF4-FFF2-40B4-BE49-F238E27FC236}">
                <a16:creationId xmlns:a16="http://schemas.microsoft.com/office/drawing/2014/main" id="{9F592983-4B89-3BB8-C77A-998027F47DE1}"/>
              </a:ext>
            </a:extLst>
          </p:cNvPr>
          <p:cNvSpPr/>
          <p:nvPr/>
        </p:nvSpPr>
        <p:spPr>
          <a:xfrm>
            <a:off x="7839686" y="2843168"/>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 name="Google Shape;293;p34">
            <a:extLst>
              <a:ext uri="{FF2B5EF4-FFF2-40B4-BE49-F238E27FC236}">
                <a16:creationId xmlns:a16="http://schemas.microsoft.com/office/drawing/2014/main" id="{C4F42D79-95ED-B275-B102-9619F4215158}"/>
              </a:ext>
            </a:extLst>
          </p:cNvPr>
          <p:cNvSpPr/>
          <p:nvPr/>
        </p:nvSpPr>
        <p:spPr>
          <a:xfrm>
            <a:off x="3669279" y="2935844"/>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extLst>
      <p:ext uri="{BB962C8B-B14F-4D97-AF65-F5344CB8AC3E}">
        <p14:creationId xmlns:p14="http://schemas.microsoft.com/office/powerpoint/2010/main" val="1171842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271"/>
        <p:cNvGrpSpPr/>
        <p:nvPr/>
      </p:nvGrpSpPr>
      <p:grpSpPr>
        <a:xfrm>
          <a:off x="0" y="0"/>
          <a:ext cx="0" cy="0"/>
          <a:chOff x="0" y="0"/>
          <a:chExt cx="0" cy="0"/>
        </a:xfrm>
      </p:grpSpPr>
      <p:pic>
        <p:nvPicPr>
          <p:cNvPr id="4" name="Picture 3" descr="A graph of blue bars&#10;&#10;Description automatically generated">
            <a:extLst>
              <a:ext uri="{FF2B5EF4-FFF2-40B4-BE49-F238E27FC236}">
                <a16:creationId xmlns:a16="http://schemas.microsoft.com/office/drawing/2014/main" id="{8F485FA4-93D2-D804-C34A-B2014F017213}"/>
              </a:ext>
            </a:extLst>
          </p:cNvPr>
          <p:cNvPicPr>
            <a:picLocks noChangeAspect="1"/>
          </p:cNvPicPr>
          <p:nvPr/>
        </p:nvPicPr>
        <p:blipFill>
          <a:blip r:embed="rId3"/>
          <a:stretch>
            <a:fillRect/>
          </a:stretch>
        </p:blipFill>
        <p:spPr>
          <a:xfrm>
            <a:off x="659020" y="1167849"/>
            <a:ext cx="3726071" cy="2526196"/>
          </a:xfrm>
          <a:prstGeom prst="rect">
            <a:avLst/>
          </a:prstGeom>
        </p:spPr>
      </p:pic>
      <p:sp>
        <p:nvSpPr>
          <p:cNvPr id="272" name="Google Shape;272;p32"/>
          <p:cNvSpPr txBox="1">
            <a:spLocks noGrp="1"/>
          </p:cNvSpPr>
          <p:nvPr>
            <p:ph type="title"/>
          </p:nvPr>
        </p:nvSpPr>
        <p:spPr>
          <a:xfrm>
            <a:off x="261550" y="204400"/>
            <a:ext cx="8520600" cy="707400"/>
          </a:xfrm>
          <a:prstGeom prst="rect">
            <a:avLst/>
          </a:prstGeom>
        </p:spPr>
        <p:txBody>
          <a:bodyPr spcFirstLastPara="1" wrap="square" lIns="91425" tIns="91425" rIns="91425" bIns="91425" anchor="t" anchorCtr="0">
            <a:normAutofit/>
          </a:bodyPr>
          <a:lstStyle/>
          <a:p>
            <a:pPr>
              <a:buSzPts val="990"/>
            </a:pPr>
            <a:r>
              <a:rPr lang="en" sz="2400" b="0">
                <a:solidFill>
                  <a:srgbClr val="223E82"/>
                </a:solidFill>
                <a:latin typeface="Arial"/>
                <a:ea typeface="Arial"/>
                <a:cs typeface="Arial"/>
                <a:sym typeface="Arial"/>
              </a:rPr>
              <a:t>Intervention #3 - EDIP Average Volumes</a:t>
            </a:r>
            <a:endParaRPr lang="en-US" sz="2800">
              <a:solidFill>
                <a:srgbClr val="223E82"/>
              </a:solidFill>
            </a:endParaRPr>
          </a:p>
        </p:txBody>
      </p:sp>
      <p:sp>
        <p:nvSpPr>
          <p:cNvPr id="3" name="TextBox 2">
            <a:extLst>
              <a:ext uri="{FF2B5EF4-FFF2-40B4-BE49-F238E27FC236}">
                <a16:creationId xmlns:a16="http://schemas.microsoft.com/office/drawing/2014/main" id="{6CE1B016-F3B6-0FC2-89EC-CD77A554EDFF}"/>
              </a:ext>
            </a:extLst>
          </p:cNvPr>
          <p:cNvSpPr txBox="1"/>
          <p:nvPr/>
        </p:nvSpPr>
        <p:spPr>
          <a:xfrm>
            <a:off x="972379" y="3701498"/>
            <a:ext cx="779558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rgbClr val="695D46"/>
                </a:solidFill>
                <a:latin typeface="Open Sans"/>
                <a:ea typeface="Open Sans"/>
                <a:cs typeface="Open Sans"/>
              </a:rPr>
              <a:t>Original Simulation                                           Intervention #3   </a:t>
            </a:r>
            <a:endParaRPr lang="en-US" dirty="0"/>
          </a:p>
          <a:p>
            <a:endParaRPr lang="en-US" sz="1600" b="1">
              <a:solidFill>
                <a:srgbClr val="695D46"/>
              </a:solidFill>
            </a:endParaRPr>
          </a:p>
        </p:txBody>
      </p:sp>
      <p:sp>
        <p:nvSpPr>
          <p:cNvPr id="6" name="TextBox 5">
            <a:extLst>
              <a:ext uri="{FF2B5EF4-FFF2-40B4-BE49-F238E27FC236}">
                <a16:creationId xmlns:a16="http://schemas.microsoft.com/office/drawing/2014/main" id="{BE2CC91E-DD68-07F1-EEB5-5C020F47C962}"/>
              </a:ext>
            </a:extLst>
          </p:cNvPr>
          <p:cNvSpPr txBox="1"/>
          <p:nvPr/>
        </p:nvSpPr>
        <p:spPr>
          <a:xfrm>
            <a:off x="828073" y="4461244"/>
            <a:ext cx="795980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b="1"/>
              <a:t>Lower Volumes</a:t>
            </a:r>
            <a:r>
              <a:rPr lang="en-US"/>
              <a:t>: Intervention has reduced EDIP volumes to around </a:t>
            </a:r>
            <a:r>
              <a:rPr lang="en-US" b="1"/>
              <a:t>17-22</a:t>
            </a:r>
            <a:r>
              <a:rPr lang="en-US"/>
              <a:t>, compared to the original, which has volumes ranging from </a:t>
            </a:r>
            <a:r>
              <a:rPr lang="en-US" b="1"/>
              <a:t>20-30</a:t>
            </a:r>
            <a:r>
              <a:rPr lang="en-US"/>
              <a:t>.</a:t>
            </a:r>
          </a:p>
          <a:p>
            <a:pPr marL="285750" indent="-285750">
              <a:buChar char="•"/>
            </a:pPr>
            <a:endParaRPr lang="en-US"/>
          </a:p>
          <a:p>
            <a:pPr algn="l"/>
            <a:endParaRPr lang="en-US"/>
          </a:p>
        </p:txBody>
      </p:sp>
      <p:pic>
        <p:nvPicPr>
          <p:cNvPr id="5" name="Picture 4" descr="A graph of blue bars&#10;&#10;Description automatically generated">
            <a:extLst>
              <a:ext uri="{FF2B5EF4-FFF2-40B4-BE49-F238E27FC236}">
                <a16:creationId xmlns:a16="http://schemas.microsoft.com/office/drawing/2014/main" id="{093CD700-71F6-55AB-F5EE-BA39D6C4FBD0}"/>
              </a:ext>
            </a:extLst>
          </p:cNvPr>
          <p:cNvPicPr>
            <a:picLocks noChangeAspect="1"/>
          </p:cNvPicPr>
          <p:nvPr/>
        </p:nvPicPr>
        <p:blipFill>
          <a:blip r:embed="rId4"/>
          <a:stretch>
            <a:fillRect/>
          </a:stretch>
        </p:blipFill>
        <p:spPr>
          <a:xfrm>
            <a:off x="4568274" y="1163500"/>
            <a:ext cx="3900282" cy="2526611"/>
          </a:xfrm>
          <a:prstGeom prst="rect">
            <a:avLst/>
          </a:prstGeom>
        </p:spPr>
      </p:pic>
      <p:sp>
        <p:nvSpPr>
          <p:cNvPr id="7" name="Google Shape;293;p34">
            <a:extLst>
              <a:ext uri="{FF2B5EF4-FFF2-40B4-BE49-F238E27FC236}">
                <a16:creationId xmlns:a16="http://schemas.microsoft.com/office/drawing/2014/main" id="{50DDC5D7-9CB2-E507-700D-9E50FBFDB604}"/>
              </a:ext>
            </a:extLst>
          </p:cNvPr>
          <p:cNvSpPr/>
          <p:nvPr/>
        </p:nvSpPr>
        <p:spPr>
          <a:xfrm>
            <a:off x="405931" y="1163366"/>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 name="Google Shape;293;p34">
            <a:extLst>
              <a:ext uri="{FF2B5EF4-FFF2-40B4-BE49-F238E27FC236}">
                <a16:creationId xmlns:a16="http://schemas.microsoft.com/office/drawing/2014/main" id="{71D0B833-0D4D-3636-388C-76500EEA9668}"/>
              </a:ext>
            </a:extLst>
          </p:cNvPr>
          <p:cNvSpPr/>
          <p:nvPr/>
        </p:nvSpPr>
        <p:spPr>
          <a:xfrm>
            <a:off x="4522388" y="1163366"/>
            <a:ext cx="844892" cy="760279"/>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extLst>
      <p:ext uri="{BB962C8B-B14F-4D97-AF65-F5344CB8AC3E}">
        <p14:creationId xmlns:p14="http://schemas.microsoft.com/office/powerpoint/2010/main" val="3299385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C99E8-DD44-628A-D1AF-3F1D0D55959B}"/>
              </a:ext>
            </a:extLst>
          </p:cNvPr>
          <p:cNvSpPr>
            <a:spLocks noGrp="1"/>
          </p:cNvSpPr>
          <p:nvPr>
            <p:ph type="title"/>
          </p:nvPr>
        </p:nvSpPr>
        <p:spPr/>
        <p:txBody>
          <a:bodyPr>
            <a:normAutofit/>
          </a:bodyPr>
          <a:lstStyle/>
          <a:p>
            <a:r>
              <a:rPr lang="en-US" sz="3200" b="0">
                <a:solidFill>
                  <a:srgbClr val="223E82"/>
                </a:solidFill>
                <a:latin typeface="Arial"/>
                <a:cs typeface="Arial"/>
              </a:rPr>
              <a:t>Assumptions</a:t>
            </a:r>
          </a:p>
        </p:txBody>
      </p:sp>
      <p:sp>
        <p:nvSpPr>
          <p:cNvPr id="3" name="Text Placeholder 2">
            <a:extLst>
              <a:ext uri="{FF2B5EF4-FFF2-40B4-BE49-F238E27FC236}">
                <a16:creationId xmlns:a16="http://schemas.microsoft.com/office/drawing/2014/main" id="{F69B5B02-89E1-309F-AEFE-834B4DD3A516}"/>
              </a:ext>
            </a:extLst>
          </p:cNvPr>
          <p:cNvSpPr>
            <a:spLocks noGrp="1"/>
          </p:cNvSpPr>
          <p:nvPr>
            <p:ph type="body" idx="1"/>
          </p:nvPr>
        </p:nvSpPr>
        <p:spPr/>
        <p:txBody>
          <a:bodyPr>
            <a:normAutofit fontScale="92500" lnSpcReduction="10000"/>
          </a:bodyPr>
          <a:lstStyle/>
          <a:p>
            <a:pPr>
              <a:lnSpc>
                <a:spcPct val="114999"/>
              </a:lnSpc>
              <a:buClr>
                <a:srgbClr val="695D46"/>
              </a:buClr>
              <a:buSzPts val="2900"/>
              <a:buFont typeface="Open Sans"/>
              <a:buChar char="●"/>
            </a:pPr>
            <a:r>
              <a:rPr lang="en-US" b="1" dirty="0">
                <a:solidFill>
                  <a:srgbClr val="000000"/>
                </a:solidFill>
              </a:rPr>
              <a:t>Patient Bed Assignment:</a:t>
            </a:r>
            <a:r>
              <a:rPr lang="en-US" dirty="0">
                <a:solidFill>
                  <a:srgbClr val="000000"/>
                </a:solidFill>
              </a:rPr>
              <a:t> Patients are assigned to either an EDIP or hospital bed based on the longest expected treatment time.</a:t>
            </a:r>
            <a:endParaRPr lang="en-US" dirty="0">
              <a:solidFill>
                <a:srgbClr val="000000"/>
              </a:solidFill>
              <a:latin typeface="Calibri"/>
              <a:ea typeface="Calibri"/>
              <a:cs typeface="Calibri"/>
            </a:endParaRPr>
          </a:p>
          <a:p>
            <a:pPr>
              <a:lnSpc>
                <a:spcPct val="114999"/>
              </a:lnSpc>
              <a:buClr>
                <a:srgbClr val="695D46"/>
              </a:buClr>
              <a:buSzPts val="2900"/>
              <a:buFont typeface="Open Sans"/>
              <a:buChar char="●"/>
            </a:pPr>
            <a:r>
              <a:rPr lang="en-US" b="1" dirty="0">
                <a:solidFill>
                  <a:srgbClr val="000000"/>
                </a:solidFill>
              </a:rPr>
              <a:t>Surge Tent Patients:</a:t>
            </a:r>
            <a:r>
              <a:rPr lang="en-US" dirty="0">
                <a:solidFill>
                  <a:srgbClr val="000000"/>
                </a:solidFill>
              </a:rPr>
              <a:t> Surge Tent patients are managed and treated similarly to regular ED patients.</a:t>
            </a:r>
          </a:p>
          <a:p>
            <a:pPr>
              <a:lnSpc>
                <a:spcPct val="114999"/>
              </a:lnSpc>
              <a:buClr>
                <a:srgbClr val="695D46"/>
              </a:buClr>
              <a:buSzPts val="2900"/>
            </a:pPr>
            <a:r>
              <a:rPr lang="en-US" b="1" dirty="0">
                <a:solidFill>
                  <a:srgbClr val="000000"/>
                </a:solidFill>
              </a:rPr>
              <a:t>Sequential Opening of EDIP Areas:</a:t>
            </a:r>
            <a:r>
              <a:rPr lang="en-US" dirty="0">
                <a:solidFill>
                  <a:srgbClr val="000000"/>
                </a:solidFill>
              </a:rPr>
              <a:t> EDIP areas are currently opened in a sequential manner.</a:t>
            </a:r>
            <a:endParaRPr lang="en-US" dirty="0"/>
          </a:p>
          <a:p>
            <a:pPr>
              <a:lnSpc>
                <a:spcPct val="114999"/>
              </a:lnSpc>
              <a:buClr>
                <a:srgbClr val="695D46"/>
              </a:buClr>
              <a:buSzPts val="2900"/>
              <a:buFont typeface="Open Sans"/>
              <a:buChar char="●"/>
            </a:pPr>
            <a:r>
              <a:rPr lang="en-US" b="1" dirty="0">
                <a:solidFill>
                  <a:srgbClr val="000000"/>
                </a:solidFill>
              </a:rPr>
              <a:t>Hospital Bed Capacity Estimation:</a:t>
            </a:r>
            <a:r>
              <a:rPr lang="en-US" dirty="0">
                <a:solidFill>
                  <a:srgbClr val="000000"/>
                </a:solidFill>
              </a:rPr>
              <a:t> The capacity for hospital beds dedicated to ED patients is estimated using metrics such as Length of Stay (LOS), average daily admissions, and EDIP volumes during the corresponding period.</a:t>
            </a:r>
            <a:endParaRPr lang="en-US" dirty="0"/>
          </a:p>
          <a:p>
            <a:pPr>
              <a:lnSpc>
                <a:spcPct val="114999"/>
              </a:lnSpc>
              <a:buClr>
                <a:srgbClr val="695D46"/>
              </a:buClr>
              <a:buSzPts val="2900"/>
              <a:buFont typeface="Open Sans"/>
              <a:buChar char="●"/>
            </a:pPr>
            <a:r>
              <a:rPr lang="en-US" b="1" dirty="0">
                <a:solidFill>
                  <a:srgbClr val="000000"/>
                </a:solidFill>
              </a:rPr>
              <a:t>Hospital Bed Allocation for ED Patients:</a:t>
            </a:r>
            <a:r>
              <a:rPr lang="en-US" dirty="0">
                <a:solidFill>
                  <a:srgbClr val="000000"/>
                </a:solidFill>
              </a:rPr>
              <a:t> ED patients receive hospital beds when previously admitted ED patients are discharged, freeing up capacity.</a:t>
            </a:r>
            <a:endParaRPr lang="en-US" dirty="0"/>
          </a:p>
          <a:p>
            <a:pPr indent="-412750">
              <a:lnSpc>
                <a:spcPct val="100000"/>
              </a:lnSpc>
              <a:buClr>
                <a:srgbClr val="000000"/>
              </a:buClr>
              <a:buSzPts val="2900"/>
              <a:buFont typeface="Calibri"/>
              <a:buChar char="●"/>
            </a:pPr>
            <a:endParaRPr lang="en-US" sz="2000" dirty="0">
              <a:solidFill>
                <a:srgbClr val="000000"/>
              </a:solidFill>
              <a:latin typeface="Calibri"/>
              <a:ea typeface="Calibri"/>
              <a:cs typeface="Calibri"/>
            </a:endParaRPr>
          </a:p>
          <a:p>
            <a:pPr marL="114300" indent="0">
              <a:lnSpc>
                <a:spcPct val="114999"/>
              </a:lnSpc>
              <a:buNone/>
            </a:pPr>
            <a:endParaRPr lang="en-US" dirty="0"/>
          </a:p>
        </p:txBody>
      </p:sp>
    </p:spTree>
    <p:extLst>
      <p:ext uri="{BB962C8B-B14F-4D97-AF65-F5344CB8AC3E}">
        <p14:creationId xmlns:p14="http://schemas.microsoft.com/office/powerpoint/2010/main" val="4092718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170"/>
        <p:cNvGrpSpPr/>
        <p:nvPr/>
      </p:nvGrpSpPr>
      <p:grpSpPr>
        <a:xfrm>
          <a:off x="0" y="0"/>
          <a:ext cx="0" cy="0"/>
          <a:chOff x="0" y="0"/>
          <a:chExt cx="0" cy="0"/>
        </a:xfrm>
      </p:grpSpPr>
      <p:sp>
        <p:nvSpPr>
          <p:cNvPr id="171" name="Google Shape;171;p20"/>
          <p:cNvSpPr txBox="1">
            <a:spLocks noGrp="1"/>
          </p:cNvSpPr>
          <p:nvPr>
            <p:ph type="title"/>
          </p:nvPr>
        </p:nvSpPr>
        <p:spPr>
          <a:xfrm>
            <a:off x="311700" y="445025"/>
            <a:ext cx="8304357" cy="460265"/>
          </a:xfrm>
          <a:prstGeom prst="rect">
            <a:avLst/>
          </a:prstGeom>
        </p:spPr>
        <p:txBody>
          <a:bodyPr spcFirstLastPara="1" wrap="square" lIns="91425" tIns="91425" rIns="91425" bIns="91425" anchor="t" anchorCtr="0">
            <a:noAutofit/>
          </a:bodyPr>
          <a:lstStyle/>
          <a:p>
            <a:pPr>
              <a:buClr>
                <a:srgbClr val="000000"/>
              </a:buClr>
              <a:buSzPct val="100000"/>
              <a:buFont typeface="Arial"/>
            </a:pPr>
            <a:r>
              <a:rPr lang="en" sz="2400" b="0" dirty="0">
                <a:solidFill>
                  <a:srgbClr val="223E82"/>
                </a:solidFill>
                <a:latin typeface="Arial"/>
                <a:ea typeface="Arial"/>
                <a:cs typeface="Arial"/>
                <a:sym typeface="Arial"/>
              </a:rPr>
              <a:t>Soluti</a:t>
            </a:r>
            <a:r>
              <a:rPr lang="en" sz="2400" b="0" dirty="0">
                <a:solidFill>
                  <a:srgbClr val="223E82"/>
                </a:solidFill>
                <a:latin typeface="Arial"/>
                <a:cs typeface="Arial"/>
                <a:sym typeface="Arial"/>
              </a:rPr>
              <a:t>on – </a:t>
            </a:r>
            <a:r>
              <a:rPr lang="en-US" sz="2400" b="0" dirty="0">
                <a:solidFill>
                  <a:srgbClr val="223E82"/>
                </a:solidFill>
                <a:latin typeface="Arial"/>
                <a:cs typeface="Arial"/>
                <a:sym typeface="Arial"/>
              </a:rPr>
              <a:t>Code Flow</a:t>
            </a:r>
            <a:endParaRPr lang="en-US" sz="2400" b="0" dirty="0">
              <a:solidFill>
                <a:srgbClr val="223E82"/>
              </a:solidFill>
              <a:latin typeface="Arial"/>
              <a:cs typeface="Arial"/>
            </a:endParaRPr>
          </a:p>
          <a:p>
            <a:pPr marL="44450">
              <a:buClr>
                <a:srgbClr val="EF6C00"/>
              </a:buClr>
            </a:pPr>
            <a:endParaRPr lang="en" sz="1400" b="0" dirty="0">
              <a:solidFill>
                <a:srgbClr val="000000"/>
              </a:solidFill>
              <a:latin typeface="Calibri"/>
              <a:ea typeface="Calibri"/>
              <a:cs typeface="Calibri"/>
            </a:endParaRPr>
          </a:p>
          <a:p>
            <a:pPr marL="44450">
              <a:buFont typeface="Arial"/>
            </a:pPr>
            <a:endParaRPr lang="en" sz="2900" b="0" dirty="0">
              <a:solidFill>
                <a:srgbClr val="A1E8D9"/>
              </a:solidFill>
              <a:latin typeface="Calibri"/>
              <a:ea typeface="Calibri"/>
              <a:cs typeface="Calibri"/>
            </a:endParaRPr>
          </a:p>
          <a:p>
            <a:pPr>
              <a:lnSpc>
                <a:spcPct val="114999"/>
              </a:lnSpc>
              <a:spcAft>
                <a:spcPts val="1200"/>
              </a:spcAft>
              <a:buFont typeface="Arial"/>
            </a:pPr>
            <a:endParaRPr lang="en-US" sz="1800" b="0" dirty="0">
              <a:solidFill>
                <a:srgbClr val="A1E8D9"/>
              </a:solidFill>
              <a:latin typeface="Open Sans"/>
              <a:ea typeface="Open Sans"/>
              <a:cs typeface="Open Sans"/>
            </a:endParaRPr>
          </a:p>
          <a:p>
            <a:pPr>
              <a:buFont typeface="Arial"/>
            </a:pPr>
            <a:endParaRPr lang="en" sz="2400" b="0" dirty="0">
              <a:solidFill>
                <a:srgbClr val="223E82"/>
              </a:solidFill>
              <a:latin typeface="Arial"/>
              <a:ea typeface="Calibri"/>
              <a:cs typeface="Arial"/>
            </a:endParaRPr>
          </a:p>
          <a:p>
            <a:pPr>
              <a:buClr>
                <a:srgbClr val="000000"/>
              </a:buClr>
              <a:buSzPct val="100000"/>
            </a:pPr>
            <a:endParaRPr lang="en-US" sz="1400" b="0" dirty="0">
              <a:solidFill>
                <a:srgbClr val="A1E8D9"/>
              </a:solidFill>
              <a:latin typeface="Calibri"/>
              <a:ea typeface="Calibri"/>
              <a:cs typeface="Calibri"/>
            </a:endParaRPr>
          </a:p>
        </p:txBody>
      </p:sp>
      <p:pic>
        <p:nvPicPr>
          <p:cNvPr id="2" name="Picture 1" descr="A diagram of a computer&#10;&#10;Description automatically generated">
            <a:extLst>
              <a:ext uri="{FF2B5EF4-FFF2-40B4-BE49-F238E27FC236}">
                <a16:creationId xmlns:a16="http://schemas.microsoft.com/office/drawing/2014/main" id="{5AC0162A-4991-AC67-AFA4-131E6B7199F0}"/>
              </a:ext>
            </a:extLst>
          </p:cNvPr>
          <p:cNvPicPr>
            <a:picLocks noChangeAspect="1"/>
          </p:cNvPicPr>
          <p:nvPr/>
        </p:nvPicPr>
        <p:blipFill>
          <a:blip r:embed="rId3"/>
          <a:stretch>
            <a:fillRect/>
          </a:stretch>
        </p:blipFill>
        <p:spPr>
          <a:xfrm>
            <a:off x="1644993" y="1149972"/>
            <a:ext cx="6989291" cy="373169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388"/>
        <p:cNvGrpSpPr/>
        <p:nvPr/>
      </p:nvGrpSpPr>
      <p:grpSpPr>
        <a:xfrm>
          <a:off x="0" y="0"/>
          <a:ext cx="0" cy="0"/>
          <a:chOff x="0" y="0"/>
          <a:chExt cx="0" cy="0"/>
        </a:xfrm>
      </p:grpSpPr>
      <p:sp>
        <p:nvSpPr>
          <p:cNvPr id="389" name="Google Shape;389;p4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0">
                <a:solidFill>
                  <a:srgbClr val="223E82"/>
                </a:solidFill>
                <a:latin typeface="Arial"/>
                <a:ea typeface="Arial"/>
                <a:cs typeface="Arial"/>
                <a:sym typeface="Arial"/>
              </a:rPr>
              <a:t>Useful Terminology Overview</a:t>
            </a:r>
            <a:endParaRPr sz="2400" b="0">
              <a:solidFill>
                <a:srgbClr val="757070"/>
              </a:solidFill>
              <a:latin typeface="Calibri"/>
              <a:ea typeface="Calibri"/>
              <a:cs typeface="Calibri"/>
              <a:sym typeface="Calibri"/>
            </a:endParaRPr>
          </a:p>
          <a:p>
            <a:pPr marL="0" lvl="0" indent="0" algn="l" rtl="0">
              <a:spcBef>
                <a:spcPts val="0"/>
              </a:spcBef>
              <a:spcAft>
                <a:spcPts val="0"/>
              </a:spcAft>
              <a:buClr>
                <a:srgbClr val="000000"/>
              </a:buClr>
              <a:buSzPct val="100000"/>
              <a:buFont typeface="Arial"/>
              <a:buNone/>
            </a:pPr>
            <a:endParaRPr b="0">
              <a:solidFill>
                <a:srgbClr val="223E82"/>
              </a:solidFill>
              <a:latin typeface="Arial"/>
              <a:ea typeface="Arial"/>
              <a:cs typeface="Arial"/>
              <a:sym typeface="Arial"/>
            </a:endParaRPr>
          </a:p>
        </p:txBody>
      </p:sp>
      <p:sp>
        <p:nvSpPr>
          <p:cNvPr id="390" name="Google Shape;390;p44"/>
          <p:cNvSpPr txBox="1"/>
          <p:nvPr/>
        </p:nvSpPr>
        <p:spPr>
          <a:xfrm>
            <a:off x="451175" y="1493925"/>
            <a:ext cx="8121300" cy="3479100"/>
          </a:xfrm>
          <a:prstGeom prst="rect">
            <a:avLst/>
          </a:prstGeom>
          <a:noFill/>
          <a:ln>
            <a:noFill/>
          </a:ln>
        </p:spPr>
        <p:txBody>
          <a:bodyPr spcFirstLastPara="1" wrap="square" lIns="91425" tIns="91425" rIns="91425" bIns="91425" anchor="t" anchorCtr="0">
            <a:noAutofit/>
          </a:bodyPr>
          <a:lstStyle/>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ESI</a:t>
            </a:r>
            <a:r>
              <a:rPr lang="en" sz="1500">
                <a:latin typeface="Calibri"/>
                <a:ea typeface="Calibri"/>
                <a:cs typeface="Calibri"/>
                <a:sym typeface="Calibri"/>
              </a:rPr>
              <a:t>: Emergency Severity Index, a measure of the urgency of the case.</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Disposition</a:t>
            </a:r>
            <a:r>
              <a:rPr lang="en" sz="1500">
                <a:latin typeface="Calibri"/>
                <a:ea typeface="Calibri"/>
                <a:cs typeface="Calibri"/>
                <a:sym typeface="Calibri"/>
              </a:rPr>
              <a:t>: Outcome of the visit (e.g., Admit, Discharge, Expired).</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Triage Duration Mins</a:t>
            </a:r>
            <a:r>
              <a:rPr lang="en" sz="1500">
                <a:latin typeface="Calibri"/>
                <a:ea typeface="Calibri"/>
                <a:cs typeface="Calibri"/>
                <a:sym typeface="Calibri"/>
              </a:rPr>
              <a:t>: Duration of triage.</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Triage2Room Mins</a:t>
            </a:r>
            <a:r>
              <a:rPr lang="en" sz="1500">
                <a:latin typeface="Calibri"/>
                <a:ea typeface="Calibri"/>
                <a:cs typeface="Calibri"/>
                <a:sym typeface="Calibri"/>
              </a:rPr>
              <a:t>: Time from triage to being taken to a room.</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Triage2Dispo Mins</a:t>
            </a:r>
            <a:r>
              <a:rPr lang="en" sz="1500">
                <a:latin typeface="Calibri"/>
                <a:ea typeface="Calibri"/>
                <a:cs typeface="Calibri"/>
                <a:sym typeface="Calibri"/>
              </a:rPr>
              <a:t>: Time from triage to disposition.</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EDArrDOW and EDArrHOD</a:t>
            </a:r>
            <a:r>
              <a:rPr lang="en" sz="1500">
                <a:latin typeface="Calibri"/>
                <a:ea typeface="Calibri"/>
                <a:cs typeface="Calibri"/>
                <a:sym typeface="Calibri"/>
              </a:rPr>
              <a:t>: Day of week and hour of day for arrival.</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DispoDOW and DispoHOD</a:t>
            </a:r>
            <a:r>
              <a:rPr lang="en" sz="1500">
                <a:latin typeface="Calibri"/>
                <a:ea typeface="Calibri"/>
                <a:cs typeface="Calibri"/>
                <a:sym typeface="Calibri"/>
              </a:rPr>
              <a:t>: Day of week and hour of day for disposition.</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Dispo2Departure Mins</a:t>
            </a:r>
            <a:r>
              <a:rPr lang="en" sz="1500">
                <a:latin typeface="Calibri"/>
                <a:ea typeface="Calibri"/>
                <a:cs typeface="Calibri"/>
                <a:sym typeface="Calibri"/>
              </a:rPr>
              <a:t>: Time from disposition to departure.</a:t>
            </a:r>
            <a:endParaRPr sz="1500">
              <a:latin typeface="Calibri"/>
              <a:ea typeface="Calibri"/>
              <a:cs typeface="Calibri"/>
              <a:sym typeface="Calibri"/>
            </a:endParaRPr>
          </a:p>
          <a:p>
            <a:pPr marL="457200" lvl="0" indent="-323850" algn="l" rtl="0">
              <a:lnSpc>
                <a:spcPct val="90000"/>
              </a:lnSpc>
              <a:spcBef>
                <a:spcPts val="1000"/>
              </a:spcBef>
              <a:spcAft>
                <a:spcPts val="0"/>
              </a:spcAft>
              <a:buSzPts val="1500"/>
              <a:buFont typeface="Calibri"/>
              <a:buChar char="•"/>
            </a:pPr>
            <a:r>
              <a:rPr lang="en" sz="1500" u="sng">
                <a:latin typeface="Calibri"/>
                <a:ea typeface="Calibri"/>
                <a:cs typeface="Calibri"/>
                <a:sym typeface="Calibri"/>
              </a:rPr>
              <a:t>Departure2DC Hours</a:t>
            </a:r>
            <a:r>
              <a:rPr lang="en" sz="1500">
                <a:latin typeface="Calibri"/>
                <a:ea typeface="Calibri"/>
                <a:cs typeface="Calibri"/>
                <a:sym typeface="Calibri"/>
              </a:rPr>
              <a:t>: Time from departure to discharge completion.</a:t>
            </a:r>
            <a:endParaRPr sz="1500">
              <a:latin typeface="Calibri"/>
              <a:ea typeface="Calibri"/>
              <a:cs typeface="Calibri"/>
              <a:sym typeface="Calibri"/>
            </a:endParaRPr>
          </a:p>
          <a:p>
            <a:pPr marL="457200" lvl="0" indent="0" algn="l" rtl="0">
              <a:lnSpc>
                <a:spcPct val="90000"/>
              </a:lnSpc>
              <a:spcBef>
                <a:spcPts val="1000"/>
              </a:spcBef>
              <a:spcAft>
                <a:spcPts val="0"/>
              </a:spcAft>
              <a:buClr>
                <a:srgbClr val="000000"/>
              </a:buClr>
              <a:buSzPts val="2400"/>
              <a:buFont typeface="Arial"/>
              <a:buNone/>
            </a:pPr>
            <a:endParaRPr sz="1500">
              <a:solidFill>
                <a:srgbClr val="757070"/>
              </a:solidFill>
              <a:latin typeface="Calibri"/>
              <a:ea typeface="Calibri"/>
              <a:cs typeface="Calibri"/>
              <a:sym typeface="Calibri"/>
            </a:endParaRPr>
          </a:p>
          <a:p>
            <a:pPr marL="0" lvl="0" indent="0" algn="l" rtl="0">
              <a:spcBef>
                <a:spcPts val="0"/>
              </a:spcBef>
              <a:spcAft>
                <a:spcPts val="0"/>
              </a:spcAft>
              <a:buNone/>
            </a:pPr>
            <a:endParaRPr sz="1500">
              <a:solidFill>
                <a:schemeClr val="dk2"/>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155"/>
        <p:cNvGrpSpPr/>
        <p:nvPr/>
      </p:nvGrpSpPr>
      <p:grpSpPr>
        <a:xfrm>
          <a:off x="0" y="0"/>
          <a:ext cx="0" cy="0"/>
          <a:chOff x="0" y="0"/>
          <a:chExt cx="0" cy="0"/>
        </a:xfrm>
      </p:grpSpPr>
      <p:pic>
        <p:nvPicPr>
          <p:cNvPr id="156" name="Google Shape;156;p18"/>
          <p:cNvPicPr preferRelativeResize="0"/>
          <p:nvPr/>
        </p:nvPicPr>
        <p:blipFill>
          <a:blip r:embed="rId3">
            <a:alphaModFix/>
          </a:blip>
          <a:stretch>
            <a:fillRect/>
          </a:stretch>
        </p:blipFill>
        <p:spPr>
          <a:xfrm>
            <a:off x="2682625" y="448275"/>
            <a:ext cx="5894000" cy="3712075"/>
          </a:xfrm>
          <a:prstGeom prst="rect">
            <a:avLst/>
          </a:prstGeom>
          <a:noFill/>
          <a:ln>
            <a:noFill/>
          </a:ln>
        </p:spPr>
      </p:pic>
      <p:sp>
        <p:nvSpPr>
          <p:cNvPr id="157" name="Google Shape;157;p18"/>
          <p:cNvSpPr txBox="1"/>
          <p:nvPr/>
        </p:nvSpPr>
        <p:spPr>
          <a:xfrm>
            <a:off x="76250" y="1180746"/>
            <a:ext cx="2435700" cy="210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latin typeface="Open Sans"/>
                <a:ea typeface="Open Sans"/>
                <a:cs typeface="Open Sans"/>
                <a:sym typeface="Open Sans"/>
              </a:rPr>
              <a:t>1: Immediate, life threatening</a:t>
            </a:r>
            <a:br>
              <a:rPr lang="en" sz="1000">
                <a:solidFill>
                  <a:schemeClr val="dk2"/>
                </a:solidFill>
                <a:latin typeface="Open Sans"/>
                <a:ea typeface="Open Sans"/>
                <a:cs typeface="Open Sans"/>
                <a:sym typeface="Open Sans"/>
              </a:rPr>
            </a:br>
            <a:endParaRPr sz="1000">
              <a:solidFill>
                <a:schemeClr val="dk2"/>
              </a:solidFill>
              <a:latin typeface="Open Sans"/>
              <a:ea typeface="Open Sans"/>
              <a:cs typeface="Open Sans"/>
              <a:sym typeface="Open Sans"/>
            </a:endParaRPr>
          </a:p>
          <a:p>
            <a:pPr marL="0" lvl="0" indent="0" algn="l" rtl="0">
              <a:spcBef>
                <a:spcPts val="0"/>
              </a:spcBef>
              <a:spcAft>
                <a:spcPts val="0"/>
              </a:spcAft>
              <a:buNone/>
            </a:pPr>
            <a:r>
              <a:rPr lang="en" sz="1000">
                <a:solidFill>
                  <a:schemeClr val="dk2"/>
                </a:solidFill>
                <a:latin typeface="Open Sans"/>
                <a:ea typeface="Open Sans"/>
                <a:cs typeface="Open Sans"/>
                <a:sym typeface="Open Sans"/>
              </a:rPr>
              <a:t>2: Emergency, could become life threatening</a:t>
            </a:r>
            <a:br>
              <a:rPr lang="en" sz="1000">
                <a:solidFill>
                  <a:schemeClr val="dk2"/>
                </a:solidFill>
                <a:latin typeface="Open Sans"/>
                <a:ea typeface="Open Sans"/>
                <a:cs typeface="Open Sans"/>
                <a:sym typeface="Open Sans"/>
              </a:rPr>
            </a:br>
            <a:endParaRPr sz="1000">
              <a:solidFill>
                <a:schemeClr val="dk2"/>
              </a:solidFill>
              <a:latin typeface="Open Sans"/>
              <a:ea typeface="Open Sans"/>
              <a:cs typeface="Open Sans"/>
              <a:sym typeface="Open Sans"/>
            </a:endParaRPr>
          </a:p>
          <a:p>
            <a:pPr marL="0" lvl="0" indent="0" algn="l" rtl="0">
              <a:spcBef>
                <a:spcPts val="0"/>
              </a:spcBef>
              <a:spcAft>
                <a:spcPts val="0"/>
              </a:spcAft>
              <a:buNone/>
            </a:pPr>
            <a:r>
              <a:rPr lang="en" sz="1000">
                <a:solidFill>
                  <a:schemeClr val="dk2"/>
                </a:solidFill>
                <a:latin typeface="Open Sans"/>
                <a:ea typeface="Open Sans"/>
                <a:cs typeface="Open Sans"/>
                <a:sym typeface="Open Sans"/>
              </a:rPr>
              <a:t>3: Urgent, not life threatening</a:t>
            </a:r>
            <a:br>
              <a:rPr lang="en" sz="1000">
                <a:solidFill>
                  <a:schemeClr val="dk2"/>
                </a:solidFill>
                <a:latin typeface="Open Sans"/>
                <a:ea typeface="Open Sans"/>
                <a:cs typeface="Open Sans"/>
                <a:sym typeface="Open Sans"/>
              </a:rPr>
            </a:br>
            <a:endParaRPr sz="1000">
              <a:solidFill>
                <a:schemeClr val="dk2"/>
              </a:solidFill>
              <a:latin typeface="Open Sans"/>
              <a:ea typeface="Open Sans"/>
              <a:cs typeface="Open Sans"/>
              <a:sym typeface="Open Sans"/>
            </a:endParaRPr>
          </a:p>
          <a:p>
            <a:pPr marL="0" lvl="0" indent="0" algn="l" rtl="0">
              <a:spcBef>
                <a:spcPts val="0"/>
              </a:spcBef>
              <a:spcAft>
                <a:spcPts val="0"/>
              </a:spcAft>
              <a:buNone/>
            </a:pPr>
            <a:r>
              <a:rPr lang="en" sz="1000">
                <a:solidFill>
                  <a:schemeClr val="dk2"/>
                </a:solidFill>
                <a:latin typeface="Open Sans"/>
                <a:ea typeface="Open Sans"/>
                <a:cs typeface="Open Sans"/>
                <a:sym typeface="Open Sans"/>
              </a:rPr>
              <a:t>4: Semi-urgent, not life threatening</a:t>
            </a:r>
            <a:br>
              <a:rPr lang="en" sz="1000">
                <a:solidFill>
                  <a:schemeClr val="dk2"/>
                </a:solidFill>
                <a:latin typeface="Open Sans"/>
                <a:ea typeface="Open Sans"/>
                <a:cs typeface="Open Sans"/>
                <a:sym typeface="Open Sans"/>
              </a:rPr>
            </a:br>
            <a:endParaRPr sz="1000">
              <a:solidFill>
                <a:schemeClr val="dk2"/>
              </a:solidFill>
              <a:latin typeface="Open Sans"/>
              <a:ea typeface="Open Sans"/>
              <a:cs typeface="Open Sans"/>
              <a:sym typeface="Open Sans"/>
            </a:endParaRPr>
          </a:p>
          <a:p>
            <a:pPr marL="0" lvl="0" indent="0" algn="l" rtl="0">
              <a:spcBef>
                <a:spcPts val="0"/>
              </a:spcBef>
              <a:spcAft>
                <a:spcPts val="0"/>
              </a:spcAft>
              <a:buNone/>
            </a:pPr>
            <a:r>
              <a:rPr lang="en" sz="1000">
                <a:solidFill>
                  <a:schemeClr val="dk2"/>
                </a:solidFill>
                <a:latin typeface="Open Sans"/>
                <a:ea typeface="Open Sans"/>
                <a:cs typeface="Open Sans"/>
                <a:sym typeface="Open Sans"/>
              </a:rPr>
              <a:t>5: Non-urgent, needs treatment when time permits</a:t>
            </a:r>
            <a:endParaRPr sz="1000">
              <a:solidFill>
                <a:schemeClr val="dk2"/>
              </a:solidFill>
              <a:latin typeface="Open Sans"/>
              <a:ea typeface="Open Sans"/>
              <a:cs typeface="Open Sans"/>
              <a:sym typeface="Open Sans"/>
            </a:endParaRPr>
          </a:p>
          <a:p>
            <a:pPr marL="0" lvl="0" indent="0" algn="l" rtl="0">
              <a:spcBef>
                <a:spcPts val="0"/>
              </a:spcBef>
              <a:spcAft>
                <a:spcPts val="0"/>
              </a:spcAft>
              <a:buNone/>
            </a:pPr>
            <a:endParaRPr sz="1000">
              <a:solidFill>
                <a:schemeClr val="dk2"/>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182"/>
        <p:cNvGrpSpPr/>
        <p:nvPr/>
      </p:nvGrpSpPr>
      <p:grpSpPr>
        <a:xfrm>
          <a:off x="0" y="0"/>
          <a:ext cx="0" cy="0"/>
          <a:chOff x="0" y="0"/>
          <a:chExt cx="0" cy="0"/>
        </a:xfrm>
      </p:grpSpPr>
      <p:sp>
        <p:nvSpPr>
          <p:cNvPr id="183" name="Google Shape;183;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rgbClr val="000000"/>
              </a:buClr>
              <a:buSzPct val="100000"/>
              <a:buFont typeface="Arial"/>
              <a:buNone/>
            </a:pPr>
            <a:r>
              <a:rPr lang="en" b="0">
                <a:solidFill>
                  <a:srgbClr val="223E82"/>
                </a:solidFill>
                <a:latin typeface="Arial"/>
                <a:ea typeface="Arial"/>
                <a:cs typeface="Arial"/>
                <a:sym typeface="Arial"/>
              </a:rPr>
              <a:t>Simulation Output</a:t>
            </a:r>
            <a:endParaRPr/>
          </a:p>
        </p:txBody>
      </p:sp>
      <p:sp>
        <p:nvSpPr>
          <p:cNvPr id="184" name="Google Shape;184;p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lnSpc>
                <a:spcPct val="100000"/>
              </a:lnSpc>
              <a:spcBef>
                <a:spcPts val="0"/>
              </a:spcBef>
              <a:spcAft>
                <a:spcPts val="0"/>
              </a:spcAft>
              <a:buSzPts val="1800"/>
              <a:buChar char="●"/>
            </a:pPr>
            <a:r>
              <a:rPr lang="en"/>
              <a:t>Simulation Time: 80 Weeks</a:t>
            </a:r>
            <a:endParaRPr/>
          </a:p>
        </p:txBody>
      </p:sp>
      <p:pic>
        <p:nvPicPr>
          <p:cNvPr id="185" name="Google Shape;185;p22"/>
          <p:cNvPicPr preferRelativeResize="0"/>
          <p:nvPr/>
        </p:nvPicPr>
        <p:blipFill>
          <a:blip r:embed="rId3">
            <a:alphaModFix/>
          </a:blip>
          <a:stretch>
            <a:fillRect/>
          </a:stretch>
        </p:blipFill>
        <p:spPr>
          <a:xfrm>
            <a:off x="752225" y="1657625"/>
            <a:ext cx="6862086" cy="3302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257"/>
        <p:cNvGrpSpPr/>
        <p:nvPr/>
      </p:nvGrpSpPr>
      <p:grpSpPr>
        <a:xfrm>
          <a:off x="0" y="0"/>
          <a:ext cx="0" cy="0"/>
          <a:chOff x="0" y="0"/>
          <a:chExt cx="0" cy="0"/>
        </a:xfrm>
      </p:grpSpPr>
      <p:sp>
        <p:nvSpPr>
          <p:cNvPr id="258" name="Google Shape;258;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rgbClr val="000000"/>
              </a:buClr>
              <a:buSzPct val="100000"/>
              <a:buFont typeface="Arial"/>
              <a:buNone/>
            </a:pPr>
            <a:r>
              <a:rPr lang="en" b="0">
                <a:solidFill>
                  <a:srgbClr val="223E82"/>
                </a:solidFill>
                <a:latin typeface="Arial"/>
                <a:ea typeface="Arial"/>
                <a:cs typeface="Arial"/>
                <a:sym typeface="Arial"/>
              </a:rPr>
              <a:t>Possible Interventions </a:t>
            </a:r>
            <a:endParaRPr/>
          </a:p>
        </p:txBody>
      </p:sp>
      <p:sp>
        <p:nvSpPr>
          <p:cNvPr id="259" name="Google Shape;259;p30"/>
          <p:cNvSpPr txBox="1">
            <a:spLocks noGrp="1"/>
          </p:cNvSpPr>
          <p:nvPr>
            <p:ph type="body" idx="1"/>
          </p:nvPr>
        </p:nvSpPr>
        <p:spPr>
          <a:xfrm>
            <a:off x="5855375" y="1282890"/>
            <a:ext cx="3183965" cy="2714635"/>
          </a:xfrm>
          <a:prstGeom prst="rect">
            <a:avLst/>
          </a:prstGeom>
        </p:spPr>
        <p:txBody>
          <a:bodyPr spcFirstLastPara="1" wrap="square" lIns="91425" tIns="91425" rIns="91425" bIns="91425" anchor="t" anchorCtr="0">
            <a:noAutofit/>
          </a:bodyPr>
          <a:lstStyle/>
          <a:p>
            <a:pPr marL="61595" indent="0">
              <a:buClr>
                <a:srgbClr val="000000"/>
              </a:buClr>
              <a:buSzPct val="134782"/>
              <a:buNone/>
            </a:pPr>
            <a:endParaRPr lang="en" sz="2300">
              <a:solidFill>
                <a:srgbClr val="000000"/>
              </a:solidFill>
              <a:latin typeface="Helvetica Neue"/>
              <a:ea typeface="Helvetica Neue"/>
              <a:cs typeface="Helvetica Neue"/>
            </a:endParaRPr>
          </a:p>
          <a:p>
            <a:pPr marL="404495">
              <a:lnSpc>
                <a:spcPct val="114999"/>
              </a:lnSpc>
              <a:buClr>
                <a:srgbClr val="000000"/>
              </a:buClr>
              <a:buSzPct val="134782"/>
              <a:buAutoNum type="arabicPeriod"/>
            </a:pPr>
            <a:r>
              <a:rPr lang="en" sz="1500">
                <a:solidFill>
                  <a:srgbClr val="000000"/>
                </a:solidFill>
                <a:latin typeface="Helvetica Neue"/>
                <a:ea typeface="Helvetica Neue"/>
                <a:cs typeface="Helvetica Neue"/>
                <a:sym typeface="Helvetica Neue"/>
              </a:rPr>
              <a:t>Reduce 1 day of hospitalization for 50% of  SNF patients.</a:t>
            </a:r>
            <a:endParaRPr lang="en" sz="1500">
              <a:solidFill>
                <a:srgbClr val="000000"/>
              </a:solidFill>
              <a:latin typeface="Helvetica Neue"/>
              <a:ea typeface="Helvetica Neue"/>
              <a:cs typeface="Helvetica Neue"/>
            </a:endParaRPr>
          </a:p>
          <a:p>
            <a:pPr marL="404495" lvl="0" algn="l" rtl="0">
              <a:spcBef>
                <a:spcPts val="0"/>
              </a:spcBef>
              <a:spcAft>
                <a:spcPts val="0"/>
              </a:spcAft>
              <a:buClr>
                <a:srgbClr val="000000"/>
              </a:buClr>
              <a:buSzPct val="134782"/>
              <a:buAutoNum type="arabicPeriod"/>
            </a:pPr>
            <a:r>
              <a:rPr lang="en" sz="1500">
                <a:solidFill>
                  <a:srgbClr val="000000"/>
                </a:solidFill>
                <a:latin typeface="Helvetica Neue"/>
                <a:ea typeface="Helvetica Neue"/>
                <a:cs typeface="Helvetica Neue"/>
                <a:sym typeface="Helvetica Neue"/>
              </a:rPr>
              <a:t>Speed up the discharge process</a:t>
            </a:r>
            <a:endParaRPr sz="1500">
              <a:solidFill>
                <a:srgbClr val="000000"/>
              </a:solidFill>
              <a:latin typeface="Helvetica Neue"/>
              <a:ea typeface="Helvetica Neue"/>
              <a:cs typeface="Helvetica Neue"/>
            </a:endParaRPr>
          </a:p>
          <a:p>
            <a:pPr marL="404495">
              <a:buClr>
                <a:srgbClr val="000000"/>
              </a:buClr>
              <a:buSzPct val="134782"/>
              <a:buAutoNum type="arabicPeriod"/>
            </a:pPr>
            <a:r>
              <a:rPr lang="en" sz="1500">
                <a:solidFill>
                  <a:srgbClr val="000000"/>
                </a:solidFill>
                <a:latin typeface="Helvetica Neue"/>
                <a:ea typeface="Helvetica Neue"/>
                <a:cs typeface="Helvetica Neue"/>
                <a:sym typeface="Helvetica Neue"/>
              </a:rPr>
              <a:t> Divert lower ESI ranking patients to Urgent care</a:t>
            </a:r>
            <a:endParaRPr sz="1500">
              <a:solidFill>
                <a:srgbClr val="000000"/>
              </a:solidFill>
              <a:latin typeface="Helvetica Neue"/>
              <a:ea typeface="Helvetica Neue"/>
              <a:cs typeface="Helvetica Neue"/>
            </a:endParaRPr>
          </a:p>
          <a:p>
            <a:pPr marL="457200" lvl="0" indent="0" algn="l" rtl="0">
              <a:lnSpc>
                <a:spcPct val="90000"/>
              </a:lnSpc>
              <a:spcBef>
                <a:spcPts val="1000"/>
              </a:spcBef>
              <a:spcAft>
                <a:spcPts val="0"/>
              </a:spcAft>
              <a:buClr>
                <a:srgbClr val="000000"/>
              </a:buClr>
              <a:buSzPct val="64285"/>
              <a:buFont typeface="Arial"/>
              <a:buNone/>
            </a:pPr>
            <a:endParaRPr sz="2800">
              <a:solidFill>
                <a:srgbClr val="000000"/>
              </a:solidFill>
              <a:latin typeface="Calibri"/>
              <a:ea typeface="Calibri"/>
              <a:cs typeface="Calibri"/>
              <a:sym typeface="Calibri"/>
            </a:endParaRPr>
          </a:p>
          <a:p>
            <a:pPr marL="0" lvl="0" indent="0" algn="l" rtl="0">
              <a:spcBef>
                <a:spcPts val="0"/>
              </a:spcBef>
              <a:spcAft>
                <a:spcPts val="1200"/>
              </a:spcAft>
              <a:buNone/>
            </a:pPr>
            <a:endParaRPr/>
          </a:p>
        </p:txBody>
      </p:sp>
      <p:pic>
        <p:nvPicPr>
          <p:cNvPr id="260" name="Google Shape;260;p30"/>
          <p:cNvPicPr preferRelativeResize="0"/>
          <p:nvPr/>
        </p:nvPicPr>
        <p:blipFill rotWithShape="1">
          <a:blip r:embed="rId3">
            <a:alphaModFix/>
          </a:blip>
          <a:srcRect l="2133" t="15775"/>
          <a:stretch/>
        </p:blipFill>
        <p:spPr>
          <a:xfrm>
            <a:off x="311700" y="1443803"/>
            <a:ext cx="5278199" cy="2568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196"/>
        <p:cNvGrpSpPr/>
        <p:nvPr/>
      </p:nvGrpSpPr>
      <p:grpSpPr>
        <a:xfrm>
          <a:off x="0" y="0"/>
          <a:ext cx="0" cy="0"/>
          <a:chOff x="0" y="0"/>
          <a:chExt cx="0" cy="0"/>
        </a:xfrm>
      </p:grpSpPr>
      <p:sp>
        <p:nvSpPr>
          <p:cNvPr id="197" name="Google Shape;197;p24"/>
          <p:cNvSpPr txBox="1"/>
          <p:nvPr/>
        </p:nvSpPr>
        <p:spPr>
          <a:xfrm>
            <a:off x="735000" y="3766625"/>
            <a:ext cx="7249500" cy="12732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SzPts val="1500"/>
              <a:buFont typeface="Open Sans"/>
              <a:buChar char="●"/>
            </a:pPr>
            <a:r>
              <a:rPr lang="en" sz="1500">
                <a:solidFill>
                  <a:schemeClr val="dk2"/>
                </a:solidFill>
                <a:latin typeface="Open Sans"/>
                <a:ea typeface="Open Sans"/>
                <a:cs typeface="Open Sans"/>
                <a:sym typeface="Open Sans"/>
              </a:rPr>
              <a:t> Both peak at shorter durations, with </a:t>
            </a:r>
            <a:r>
              <a:rPr lang="en" sz="1500" b="1">
                <a:solidFill>
                  <a:srgbClr val="FF0000"/>
                </a:solidFill>
                <a:latin typeface="Open Sans"/>
                <a:ea typeface="Open Sans"/>
                <a:cs typeface="Open Sans"/>
                <a:sym typeface="Open Sans"/>
              </a:rPr>
              <a:t>most</a:t>
            </a:r>
            <a:r>
              <a:rPr lang="en" sz="1500">
                <a:solidFill>
                  <a:schemeClr val="dk2"/>
                </a:solidFill>
                <a:latin typeface="Open Sans"/>
                <a:ea typeface="Open Sans"/>
                <a:cs typeface="Open Sans"/>
                <a:sym typeface="Open Sans"/>
              </a:rPr>
              <a:t> triage times falling </a:t>
            </a:r>
            <a:r>
              <a:rPr lang="en" sz="1500" b="1">
                <a:solidFill>
                  <a:srgbClr val="FF0000"/>
                </a:solidFill>
                <a:latin typeface="Open Sans"/>
                <a:ea typeface="Open Sans"/>
                <a:cs typeface="Open Sans"/>
                <a:sym typeface="Open Sans"/>
              </a:rPr>
              <a:t>below 10 minutes</a:t>
            </a:r>
            <a:endParaRPr sz="1500" b="1">
              <a:solidFill>
                <a:srgbClr val="FF0000"/>
              </a:solidFill>
              <a:latin typeface="Open Sans"/>
              <a:ea typeface="Open Sans"/>
              <a:cs typeface="Open Sans"/>
              <a:sym typeface="Open Sans"/>
            </a:endParaRPr>
          </a:p>
          <a:p>
            <a:pPr marL="457200" lvl="0" indent="-323850" algn="l" rtl="0">
              <a:spcBef>
                <a:spcPts val="0"/>
              </a:spcBef>
              <a:spcAft>
                <a:spcPts val="0"/>
              </a:spcAft>
              <a:buClr>
                <a:schemeClr val="dk2"/>
              </a:buClr>
              <a:buSzPts val="1500"/>
              <a:buFont typeface="Open Sans"/>
              <a:buChar char="●"/>
            </a:pPr>
            <a:r>
              <a:rPr lang="en" sz="1500">
                <a:solidFill>
                  <a:schemeClr val="dk2"/>
                </a:solidFill>
                <a:latin typeface="Open Sans"/>
                <a:ea typeface="Open Sans"/>
                <a:cs typeface="Open Sans"/>
                <a:sym typeface="Open Sans"/>
              </a:rPr>
              <a:t>The similar right-skewed distribution shows that the majority of triages are quick, but there’s a long tail of cases taking longer.</a:t>
            </a:r>
            <a:endParaRPr sz="1500">
              <a:solidFill>
                <a:schemeClr val="dk2"/>
              </a:solidFill>
              <a:latin typeface="Open Sans"/>
              <a:ea typeface="Open Sans"/>
              <a:cs typeface="Open Sans"/>
              <a:sym typeface="Open Sans"/>
            </a:endParaRPr>
          </a:p>
        </p:txBody>
      </p:sp>
      <p:pic>
        <p:nvPicPr>
          <p:cNvPr id="198" name="Google Shape;198;p24"/>
          <p:cNvPicPr preferRelativeResize="0"/>
          <p:nvPr/>
        </p:nvPicPr>
        <p:blipFill>
          <a:blip r:embed="rId3">
            <a:alphaModFix/>
          </a:blip>
          <a:stretch>
            <a:fillRect/>
          </a:stretch>
        </p:blipFill>
        <p:spPr>
          <a:xfrm>
            <a:off x="0" y="393025"/>
            <a:ext cx="4684476" cy="2920300"/>
          </a:xfrm>
          <a:prstGeom prst="rect">
            <a:avLst/>
          </a:prstGeom>
          <a:noFill/>
          <a:ln>
            <a:noFill/>
          </a:ln>
        </p:spPr>
      </p:pic>
      <p:pic>
        <p:nvPicPr>
          <p:cNvPr id="199" name="Google Shape;199;p24"/>
          <p:cNvPicPr preferRelativeResize="0"/>
          <p:nvPr/>
        </p:nvPicPr>
        <p:blipFill>
          <a:blip r:embed="rId4">
            <a:alphaModFix/>
          </a:blip>
          <a:stretch>
            <a:fillRect/>
          </a:stretch>
        </p:blipFill>
        <p:spPr>
          <a:xfrm>
            <a:off x="4466786" y="478049"/>
            <a:ext cx="4479014" cy="2835275"/>
          </a:xfrm>
          <a:prstGeom prst="rect">
            <a:avLst/>
          </a:prstGeom>
          <a:noFill/>
          <a:ln>
            <a:noFill/>
          </a:ln>
        </p:spPr>
      </p:pic>
      <p:sp>
        <p:nvSpPr>
          <p:cNvPr id="200" name="Google Shape;200;p24"/>
          <p:cNvSpPr txBox="1"/>
          <p:nvPr/>
        </p:nvSpPr>
        <p:spPr>
          <a:xfrm>
            <a:off x="1283300" y="30800"/>
            <a:ext cx="59340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Distribution of Triage Times</a:t>
            </a:r>
            <a:endParaRPr sz="1800">
              <a:solidFill>
                <a:schemeClr val="dk2"/>
              </a:solidFill>
              <a:latin typeface="Open Sans"/>
              <a:ea typeface="Open Sans"/>
              <a:cs typeface="Open Sans"/>
              <a:sym typeface="Open Sans"/>
            </a:endParaRPr>
          </a:p>
        </p:txBody>
      </p:sp>
      <p:sp>
        <p:nvSpPr>
          <p:cNvPr id="201" name="Google Shape;201;p24"/>
          <p:cNvSpPr txBox="1"/>
          <p:nvPr/>
        </p:nvSpPr>
        <p:spPr>
          <a:xfrm>
            <a:off x="923975" y="3218200"/>
            <a:ext cx="3234000" cy="68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Real </a:t>
            </a:r>
            <a:endParaRPr sz="1800">
              <a:solidFill>
                <a:schemeClr val="dk2"/>
              </a:solidFill>
              <a:latin typeface="Open Sans"/>
              <a:ea typeface="Open Sans"/>
              <a:cs typeface="Open Sans"/>
              <a:sym typeface="Open Sans"/>
            </a:endParaRPr>
          </a:p>
        </p:txBody>
      </p:sp>
      <p:sp>
        <p:nvSpPr>
          <p:cNvPr id="202" name="Google Shape;202;p24"/>
          <p:cNvSpPr txBox="1"/>
          <p:nvPr/>
        </p:nvSpPr>
        <p:spPr>
          <a:xfrm>
            <a:off x="5790275" y="3177125"/>
            <a:ext cx="26796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Simulation</a:t>
            </a:r>
            <a:endParaRPr sz="1800">
              <a:solidFill>
                <a:schemeClr val="dk2"/>
              </a:solidFill>
              <a:latin typeface="Open Sans"/>
              <a:ea typeface="Open Sans"/>
              <a:cs typeface="Open Sans"/>
              <a:sym typeface="Open Sans"/>
            </a:endParaRPr>
          </a:p>
        </p:txBody>
      </p:sp>
      <p:sp>
        <p:nvSpPr>
          <p:cNvPr id="203" name="Google Shape;203;p24"/>
          <p:cNvSpPr/>
          <p:nvPr/>
        </p:nvSpPr>
        <p:spPr>
          <a:xfrm>
            <a:off x="375175" y="484725"/>
            <a:ext cx="1100700" cy="29739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4" name="Google Shape;204;p24"/>
          <p:cNvSpPr/>
          <p:nvPr/>
        </p:nvSpPr>
        <p:spPr>
          <a:xfrm>
            <a:off x="4684475" y="484725"/>
            <a:ext cx="1100700" cy="29739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328"/>
        <p:cNvGrpSpPr/>
        <p:nvPr/>
      </p:nvGrpSpPr>
      <p:grpSpPr>
        <a:xfrm>
          <a:off x="0" y="0"/>
          <a:ext cx="0" cy="0"/>
          <a:chOff x="0" y="0"/>
          <a:chExt cx="0" cy="0"/>
        </a:xfrm>
      </p:grpSpPr>
      <p:pic>
        <p:nvPicPr>
          <p:cNvPr id="329" name="Google Shape;329;p38"/>
          <p:cNvPicPr preferRelativeResize="0"/>
          <p:nvPr/>
        </p:nvPicPr>
        <p:blipFill>
          <a:blip r:embed="rId3">
            <a:alphaModFix/>
          </a:blip>
          <a:stretch>
            <a:fillRect/>
          </a:stretch>
        </p:blipFill>
        <p:spPr>
          <a:xfrm>
            <a:off x="4572000" y="418250"/>
            <a:ext cx="4173490" cy="2668625"/>
          </a:xfrm>
          <a:prstGeom prst="rect">
            <a:avLst/>
          </a:prstGeom>
          <a:noFill/>
          <a:ln>
            <a:noFill/>
          </a:ln>
        </p:spPr>
      </p:pic>
      <p:sp>
        <p:nvSpPr>
          <p:cNvPr id="330" name="Google Shape;330;p38"/>
          <p:cNvSpPr txBox="1"/>
          <p:nvPr/>
        </p:nvSpPr>
        <p:spPr>
          <a:xfrm>
            <a:off x="745050" y="2943975"/>
            <a:ext cx="7653900" cy="63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       Intervention 2						Original Simulation</a:t>
            </a:r>
            <a:endParaRPr sz="1800">
              <a:solidFill>
                <a:schemeClr val="dk2"/>
              </a:solidFill>
              <a:latin typeface="Open Sans"/>
              <a:ea typeface="Open Sans"/>
              <a:cs typeface="Open Sans"/>
              <a:sym typeface="Open Sans"/>
            </a:endParaRPr>
          </a:p>
        </p:txBody>
      </p:sp>
      <p:sp>
        <p:nvSpPr>
          <p:cNvPr id="331" name="Google Shape;331;p38"/>
          <p:cNvSpPr txBox="1"/>
          <p:nvPr/>
        </p:nvSpPr>
        <p:spPr>
          <a:xfrm>
            <a:off x="1283300" y="30800"/>
            <a:ext cx="59340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Distribution of Length of Stay in ED Times</a:t>
            </a:r>
            <a:endParaRPr sz="1800">
              <a:solidFill>
                <a:schemeClr val="dk2"/>
              </a:solidFill>
              <a:latin typeface="Open Sans"/>
              <a:ea typeface="Open Sans"/>
              <a:cs typeface="Open Sans"/>
              <a:sym typeface="Open Sans"/>
            </a:endParaRPr>
          </a:p>
        </p:txBody>
      </p:sp>
      <p:pic>
        <p:nvPicPr>
          <p:cNvPr id="332" name="Google Shape;332;p38"/>
          <p:cNvPicPr preferRelativeResize="0"/>
          <p:nvPr/>
        </p:nvPicPr>
        <p:blipFill>
          <a:blip r:embed="rId4">
            <a:alphaModFix/>
          </a:blip>
          <a:stretch>
            <a:fillRect/>
          </a:stretch>
        </p:blipFill>
        <p:spPr>
          <a:xfrm>
            <a:off x="373750" y="418250"/>
            <a:ext cx="4173501" cy="2667188"/>
          </a:xfrm>
          <a:prstGeom prst="rect">
            <a:avLst/>
          </a:prstGeom>
          <a:noFill/>
          <a:ln>
            <a:noFill/>
          </a:ln>
        </p:spPr>
      </p:pic>
      <p:sp>
        <p:nvSpPr>
          <p:cNvPr id="333" name="Google Shape;333;p38"/>
          <p:cNvSpPr txBox="1"/>
          <p:nvPr/>
        </p:nvSpPr>
        <p:spPr>
          <a:xfrm>
            <a:off x="0" y="3581775"/>
            <a:ext cx="8424900" cy="677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Intervention 2 has the </a:t>
            </a:r>
            <a:r>
              <a:rPr lang="en" sz="1600" b="1">
                <a:solidFill>
                  <a:srgbClr val="FF0000"/>
                </a:solidFill>
                <a:latin typeface="Open Sans"/>
                <a:ea typeface="Open Sans"/>
                <a:cs typeface="Open Sans"/>
                <a:sym typeface="Open Sans"/>
              </a:rPr>
              <a:t>peak frequency</a:t>
            </a:r>
            <a:r>
              <a:rPr lang="en" sz="1600">
                <a:solidFill>
                  <a:srgbClr val="FF0000"/>
                </a:solidFill>
                <a:latin typeface="Open Sans"/>
                <a:ea typeface="Open Sans"/>
                <a:cs typeface="Open Sans"/>
                <a:sym typeface="Open Sans"/>
              </a:rPr>
              <a:t> at around 200 - 300 minutes</a:t>
            </a:r>
            <a:r>
              <a:rPr lang="en" sz="1600">
                <a:solidFill>
                  <a:schemeClr val="dk2"/>
                </a:solidFill>
                <a:latin typeface="Open Sans"/>
                <a:ea typeface="Open Sans"/>
                <a:cs typeface="Open Sans"/>
                <a:sym typeface="Open Sans"/>
              </a:rPr>
              <a:t> is more concentrated than the original simulation. </a:t>
            </a:r>
            <a:endParaRPr sz="1600">
              <a:solidFill>
                <a:schemeClr val="dk2"/>
              </a:solidFill>
              <a:latin typeface="Open Sans"/>
              <a:ea typeface="Open Sans"/>
              <a:cs typeface="Open Sans"/>
              <a:sym typeface="Open Sans"/>
            </a:endParaRPr>
          </a:p>
        </p:txBody>
      </p:sp>
      <p:sp>
        <p:nvSpPr>
          <p:cNvPr id="334" name="Google Shape;334;p38"/>
          <p:cNvSpPr/>
          <p:nvPr/>
        </p:nvSpPr>
        <p:spPr>
          <a:xfrm>
            <a:off x="815600" y="418245"/>
            <a:ext cx="800700" cy="774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5" name="Google Shape;335;p38"/>
          <p:cNvSpPr/>
          <p:nvPr/>
        </p:nvSpPr>
        <p:spPr>
          <a:xfrm>
            <a:off x="4989675" y="323695"/>
            <a:ext cx="800700" cy="774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339"/>
        <p:cNvGrpSpPr/>
        <p:nvPr/>
      </p:nvGrpSpPr>
      <p:grpSpPr>
        <a:xfrm>
          <a:off x="0" y="0"/>
          <a:ext cx="0" cy="0"/>
          <a:chOff x="0" y="0"/>
          <a:chExt cx="0" cy="0"/>
        </a:xfrm>
      </p:grpSpPr>
      <p:pic>
        <p:nvPicPr>
          <p:cNvPr id="340" name="Google Shape;340;p39"/>
          <p:cNvPicPr preferRelativeResize="0"/>
          <p:nvPr/>
        </p:nvPicPr>
        <p:blipFill>
          <a:blip r:embed="rId3">
            <a:alphaModFix/>
          </a:blip>
          <a:stretch>
            <a:fillRect/>
          </a:stretch>
        </p:blipFill>
        <p:spPr>
          <a:xfrm>
            <a:off x="4554667" y="357225"/>
            <a:ext cx="4459109" cy="2887000"/>
          </a:xfrm>
          <a:prstGeom prst="rect">
            <a:avLst/>
          </a:prstGeom>
          <a:noFill/>
          <a:ln>
            <a:noFill/>
          </a:ln>
        </p:spPr>
      </p:pic>
      <p:sp>
        <p:nvSpPr>
          <p:cNvPr id="341" name="Google Shape;341;p39"/>
          <p:cNvSpPr txBox="1"/>
          <p:nvPr/>
        </p:nvSpPr>
        <p:spPr>
          <a:xfrm>
            <a:off x="1283300" y="0"/>
            <a:ext cx="59340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Distribution of Completely EDIP Times</a:t>
            </a:r>
            <a:endParaRPr sz="1800">
              <a:solidFill>
                <a:schemeClr val="dk2"/>
              </a:solidFill>
              <a:latin typeface="Open Sans"/>
              <a:ea typeface="Open Sans"/>
              <a:cs typeface="Open Sans"/>
              <a:sym typeface="Open Sans"/>
            </a:endParaRPr>
          </a:p>
        </p:txBody>
      </p:sp>
      <p:sp>
        <p:nvSpPr>
          <p:cNvPr id="342" name="Google Shape;342;p39"/>
          <p:cNvSpPr txBox="1"/>
          <p:nvPr/>
        </p:nvSpPr>
        <p:spPr>
          <a:xfrm>
            <a:off x="910700" y="3596850"/>
            <a:ext cx="7653900" cy="132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dk2"/>
              </a:solidFill>
              <a:latin typeface="Open Sans"/>
              <a:ea typeface="Open Sans"/>
              <a:cs typeface="Open Sans"/>
              <a:sym typeface="Open Sans"/>
            </a:endParaRPr>
          </a:p>
          <a:p>
            <a:pPr marL="457200" lvl="0" indent="-323850" algn="l" rtl="0">
              <a:spcBef>
                <a:spcPts val="0"/>
              </a:spcBef>
              <a:spcAft>
                <a:spcPts val="0"/>
              </a:spcAft>
              <a:buClr>
                <a:schemeClr val="dk2"/>
              </a:buClr>
              <a:buSzPts val="1500"/>
              <a:buFont typeface="Open Sans"/>
              <a:buChar char="●"/>
            </a:pPr>
            <a:r>
              <a:rPr lang="en" sz="1500">
                <a:solidFill>
                  <a:schemeClr val="dk2"/>
                </a:solidFill>
                <a:latin typeface="Open Sans"/>
                <a:ea typeface="Open Sans"/>
                <a:cs typeface="Open Sans"/>
                <a:sym typeface="Open Sans"/>
              </a:rPr>
              <a:t>Notable reduction in long-duration stays at </a:t>
            </a:r>
            <a:r>
              <a:rPr lang="en" sz="1500" b="1">
                <a:solidFill>
                  <a:srgbClr val="70AD47"/>
                </a:solidFill>
                <a:latin typeface="Open Sans"/>
                <a:ea typeface="Open Sans"/>
                <a:cs typeface="Open Sans"/>
                <a:sym typeface="Open Sans"/>
              </a:rPr>
              <a:t>6,000</a:t>
            </a:r>
            <a:r>
              <a:rPr lang="en" sz="1500">
                <a:solidFill>
                  <a:srgbClr val="70AD47"/>
                </a:solidFill>
                <a:latin typeface="Open Sans"/>
                <a:ea typeface="Open Sans"/>
                <a:cs typeface="Open Sans"/>
                <a:sym typeface="Open Sans"/>
              </a:rPr>
              <a:t> </a:t>
            </a:r>
            <a:r>
              <a:rPr lang="en" sz="1500">
                <a:solidFill>
                  <a:schemeClr val="dk2"/>
                </a:solidFill>
                <a:latin typeface="Open Sans"/>
                <a:ea typeface="Open Sans"/>
                <a:cs typeface="Open Sans"/>
                <a:sym typeface="Open Sans"/>
              </a:rPr>
              <a:t>minutes in the Intervention 2 simulation, enhancing patient flow and reducing ED congestion.</a:t>
            </a:r>
            <a:endParaRPr sz="1500">
              <a:solidFill>
                <a:schemeClr val="dk2"/>
              </a:solidFill>
              <a:latin typeface="Open Sans"/>
              <a:ea typeface="Open Sans"/>
              <a:cs typeface="Open Sans"/>
              <a:sym typeface="Open Sans"/>
            </a:endParaRPr>
          </a:p>
        </p:txBody>
      </p:sp>
      <p:sp>
        <p:nvSpPr>
          <p:cNvPr id="343" name="Google Shape;343;p39"/>
          <p:cNvSpPr txBox="1"/>
          <p:nvPr/>
        </p:nvSpPr>
        <p:spPr>
          <a:xfrm>
            <a:off x="1094825" y="2891688"/>
            <a:ext cx="910200" cy="12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0000"/>
                </a:solidFill>
                <a:latin typeface="Open Sans"/>
                <a:ea typeface="Open Sans"/>
                <a:cs typeface="Open Sans"/>
                <a:sym typeface="Open Sans"/>
              </a:rPr>
              <a:t>1700</a:t>
            </a:r>
            <a:endParaRPr sz="600">
              <a:solidFill>
                <a:srgbClr val="FF0000"/>
              </a:solidFill>
              <a:latin typeface="Open Sans"/>
              <a:ea typeface="Open Sans"/>
              <a:cs typeface="Open Sans"/>
              <a:sym typeface="Open Sans"/>
            </a:endParaRPr>
          </a:p>
        </p:txBody>
      </p:sp>
      <p:sp>
        <p:nvSpPr>
          <p:cNvPr id="344" name="Google Shape;344;p39"/>
          <p:cNvSpPr/>
          <p:nvPr/>
        </p:nvSpPr>
        <p:spPr>
          <a:xfrm>
            <a:off x="7329125" y="2571750"/>
            <a:ext cx="617100" cy="599400"/>
          </a:xfrm>
          <a:prstGeom prst="ellipse">
            <a:avLst/>
          </a:prstGeom>
          <a:noFill/>
          <a:ln w="19050" cap="flat" cmpd="sng">
            <a:solidFill>
              <a:srgbClr val="70AD4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5" name="Google Shape;345;p39"/>
          <p:cNvSpPr txBox="1"/>
          <p:nvPr/>
        </p:nvSpPr>
        <p:spPr>
          <a:xfrm>
            <a:off x="745050" y="3148600"/>
            <a:ext cx="7653900" cy="44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       Intervention 2						Original Simulation</a:t>
            </a:r>
            <a:endParaRPr sz="1800">
              <a:solidFill>
                <a:schemeClr val="dk2"/>
              </a:solidFill>
              <a:latin typeface="Open Sans"/>
              <a:ea typeface="Open Sans"/>
              <a:cs typeface="Open Sans"/>
              <a:sym typeface="Open Sans"/>
            </a:endParaRPr>
          </a:p>
        </p:txBody>
      </p:sp>
      <p:pic>
        <p:nvPicPr>
          <p:cNvPr id="346" name="Google Shape;346;p39"/>
          <p:cNvPicPr preferRelativeResize="0"/>
          <p:nvPr/>
        </p:nvPicPr>
        <p:blipFill>
          <a:blip r:embed="rId4">
            <a:alphaModFix/>
          </a:blip>
          <a:stretch>
            <a:fillRect/>
          </a:stretch>
        </p:blipFill>
        <p:spPr>
          <a:xfrm>
            <a:off x="215525" y="357225"/>
            <a:ext cx="4465522" cy="2886999"/>
          </a:xfrm>
          <a:prstGeom prst="rect">
            <a:avLst/>
          </a:prstGeom>
          <a:noFill/>
          <a:ln>
            <a:noFill/>
          </a:ln>
        </p:spPr>
      </p:pic>
      <p:sp>
        <p:nvSpPr>
          <p:cNvPr id="347" name="Google Shape;347;p39"/>
          <p:cNvSpPr/>
          <p:nvPr/>
        </p:nvSpPr>
        <p:spPr>
          <a:xfrm>
            <a:off x="3212900" y="2571750"/>
            <a:ext cx="617100" cy="599400"/>
          </a:xfrm>
          <a:prstGeom prst="ellipse">
            <a:avLst/>
          </a:prstGeom>
          <a:noFill/>
          <a:ln w="19050" cap="flat" cmpd="sng">
            <a:solidFill>
              <a:srgbClr val="70AD4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277"/>
        <p:cNvGrpSpPr/>
        <p:nvPr/>
      </p:nvGrpSpPr>
      <p:grpSpPr>
        <a:xfrm>
          <a:off x="0" y="0"/>
          <a:ext cx="0" cy="0"/>
          <a:chOff x="0" y="0"/>
          <a:chExt cx="0" cy="0"/>
        </a:xfrm>
      </p:grpSpPr>
      <p:pic>
        <p:nvPicPr>
          <p:cNvPr id="278" name="Google Shape;278;p33"/>
          <p:cNvPicPr preferRelativeResize="0"/>
          <p:nvPr/>
        </p:nvPicPr>
        <p:blipFill>
          <a:blip r:embed="rId3">
            <a:alphaModFix/>
          </a:blip>
          <a:stretch>
            <a:fillRect/>
          </a:stretch>
        </p:blipFill>
        <p:spPr>
          <a:xfrm>
            <a:off x="4572000" y="418250"/>
            <a:ext cx="4173490" cy="2668625"/>
          </a:xfrm>
          <a:prstGeom prst="rect">
            <a:avLst/>
          </a:prstGeom>
          <a:noFill/>
          <a:ln>
            <a:noFill/>
          </a:ln>
        </p:spPr>
      </p:pic>
      <p:sp>
        <p:nvSpPr>
          <p:cNvPr id="279" name="Google Shape;279;p33"/>
          <p:cNvSpPr txBox="1"/>
          <p:nvPr/>
        </p:nvSpPr>
        <p:spPr>
          <a:xfrm>
            <a:off x="745050" y="2943975"/>
            <a:ext cx="7653900" cy="63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       Intervention 1						Original Simulation</a:t>
            </a:r>
            <a:endParaRPr sz="1800">
              <a:solidFill>
                <a:schemeClr val="dk2"/>
              </a:solidFill>
              <a:latin typeface="Open Sans"/>
              <a:ea typeface="Open Sans"/>
              <a:cs typeface="Open Sans"/>
              <a:sym typeface="Open Sans"/>
            </a:endParaRPr>
          </a:p>
        </p:txBody>
      </p:sp>
      <p:sp>
        <p:nvSpPr>
          <p:cNvPr id="280" name="Google Shape;280;p33"/>
          <p:cNvSpPr txBox="1"/>
          <p:nvPr/>
        </p:nvSpPr>
        <p:spPr>
          <a:xfrm>
            <a:off x="1283300" y="30800"/>
            <a:ext cx="59340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Distribution of Length of Stay in ED Times</a:t>
            </a:r>
            <a:endParaRPr sz="1800">
              <a:solidFill>
                <a:schemeClr val="dk2"/>
              </a:solidFill>
              <a:latin typeface="Open Sans"/>
              <a:ea typeface="Open Sans"/>
              <a:cs typeface="Open Sans"/>
              <a:sym typeface="Open Sans"/>
            </a:endParaRPr>
          </a:p>
        </p:txBody>
      </p:sp>
      <p:pic>
        <p:nvPicPr>
          <p:cNvPr id="281" name="Google Shape;281;p33"/>
          <p:cNvPicPr preferRelativeResize="0"/>
          <p:nvPr/>
        </p:nvPicPr>
        <p:blipFill>
          <a:blip r:embed="rId4">
            <a:alphaModFix/>
          </a:blip>
          <a:stretch>
            <a:fillRect/>
          </a:stretch>
        </p:blipFill>
        <p:spPr>
          <a:xfrm>
            <a:off x="381050" y="418250"/>
            <a:ext cx="4173496" cy="2668625"/>
          </a:xfrm>
          <a:prstGeom prst="rect">
            <a:avLst/>
          </a:prstGeom>
          <a:noFill/>
          <a:ln>
            <a:noFill/>
          </a:ln>
        </p:spPr>
      </p:pic>
      <p:sp>
        <p:nvSpPr>
          <p:cNvPr id="282" name="Google Shape;282;p33"/>
          <p:cNvSpPr/>
          <p:nvPr/>
        </p:nvSpPr>
        <p:spPr>
          <a:xfrm>
            <a:off x="896325" y="544100"/>
            <a:ext cx="617100" cy="5994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3" name="Google Shape;283;p33"/>
          <p:cNvSpPr/>
          <p:nvPr/>
        </p:nvSpPr>
        <p:spPr>
          <a:xfrm>
            <a:off x="5035575" y="544100"/>
            <a:ext cx="617100" cy="5994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4" name="Google Shape;284;p33"/>
          <p:cNvSpPr txBox="1"/>
          <p:nvPr/>
        </p:nvSpPr>
        <p:spPr>
          <a:xfrm>
            <a:off x="652000" y="3581775"/>
            <a:ext cx="8093400" cy="14109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Intervention 1 has the </a:t>
            </a:r>
            <a:r>
              <a:rPr lang="en" sz="1600" b="1">
                <a:solidFill>
                  <a:srgbClr val="FF0000"/>
                </a:solidFill>
                <a:latin typeface="Open Sans"/>
                <a:ea typeface="Open Sans"/>
                <a:cs typeface="Open Sans"/>
                <a:sym typeface="Open Sans"/>
              </a:rPr>
              <a:t>peak frequency</a:t>
            </a:r>
            <a:r>
              <a:rPr lang="en" sz="1600">
                <a:solidFill>
                  <a:srgbClr val="FF0000"/>
                </a:solidFill>
                <a:latin typeface="Open Sans"/>
                <a:ea typeface="Open Sans"/>
                <a:cs typeface="Open Sans"/>
                <a:sym typeface="Open Sans"/>
              </a:rPr>
              <a:t> at around 200-300 minutes</a:t>
            </a:r>
            <a:r>
              <a:rPr lang="en" sz="1600">
                <a:solidFill>
                  <a:schemeClr val="dk2"/>
                </a:solidFill>
                <a:latin typeface="Open Sans"/>
                <a:ea typeface="Open Sans"/>
                <a:cs typeface="Open Sans"/>
                <a:sym typeface="Open Sans"/>
              </a:rPr>
              <a:t> is lower than in the original simulation. This suggests that the diversion to urgent care has </a:t>
            </a:r>
            <a:r>
              <a:rPr lang="en" sz="1600" u="sng">
                <a:solidFill>
                  <a:schemeClr val="dk2"/>
                </a:solidFill>
                <a:latin typeface="Open Sans"/>
                <a:ea typeface="Open Sans"/>
                <a:cs typeface="Open Sans"/>
                <a:sym typeface="Open Sans"/>
              </a:rPr>
              <a:t>successfully reduced the volume of patients around 200-300 minutes</a:t>
            </a:r>
            <a:endParaRPr sz="1600" u="sng">
              <a:solidFill>
                <a:schemeClr val="dk2"/>
              </a:solidFill>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217"/>
        <p:cNvGrpSpPr/>
        <p:nvPr/>
      </p:nvGrpSpPr>
      <p:grpSpPr>
        <a:xfrm>
          <a:off x="0" y="0"/>
          <a:ext cx="0" cy="0"/>
          <a:chOff x="0" y="0"/>
          <a:chExt cx="0" cy="0"/>
        </a:xfrm>
      </p:grpSpPr>
      <p:pic>
        <p:nvPicPr>
          <p:cNvPr id="218" name="Google Shape;218;p26"/>
          <p:cNvPicPr preferRelativeResize="0"/>
          <p:nvPr/>
        </p:nvPicPr>
        <p:blipFill>
          <a:blip r:embed="rId3">
            <a:alphaModFix/>
          </a:blip>
          <a:stretch>
            <a:fillRect/>
          </a:stretch>
        </p:blipFill>
        <p:spPr>
          <a:xfrm>
            <a:off x="304800" y="457200"/>
            <a:ext cx="4134576" cy="2590725"/>
          </a:xfrm>
          <a:prstGeom prst="rect">
            <a:avLst/>
          </a:prstGeom>
          <a:noFill/>
          <a:ln>
            <a:noFill/>
          </a:ln>
        </p:spPr>
      </p:pic>
      <p:pic>
        <p:nvPicPr>
          <p:cNvPr id="219" name="Google Shape;219;p26"/>
          <p:cNvPicPr preferRelativeResize="0"/>
          <p:nvPr/>
        </p:nvPicPr>
        <p:blipFill>
          <a:blip r:embed="rId4">
            <a:alphaModFix/>
          </a:blip>
          <a:stretch>
            <a:fillRect/>
          </a:stretch>
        </p:blipFill>
        <p:spPr>
          <a:xfrm>
            <a:off x="4572000" y="418250"/>
            <a:ext cx="4173490" cy="2668625"/>
          </a:xfrm>
          <a:prstGeom prst="rect">
            <a:avLst/>
          </a:prstGeom>
          <a:noFill/>
          <a:ln>
            <a:noFill/>
          </a:ln>
        </p:spPr>
      </p:pic>
      <p:sp>
        <p:nvSpPr>
          <p:cNvPr id="220" name="Google Shape;220;p26"/>
          <p:cNvSpPr txBox="1"/>
          <p:nvPr/>
        </p:nvSpPr>
        <p:spPr>
          <a:xfrm>
            <a:off x="745050" y="2943975"/>
            <a:ext cx="7653900" cy="63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Real 								Simulation</a:t>
            </a:r>
            <a:endParaRPr sz="1800">
              <a:solidFill>
                <a:schemeClr val="dk2"/>
              </a:solidFill>
              <a:latin typeface="Open Sans"/>
              <a:ea typeface="Open Sans"/>
              <a:cs typeface="Open Sans"/>
              <a:sym typeface="Open Sans"/>
            </a:endParaRPr>
          </a:p>
        </p:txBody>
      </p:sp>
      <p:sp>
        <p:nvSpPr>
          <p:cNvPr id="221" name="Google Shape;221;p26"/>
          <p:cNvSpPr txBox="1"/>
          <p:nvPr/>
        </p:nvSpPr>
        <p:spPr>
          <a:xfrm>
            <a:off x="1283300" y="30800"/>
            <a:ext cx="59340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Distribution of Length of Stay in ED Times</a:t>
            </a:r>
            <a:endParaRPr sz="1800">
              <a:solidFill>
                <a:schemeClr val="dk2"/>
              </a:solidFill>
              <a:latin typeface="Open Sans"/>
              <a:ea typeface="Open Sans"/>
              <a:cs typeface="Open Sans"/>
              <a:sym typeface="Open Sans"/>
            </a:endParaRPr>
          </a:p>
        </p:txBody>
      </p:sp>
      <p:sp>
        <p:nvSpPr>
          <p:cNvPr id="222" name="Google Shape;222;p26"/>
          <p:cNvSpPr txBox="1"/>
          <p:nvPr/>
        </p:nvSpPr>
        <p:spPr>
          <a:xfrm>
            <a:off x="364600" y="3444450"/>
            <a:ext cx="8199900" cy="13287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Open Sans"/>
              <a:buChar char="●"/>
            </a:pPr>
            <a:r>
              <a:rPr lang="en" sz="1500">
                <a:solidFill>
                  <a:schemeClr val="dk2"/>
                </a:solidFill>
                <a:latin typeface="Open Sans"/>
                <a:ea typeface="Open Sans"/>
                <a:cs typeface="Open Sans"/>
                <a:sym typeface="Open Sans"/>
              </a:rPr>
              <a:t>Both right-skewed distribution</a:t>
            </a:r>
            <a:endParaRPr sz="1500">
              <a:solidFill>
                <a:schemeClr val="dk2"/>
              </a:solidFill>
              <a:latin typeface="Open Sans"/>
              <a:ea typeface="Open Sans"/>
              <a:cs typeface="Open Sans"/>
              <a:sym typeface="Open Sans"/>
            </a:endParaRPr>
          </a:p>
          <a:p>
            <a:pPr marL="457200" lvl="0" indent="-323850" algn="l" rtl="0">
              <a:spcBef>
                <a:spcPts val="0"/>
              </a:spcBef>
              <a:spcAft>
                <a:spcPts val="0"/>
              </a:spcAft>
              <a:buClr>
                <a:schemeClr val="dk2"/>
              </a:buClr>
              <a:buSzPts val="1500"/>
              <a:buFont typeface="Open Sans"/>
              <a:buChar char="●"/>
            </a:pPr>
            <a:r>
              <a:rPr lang="en" sz="1500">
                <a:solidFill>
                  <a:schemeClr val="dk2"/>
                </a:solidFill>
                <a:latin typeface="Open Sans"/>
                <a:ea typeface="Open Sans"/>
                <a:cs typeface="Open Sans"/>
                <a:sym typeface="Open Sans"/>
              </a:rPr>
              <a:t>Both rapid drop-off in frequency at the peak around </a:t>
            </a:r>
            <a:r>
              <a:rPr lang="en" sz="1500" b="1">
                <a:solidFill>
                  <a:srgbClr val="FF0000"/>
                </a:solidFill>
                <a:latin typeface="Open Sans"/>
                <a:ea typeface="Open Sans"/>
                <a:cs typeface="Open Sans"/>
                <a:sym typeface="Open Sans"/>
              </a:rPr>
              <a:t>200-300 mins</a:t>
            </a:r>
            <a:endParaRPr sz="1500" b="1">
              <a:solidFill>
                <a:srgbClr val="FF0000"/>
              </a:solidFill>
              <a:latin typeface="Open Sans"/>
              <a:ea typeface="Open Sans"/>
              <a:cs typeface="Open Sans"/>
              <a:sym typeface="Open Sans"/>
            </a:endParaRPr>
          </a:p>
        </p:txBody>
      </p:sp>
      <p:sp>
        <p:nvSpPr>
          <p:cNvPr id="223" name="Google Shape;223;p26"/>
          <p:cNvSpPr txBox="1"/>
          <p:nvPr/>
        </p:nvSpPr>
        <p:spPr>
          <a:xfrm>
            <a:off x="825825" y="2735050"/>
            <a:ext cx="599700" cy="1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
                <a:solidFill>
                  <a:srgbClr val="FF0000"/>
                </a:solidFill>
                <a:latin typeface="Open Sans"/>
                <a:ea typeface="Open Sans"/>
                <a:cs typeface="Open Sans"/>
                <a:sym typeface="Open Sans"/>
              </a:rPr>
              <a:t>200 300</a:t>
            </a:r>
            <a:endParaRPr sz="500">
              <a:solidFill>
                <a:srgbClr val="FF0000"/>
              </a:solidFill>
              <a:latin typeface="Open Sans"/>
              <a:ea typeface="Open Sans"/>
              <a:cs typeface="Open Sans"/>
              <a:sym typeface="Open Sans"/>
            </a:endParaRPr>
          </a:p>
        </p:txBody>
      </p:sp>
      <p:sp>
        <p:nvSpPr>
          <p:cNvPr id="224" name="Google Shape;224;p26"/>
          <p:cNvSpPr txBox="1"/>
          <p:nvPr/>
        </p:nvSpPr>
        <p:spPr>
          <a:xfrm>
            <a:off x="5211550" y="2735050"/>
            <a:ext cx="599700" cy="1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
                <a:solidFill>
                  <a:srgbClr val="FF0000"/>
                </a:solidFill>
                <a:latin typeface="Open Sans"/>
                <a:ea typeface="Open Sans"/>
                <a:cs typeface="Open Sans"/>
                <a:sym typeface="Open Sans"/>
              </a:rPr>
              <a:t>200 300</a:t>
            </a:r>
            <a:endParaRPr sz="500">
              <a:solidFill>
                <a:srgbClr val="FF0000"/>
              </a:solidFill>
              <a:latin typeface="Open Sans"/>
              <a:ea typeface="Open Sans"/>
              <a:cs typeface="Open Sans"/>
              <a:sym typeface="Open Sans"/>
            </a:endParaRPr>
          </a:p>
        </p:txBody>
      </p:sp>
      <p:sp>
        <p:nvSpPr>
          <p:cNvPr id="225" name="Google Shape;225;p26"/>
          <p:cNvSpPr/>
          <p:nvPr/>
        </p:nvSpPr>
        <p:spPr>
          <a:xfrm>
            <a:off x="794975" y="452975"/>
            <a:ext cx="488400" cy="2668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6" name="Google Shape;226;p26"/>
          <p:cNvSpPr/>
          <p:nvPr/>
        </p:nvSpPr>
        <p:spPr>
          <a:xfrm>
            <a:off x="5161650" y="418300"/>
            <a:ext cx="488400" cy="2668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242"/>
        <p:cNvGrpSpPr/>
        <p:nvPr/>
      </p:nvGrpSpPr>
      <p:grpSpPr>
        <a:xfrm>
          <a:off x="0" y="0"/>
          <a:ext cx="0" cy="0"/>
          <a:chOff x="0" y="0"/>
          <a:chExt cx="0" cy="0"/>
        </a:xfrm>
      </p:grpSpPr>
      <p:pic>
        <p:nvPicPr>
          <p:cNvPr id="243" name="Google Shape;243;p29"/>
          <p:cNvPicPr preferRelativeResize="0"/>
          <p:nvPr/>
        </p:nvPicPr>
        <p:blipFill>
          <a:blip r:embed="rId3">
            <a:alphaModFix/>
          </a:blip>
          <a:stretch>
            <a:fillRect/>
          </a:stretch>
        </p:blipFill>
        <p:spPr>
          <a:xfrm>
            <a:off x="294275" y="398100"/>
            <a:ext cx="4428874" cy="2846125"/>
          </a:xfrm>
          <a:prstGeom prst="rect">
            <a:avLst/>
          </a:prstGeom>
          <a:noFill/>
          <a:ln>
            <a:noFill/>
          </a:ln>
        </p:spPr>
      </p:pic>
      <p:pic>
        <p:nvPicPr>
          <p:cNvPr id="244" name="Google Shape;244;p29"/>
          <p:cNvPicPr preferRelativeResize="0"/>
          <p:nvPr/>
        </p:nvPicPr>
        <p:blipFill>
          <a:blip r:embed="rId4">
            <a:alphaModFix/>
          </a:blip>
          <a:stretch>
            <a:fillRect/>
          </a:stretch>
        </p:blipFill>
        <p:spPr>
          <a:xfrm>
            <a:off x="4554667" y="357225"/>
            <a:ext cx="4459109" cy="2887000"/>
          </a:xfrm>
          <a:prstGeom prst="rect">
            <a:avLst/>
          </a:prstGeom>
          <a:noFill/>
          <a:ln>
            <a:noFill/>
          </a:ln>
        </p:spPr>
      </p:pic>
      <p:sp>
        <p:nvSpPr>
          <p:cNvPr id="245" name="Google Shape;245;p29"/>
          <p:cNvSpPr txBox="1"/>
          <p:nvPr/>
        </p:nvSpPr>
        <p:spPr>
          <a:xfrm>
            <a:off x="650450" y="3120025"/>
            <a:ext cx="7653900" cy="348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Real 								Simulation</a:t>
            </a:r>
            <a:endParaRPr sz="1800">
              <a:solidFill>
                <a:schemeClr val="dk2"/>
              </a:solidFill>
              <a:latin typeface="Open Sans"/>
              <a:ea typeface="Open Sans"/>
              <a:cs typeface="Open Sans"/>
              <a:sym typeface="Open Sans"/>
            </a:endParaRPr>
          </a:p>
        </p:txBody>
      </p:sp>
      <p:sp>
        <p:nvSpPr>
          <p:cNvPr id="246" name="Google Shape;246;p29"/>
          <p:cNvSpPr txBox="1"/>
          <p:nvPr/>
        </p:nvSpPr>
        <p:spPr>
          <a:xfrm>
            <a:off x="1283300" y="0"/>
            <a:ext cx="59340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Open Sans"/>
                <a:ea typeface="Open Sans"/>
                <a:cs typeface="Open Sans"/>
                <a:sym typeface="Open Sans"/>
              </a:rPr>
              <a:t>Distribution of Completely EDIP Times</a:t>
            </a:r>
            <a:endParaRPr sz="1800">
              <a:solidFill>
                <a:schemeClr val="dk2"/>
              </a:solidFill>
              <a:latin typeface="Open Sans"/>
              <a:ea typeface="Open Sans"/>
              <a:cs typeface="Open Sans"/>
              <a:sym typeface="Open Sans"/>
            </a:endParaRPr>
          </a:p>
        </p:txBody>
      </p:sp>
      <p:sp>
        <p:nvSpPr>
          <p:cNvPr id="247" name="Google Shape;247;p29"/>
          <p:cNvSpPr txBox="1"/>
          <p:nvPr/>
        </p:nvSpPr>
        <p:spPr>
          <a:xfrm>
            <a:off x="910700" y="3596850"/>
            <a:ext cx="7653900" cy="13287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Open Sans"/>
              <a:buChar char="●"/>
            </a:pPr>
            <a:r>
              <a:rPr lang="en" sz="1500">
                <a:solidFill>
                  <a:schemeClr val="dk2"/>
                </a:solidFill>
                <a:latin typeface="Open Sans"/>
                <a:ea typeface="Open Sans"/>
                <a:cs typeface="Open Sans"/>
                <a:sym typeface="Open Sans"/>
              </a:rPr>
              <a:t>Both histograms show a right-skew distribution</a:t>
            </a:r>
            <a:endParaRPr sz="1500">
              <a:solidFill>
                <a:schemeClr val="dk2"/>
              </a:solidFill>
              <a:latin typeface="Open Sans"/>
              <a:ea typeface="Open Sans"/>
              <a:cs typeface="Open Sans"/>
              <a:sym typeface="Open Sans"/>
            </a:endParaRPr>
          </a:p>
          <a:p>
            <a:pPr marL="457200" lvl="0" indent="-323850" algn="l" rtl="0">
              <a:spcBef>
                <a:spcPts val="0"/>
              </a:spcBef>
              <a:spcAft>
                <a:spcPts val="0"/>
              </a:spcAft>
              <a:buClr>
                <a:schemeClr val="dk2"/>
              </a:buClr>
              <a:buSzPts val="1500"/>
              <a:buFont typeface="Open Sans"/>
              <a:buChar char="●"/>
            </a:pPr>
            <a:r>
              <a:rPr lang="en" sz="1500">
                <a:solidFill>
                  <a:schemeClr val="dk2"/>
                </a:solidFill>
                <a:latin typeface="Open Sans"/>
                <a:ea typeface="Open Sans"/>
                <a:cs typeface="Open Sans"/>
                <a:sym typeface="Open Sans"/>
              </a:rPr>
              <a:t> The peak frequency in both histograms occurs within the first </a:t>
            </a:r>
            <a:r>
              <a:rPr lang="en" sz="1500" b="1">
                <a:solidFill>
                  <a:srgbClr val="FF0000"/>
                </a:solidFill>
                <a:latin typeface="Open Sans"/>
                <a:ea typeface="Open Sans"/>
                <a:cs typeface="Open Sans"/>
                <a:sym typeface="Open Sans"/>
              </a:rPr>
              <a:t>1700 minutes</a:t>
            </a:r>
            <a:r>
              <a:rPr lang="en" sz="1500" b="1">
                <a:solidFill>
                  <a:schemeClr val="dk2"/>
                </a:solidFill>
                <a:latin typeface="Open Sans"/>
                <a:ea typeface="Open Sans"/>
                <a:cs typeface="Open Sans"/>
                <a:sym typeface="Open Sans"/>
              </a:rPr>
              <a:t> </a:t>
            </a:r>
            <a:r>
              <a:rPr lang="en" sz="1500">
                <a:solidFill>
                  <a:schemeClr val="dk2"/>
                </a:solidFill>
                <a:latin typeface="Open Sans"/>
                <a:ea typeface="Open Sans"/>
                <a:cs typeface="Open Sans"/>
                <a:sym typeface="Open Sans"/>
              </a:rPr>
              <a:t>(approximately 33 hours)</a:t>
            </a:r>
            <a:endParaRPr sz="1500">
              <a:solidFill>
                <a:schemeClr val="dk2"/>
              </a:solidFill>
              <a:latin typeface="Open Sans"/>
              <a:ea typeface="Open Sans"/>
              <a:cs typeface="Open Sans"/>
              <a:sym typeface="Open Sans"/>
            </a:endParaRPr>
          </a:p>
          <a:p>
            <a:pPr marL="457200" lvl="0" indent="-323850" algn="l" rtl="0">
              <a:spcBef>
                <a:spcPts val="0"/>
              </a:spcBef>
              <a:spcAft>
                <a:spcPts val="0"/>
              </a:spcAft>
              <a:buClr>
                <a:schemeClr val="dk2"/>
              </a:buClr>
              <a:buSzPts val="1500"/>
              <a:buFont typeface="Open Sans"/>
              <a:buChar char="●"/>
            </a:pPr>
            <a:r>
              <a:rPr lang="en" sz="1500">
                <a:solidFill>
                  <a:schemeClr val="dk2"/>
                </a:solidFill>
                <a:latin typeface="Open Sans"/>
                <a:ea typeface="Open Sans"/>
                <a:cs typeface="Open Sans"/>
                <a:sym typeface="Open Sans"/>
              </a:rPr>
              <a:t>The range extends up to around </a:t>
            </a:r>
            <a:r>
              <a:rPr lang="en" sz="1500" b="1">
                <a:solidFill>
                  <a:srgbClr val="70AD47"/>
                </a:solidFill>
                <a:latin typeface="Open Sans"/>
                <a:ea typeface="Open Sans"/>
                <a:cs typeface="Open Sans"/>
                <a:sym typeface="Open Sans"/>
              </a:rPr>
              <a:t>8000 minutes</a:t>
            </a:r>
            <a:r>
              <a:rPr lang="en" sz="1500">
                <a:solidFill>
                  <a:schemeClr val="dk2"/>
                </a:solidFill>
                <a:latin typeface="Open Sans"/>
                <a:ea typeface="Open Sans"/>
                <a:cs typeface="Open Sans"/>
                <a:sym typeface="Open Sans"/>
              </a:rPr>
              <a:t> in both charts</a:t>
            </a:r>
            <a:endParaRPr sz="1500">
              <a:solidFill>
                <a:schemeClr val="dk2"/>
              </a:solidFill>
              <a:latin typeface="Open Sans"/>
              <a:ea typeface="Open Sans"/>
              <a:cs typeface="Open Sans"/>
              <a:sym typeface="Open Sans"/>
            </a:endParaRPr>
          </a:p>
        </p:txBody>
      </p:sp>
      <p:cxnSp>
        <p:nvCxnSpPr>
          <p:cNvPr id="248" name="Google Shape;248;p29"/>
          <p:cNvCxnSpPr/>
          <p:nvPr/>
        </p:nvCxnSpPr>
        <p:spPr>
          <a:xfrm>
            <a:off x="1441526" y="699847"/>
            <a:ext cx="2137800" cy="1873200"/>
          </a:xfrm>
          <a:prstGeom prst="curvedConnector3">
            <a:avLst>
              <a:gd name="adj1" fmla="val 27722"/>
            </a:avLst>
          </a:prstGeom>
          <a:noFill/>
          <a:ln w="19050" cap="flat" cmpd="sng">
            <a:solidFill>
              <a:srgbClr val="FF0000"/>
            </a:solidFill>
            <a:prstDash val="solid"/>
            <a:round/>
            <a:headEnd type="none" w="med" len="med"/>
            <a:tailEnd type="stealth" w="med" len="med"/>
          </a:ln>
        </p:spPr>
      </p:cxnSp>
      <p:cxnSp>
        <p:nvCxnSpPr>
          <p:cNvPr id="249" name="Google Shape;249;p29"/>
          <p:cNvCxnSpPr/>
          <p:nvPr/>
        </p:nvCxnSpPr>
        <p:spPr>
          <a:xfrm>
            <a:off x="5618175" y="698550"/>
            <a:ext cx="2137800" cy="1873200"/>
          </a:xfrm>
          <a:prstGeom prst="curvedConnector3">
            <a:avLst>
              <a:gd name="adj1" fmla="val 27722"/>
            </a:avLst>
          </a:prstGeom>
          <a:noFill/>
          <a:ln w="19050" cap="flat" cmpd="sng">
            <a:solidFill>
              <a:srgbClr val="FF0000"/>
            </a:solidFill>
            <a:prstDash val="solid"/>
            <a:round/>
            <a:headEnd type="none" w="med" len="med"/>
            <a:tailEnd type="stealth" w="med" len="med"/>
          </a:ln>
        </p:spPr>
      </p:cxnSp>
      <p:sp>
        <p:nvSpPr>
          <p:cNvPr id="250" name="Google Shape;250;p29"/>
          <p:cNvSpPr txBox="1"/>
          <p:nvPr/>
        </p:nvSpPr>
        <p:spPr>
          <a:xfrm>
            <a:off x="1094825" y="2891688"/>
            <a:ext cx="910200" cy="12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0000"/>
                </a:solidFill>
                <a:latin typeface="Open Sans"/>
                <a:ea typeface="Open Sans"/>
                <a:cs typeface="Open Sans"/>
                <a:sym typeface="Open Sans"/>
              </a:rPr>
              <a:t>1700</a:t>
            </a:r>
            <a:endParaRPr sz="600">
              <a:solidFill>
                <a:srgbClr val="FF0000"/>
              </a:solidFill>
              <a:latin typeface="Open Sans"/>
              <a:ea typeface="Open Sans"/>
              <a:cs typeface="Open Sans"/>
              <a:sym typeface="Open Sans"/>
            </a:endParaRPr>
          </a:p>
        </p:txBody>
      </p:sp>
      <p:sp>
        <p:nvSpPr>
          <p:cNvPr id="251" name="Google Shape;251;p29"/>
          <p:cNvSpPr txBox="1"/>
          <p:nvPr/>
        </p:nvSpPr>
        <p:spPr>
          <a:xfrm>
            <a:off x="5503850" y="2891688"/>
            <a:ext cx="910200" cy="12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0000"/>
                </a:solidFill>
                <a:latin typeface="Open Sans"/>
                <a:ea typeface="Open Sans"/>
                <a:cs typeface="Open Sans"/>
                <a:sym typeface="Open Sans"/>
              </a:rPr>
              <a:t>1700</a:t>
            </a:r>
            <a:endParaRPr sz="600">
              <a:solidFill>
                <a:srgbClr val="FF0000"/>
              </a:solidFill>
              <a:latin typeface="Open Sans"/>
              <a:ea typeface="Open Sans"/>
              <a:cs typeface="Open Sans"/>
              <a:sym typeface="Open Sans"/>
            </a:endParaRPr>
          </a:p>
        </p:txBody>
      </p:sp>
      <p:sp>
        <p:nvSpPr>
          <p:cNvPr id="252" name="Google Shape;252;p29"/>
          <p:cNvSpPr/>
          <p:nvPr/>
        </p:nvSpPr>
        <p:spPr>
          <a:xfrm>
            <a:off x="3465500" y="2644900"/>
            <a:ext cx="617100" cy="599400"/>
          </a:xfrm>
          <a:prstGeom prst="ellipse">
            <a:avLst/>
          </a:prstGeom>
          <a:noFill/>
          <a:ln w="19050" cap="flat" cmpd="sng">
            <a:solidFill>
              <a:srgbClr val="70AD4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3" name="Google Shape;253;p29"/>
          <p:cNvSpPr/>
          <p:nvPr/>
        </p:nvSpPr>
        <p:spPr>
          <a:xfrm>
            <a:off x="8211075" y="2571750"/>
            <a:ext cx="617100" cy="599400"/>
          </a:xfrm>
          <a:prstGeom prst="ellipse">
            <a:avLst/>
          </a:prstGeom>
          <a:noFill/>
          <a:ln w="19050" cap="flat" cmpd="sng">
            <a:solidFill>
              <a:srgbClr val="70AD4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35C9BB0FC3B44B831891F9B4E085B7" ma:contentTypeVersion="10" ma:contentTypeDescription="Create a new document." ma:contentTypeScope="" ma:versionID="0c539be7f5740769ab91acfa7b3d3764">
  <xsd:schema xmlns:xsd="http://www.w3.org/2001/XMLSchema" xmlns:xs="http://www.w3.org/2001/XMLSchema" xmlns:p="http://schemas.microsoft.com/office/2006/metadata/properties" xmlns:ns1="http://schemas.microsoft.com/sharepoint/v3" xmlns:ns2="0d5d34aa-b19a-475b-8467-9f7e5fc79262" targetNamespace="http://schemas.microsoft.com/office/2006/metadata/properties" ma:root="true" ma:fieldsID="6729d4787e1f39a230de7cdc3d1bc18b" ns1:_="" ns2:_="">
    <xsd:import namespace="http://schemas.microsoft.com/sharepoint/v3"/>
    <xsd:import namespace="0d5d34aa-b19a-475b-8467-9f7e5fc7926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LengthInSeconds" minOccurs="0"/>
                <xsd:element ref="ns2:MediaServiceDateTaken" minOccurs="0"/>
                <xsd:element ref="ns1:_ip_UnifiedCompliancePolicyProperties" minOccurs="0"/>
                <xsd:element ref="ns1:_ip_UnifiedCompliancePolicyUIAction"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d5d34aa-b19a-475b-8467-9f7e5fc792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E53E97-9D40-45EC-9C01-5825E394C5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d5d34aa-b19a-475b-8467-9f7e5fc792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7D8215-C44B-47DC-A79B-ADDF8A66571E}">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56A04D2F-D34A-46D6-880B-6DBA4D91B8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879</TotalTime>
  <Words>1774</Words>
  <Application>Microsoft Office PowerPoint</Application>
  <PresentationFormat>On-screen Show (16:9)</PresentationFormat>
  <Paragraphs>191</Paragraphs>
  <Slides>35</Slides>
  <Notes>28</Notes>
  <HiddenSlides>15</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Tropic</vt:lpstr>
      <vt:lpstr>Simulating the  Emergency Department – UCSD Health</vt:lpstr>
      <vt:lpstr>Problem Overview</vt:lpstr>
      <vt:lpstr>Solution - Discrete Event Based Simulation     </vt:lpstr>
      <vt:lpstr>Why Simulation is Essential Beyond AI Predictions</vt:lpstr>
      <vt:lpstr>Key Differences Between Previous Iterations and Current Model</vt:lpstr>
      <vt:lpstr>PowerPoint Presentation</vt:lpstr>
      <vt:lpstr>Simulated Cubicle Bed Utilization</vt:lpstr>
      <vt:lpstr>Simulated Hallway Bed Utilization</vt:lpstr>
      <vt:lpstr>Simulated EDIP Volumes</vt:lpstr>
      <vt:lpstr>Simulated EDIP LOS</vt:lpstr>
      <vt:lpstr>Intervention #1: Reduce LOS for 50% SNF patients</vt:lpstr>
      <vt:lpstr>Intervention #1- EDIP LOS</vt:lpstr>
      <vt:lpstr>Intervention #1- EDIP Average Volumes</vt:lpstr>
      <vt:lpstr>Sensitivity Analysis for SNF LOS Reduction Intervention</vt:lpstr>
      <vt:lpstr>Intervention #2: Early Discharges</vt:lpstr>
      <vt:lpstr>Intervention #2 - EDIP LOS</vt:lpstr>
      <vt:lpstr>Intervention #2 - EDIP Average Volumes</vt:lpstr>
      <vt:lpstr>Sensitivity Analysis for Early Discharge Intervention</vt:lpstr>
      <vt:lpstr>Next Steps</vt:lpstr>
      <vt:lpstr>PowerPoint Presentation</vt:lpstr>
      <vt:lpstr>Intervention #3 Diversion to Urgent Care</vt:lpstr>
      <vt:lpstr>Intervention #3 - EDIP LOS</vt:lpstr>
      <vt:lpstr>Intervention #3 - EDIP Average Volumes</vt:lpstr>
      <vt:lpstr>Assumptions</vt:lpstr>
      <vt:lpstr>Solution – Code Flow     </vt:lpstr>
      <vt:lpstr>Useful Terminology Overview </vt:lpstr>
      <vt:lpstr>PowerPoint Presentation</vt:lpstr>
      <vt:lpstr>Simulation Output</vt:lpstr>
      <vt:lpstr>Possible Interventions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UCSD Emergency Department Optimization</dc:title>
  <cp:lastModifiedBy>rkabir</cp:lastModifiedBy>
  <cp:revision>77</cp:revision>
  <dcterms:modified xsi:type="dcterms:W3CDTF">2025-04-21T21:00:26Z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0x010100F835C9BB0FC3B44B831891F9B4E085B7</vt:lpwstr>
  </property>
  <property fmtid="{D5CDD505-2E9C-101B-9397-08002B2CF9AE}" pid="3" name="Order">
    <vt:r8>800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