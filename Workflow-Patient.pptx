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FF380A-4F65-47B2-91FD-1E329DEB8305}" v="5" dt="2025-06-02T03:46:40.0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9559" autoAdjust="0"/>
    <p:restoredTop sz="94660"/>
  </p:normalViewPr>
  <p:slideViewPr>
    <p:cSldViewPr snapToGrid="0">
      <p:cViewPr varScale="1">
        <p:scale>
          <a:sx n="54" d="100"/>
          <a:sy n="54" d="100"/>
        </p:scale>
        <p:origin x="77" y="9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7BE2F-A75E-4E70-A8C2-501F2AE86596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DFC2D-D7A8-4C91-978D-F0E156C0C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248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7BE2F-A75E-4E70-A8C2-501F2AE86596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DFC2D-D7A8-4C91-978D-F0E156C0C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019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7BE2F-A75E-4E70-A8C2-501F2AE86596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DFC2D-D7A8-4C91-978D-F0E156C0C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62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7BE2F-A75E-4E70-A8C2-501F2AE86596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DFC2D-D7A8-4C91-978D-F0E156C0C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525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7BE2F-A75E-4E70-A8C2-501F2AE86596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DFC2D-D7A8-4C91-978D-F0E156C0C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451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7BE2F-A75E-4E70-A8C2-501F2AE86596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DFC2D-D7A8-4C91-978D-F0E156C0C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786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7BE2F-A75E-4E70-A8C2-501F2AE86596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DFC2D-D7A8-4C91-978D-F0E156C0C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227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7BE2F-A75E-4E70-A8C2-501F2AE86596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DFC2D-D7A8-4C91-978D-F0E156C0C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281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7BE2F-A75E-4E70-A8C2-501F2AE86596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DFC2D-D7A8-4C91-978D-F0E156C0C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500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7BE2F-A75E-4E70-A8C2-501F2AE86596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DFC2D-D7A8-4C91-978D-F0E156C0C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384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7BE2F-A75E-4E70-A8C2-501F2AE86596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DFC2D-D7A8-4C91-978D-F0E156C0C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861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7BE2F-A75E-4E70-A8C2-501F2AE86596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EDFC2D-D7A8-4C91-978D-F0E156C0C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939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C0832B5-A721-E7A3-AACB-EFC7BF00A171}"/>
              </a:ext>
            </a:extLst>
          </p:cNvPr>
          <p:cNvCxnSpPr>
            <a:cxnSpLocks/>
          </p:cNvCxnSpPr>
          <p:nvPr/>
        </p:nvCxnSpPr>
        <p:spPr>
          <a:xfrm flipH="1" flipV="1">
            <a:off x="2221484" y="2421020"/>
            <a:ext cx="1523898" cy="9845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4" name="Straight Connector 1053">
            <a:extLst>
              <a:ext uri="{FF2B5EF4-FFF2-40B4-BE49-F238E27FC236}">
                <a16:creationId xmlns:a16="http://schemas.microsoft.com/office/drawing/2014/main" id="{48C88C1D-0980-0163-CEB2-AB4D35877F9D}"/>
              </a:ext>
            </a:extLst>
          </p:cNvPr>
          <p:cNvCxnSpPr>
            <a:cxnSpLocks/>
            <a:stCxn id="1051" idx="2"/>
            <a:endCxn id="1046" idx="0"/>
          </p:cNvCxnSpPr>
          <p:nvPr/>
        </p:nvCxnSpPr>
        <p:spPr>
          <a:xfrm>
            <a:off x="3739085" y="5605451"/>
            <a:ext cx="4484" cy="966043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8" name="Straight Connector 1047">
            <a:extLst>
              <a:ext uri="{FF2B5EF4-FFF2-40B4-BE49-F238E27FC236}">
                <a16:creationId xmlns:a16="http://schemas.microsoft.com/office/drawing/2014/main" id="{973CD7FA-5E64-5986-8209-0A75F61C6B56}"/>
              </a:ext>
            </a:extLst>
          </p:cNvPr>
          <p:cNvCxnSpPr>
            <a:cxnSpLocks/>
            <a:endCxn id="1046" idx="3"/>
          </p:cNvCxnSpPr>
          <p:nvPr/>
        </p:nvCxnSpPr>
        <p:spPr>
          <a:xfrm flipH="1" flipV="1">
            <a:off x="4641098" y="6837193"/>
            <a:ext cx="3119543" cy="20807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2" name="Straight Connector 1041">
            <a:extLst>
              <a:ext uri="{FF2B5EF4-FFF2-40B4-BE49-F238E27FC236}">
                <a16:creationId xmlns:a16="http://schemas.microsoft.com/office/drawing/2014/main" id="{B084E8BF-F50E-47D2-9FD5-5B6808383BC1}"/>
              </a:ext>
            </a:extLst>
          </p:cNvPr>
          <p:cNvCxnSpPr>
            <a:cxnSpLocks/>
          </p:cNvCxnSpPr>
          <p:nvPr/>
        </p:nvCxnSpPr>
        <p:spPr>
          <a:xfrm>
            <a:off x="7760641" y="5867992"/>
            <a:ext cx="0" cy="1028203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9" name="Straight Connector 1028">
            <a:extLst>
              <a:ext uri="{FF2B5EF4-FFF2-40B4-BE49-F238E27FC236}">
                <a16:creationId xmlns:a16="http://schemas.microsoft.com/office/drawing/2014/main" id="{9979B44F-6AE6-D574-1A52-6028AD36B91F}"/>
              </a:ext>
            </a:extLst>
          </p:cNvPr>
          <p:cNvCxnSpPr>
            <a:cxnSpLocks/>
            <a:stCxn id="62" idx="1"/>
            <a:endCxn id="1051" idx="3"/>
          </p:cNvCxnSpPr>
          <p:nvPr/>
        </p:nvCxnSpPr>
        <p:spPr>
          <a:xfrm flipH="1" flipV="1">
            <a:off x="4636614" y="5339752"/>
            <a:ext cx="4938524" cy="11818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6296585" y="3001111"/>
            <a:ext cx="0" cy="666750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cxnSpLocks/>
            <a:stCxn id="45" idx="1"/>
            <a:endCxn id="12" idx="6"/>
          </p:cNvCxnSpPr>
          <p:nvPr/>
        </p:nvCxnSpPr>
        <p:spPr>
          <a:xfrm flipH="1" flipV="1">
            <a:off x="4571393" y="2441172"/>
            <a:ext cx="5293687" cy="4516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 rot="18900000" flipV="1">
            <a:off x="5655712" y="1787075"/>
            <a:ext cx="1304656" cy="1311478"/>
          </a:xfrm>
          <a:prstGeom prst="roundRect">
            <a:avLst>
              <a:gd name="adj" fmla="val 27538"/>
            </a:avLst>
          </a:prstGeom>
          <a:solidFill>
            <a:srgbClr val="FBC7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907688" y="2060931"/>
            <a:ext cx="1857375" cy="620027"/>
          </a:xfrm>
          <a:prstGeom prst="rect">
            <a:avLst/>
          </a:prstGeom>
          <a:solidFill>
            <a:srgbClr val="7BCC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pic>
        <p:nvPicPr>
          <p:cNvPr id="1026" name="Picture 2" descr="p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94" y="2065275"/>
            <a:ext cx="746311" cy="611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Oval 11"/>
          <p:cNvSpPr/>
          <p:nvPr/>
        </p:nvSpPr>
        <p:spPr>
          <a:xfrm>
            <a:off x="3496872" y="1928588"/>
            <a:ext cx="1074521" cy="1025167"/>
          </a:xfrm>
          <a:prstGeom prst="ellipse">
            <a:avLst/>
          </a:prstGeom>
          <a:solidFill>
            <a:srgbClr val="BD97CB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TRIAGE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6" name="Text Box 2"/>
          <p:cNvSpPr txBox="1">
            <a:spLocks noChangeArrowheads="1"/>
          </p:cNvSpPr>
          <p:nvPr/>
        </p:nvSpPr>
        <p:spPr bwMode="auto">
          <a:xfrm>
            <a:off x="4070094" y="3136056"/>
            <a:ext cx="1236110" cy="2647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b="1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REDIRECTION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Text Box 2"/>
          <p:cNvSpPr txBox="1">
            <a:spLocks noChangeArrowheads="1"/>
          </p:cNvSpPr>
          <p:nvPr/>
        </p:nvSpPr>
        <p:spPr bwMode="auto">
          <a:xfrm>
            <a:off x="6491544" y="2967823"/>
            <a:ext cx="1676400" cy="2647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Text Box 2"/>
          <p:cNvSpPr txBox="1">
            <a:spLocks noChangeArrowheads="1"/>
          </p:cNvSpPr>
          <p:nvPr/>
        </p:nvSpPr>
        <p:spPr bwMode="auto">
          <a:xfrm>
            <a:off x="8813478" y="2784071"/>
            <a:ext cx="1676400" cy="2647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 LOREM IPSUM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998176" y="2238548"/>
            <a:ext cx="1676400" cy="2647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PATIENT ARRIVES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AB8575-A3E4-116C-AFDB-C045F828ABB3}"/>
              </a:ext>
            </a:extLst>
          </p:cNvPr>
          <p:cNvSpPr txBox="1"/>
          <p:nvPr/>
        </p:nvSpPr>
        <p:spPr>
          <a:xfrm>
            <a:off x="846151" y="1538043"/>
            <a:ext cx="18880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(Patients arrive based on hourly/day distributions)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4881C2-69D0-78EC-5DEC-F78CEFE2D0CE}"/>
              </a:ext>
            </a:extLst>
          </p:cNvPr>
          <p:cNvSpPr txBox="1"/>
          <p:nvPr/>
        </p:nvSpPr>
        <p:spPr>
          <a:xfrm>
            <a:off x="3342623" y="1474774"/>
            <a:ext cx="15238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(Patient is assigned an ESI level (1–5))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3CAAB5-79D7-4DD8-6E26-E657AB288343}"/>
              </a:ext>
            </a:extLst>
          </p:cNvPr>
          <p:cNvSpPr txBox="1"/>
          <p:nvPr/>
        </p:nvSpPr>
        <p:spPr>
          <a:xfrm>
            <a:off x="5715871" y="2272590"/>
            <a:ext cx="12421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ESI = 4 or 5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CE50467-60AE-15B9-1ABE-107F873C0FC6}"/>
              </a:ext>
            </a:extLst>
          </p:cNvPr>
          <p:cNvSpPr txBox="1"/>
          <p:nvPr/>
        </p:nvSpPr>
        <p:spPr>
          <a:xfrm>
            <a:off x="6354118" y="3298529"/>
            <a:ext cx="12421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AF13313-6507-01AF-47BD-0CC439B2AA4E}"/>
              </a:ext>
            </a:extLst>
          </p:cNvPr>
          <p:cNvSpPr txBox="1"/>
          <p:nvPr/>
        </p:nvSpPr>
        <p:spPr>
          <a:xfrm>
            <a:off x="7120443" y="2019801"/>
            <a:ext cx="6610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6FD037B-C937-E8EE-AE95-63B69E36AECC}"/>
              </a:ext>
            </a:extLst>
          </p:cNvPr>
          <p:cNvSpPr/>
          <p:nvPr/>
        </p:nvSpPr>
        <p:spPr>
          <a:xfrm>
            <a:off x="5407781" y="3673620"/>
            <a:ext cx="1795059" cy="531398"/>
          </a:xfrm>
          <a:prstGeom prst="rect">
            <a:avLst/>
          </a:prstGeom>
          <a:solidFill>
            <a:srgbClr val="BAC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300" dirty="0">
                <a:solidFill>
                  <a:schemeClr val="tx1"/>
                </a:solidFill>
              </a:rPr>
              <a:t>Redirected to Urgent Care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2004419-6BC5-6A4B-FBEC-171F0F80E4AD}"/>
              </a:ext>
            </a:extLst>
          </p:cNvPr>
          <p:cNvSpPr txBox="1"/>
          <p:nvPr/>
        </p:nvSpPr>
        <p:spPr>
          <a:xfrm>
            <a:off x="7833967" y="1914785"/>
            <a:ext cx="17411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(Request a Cubicle / Hallway / Surge Tent)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2A4F419-B7F6-F26A-BE3E-7FF5D41BFB31}"/>
              </a:ext>
            </a:extLst>
          </p:cNvPr>
          <p:cNvSpPr/>
          <p:nvPr/>
        </p:nvSpPr>
        <p:spPr>
          <a:xfrm>
            <a:off x="9865080" y="2179989"/>
            <a:ext cx="1676400" cy="531398"/>
          </a:xfrm>
          <a:prstGeom prst="rect">
            <a:avLst/>
          </a:prstGeom>
          <a:solidFill>
            <a:srgbClr val="BAC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300" dirty="0">
                <a:solidFill>
                  <a:schemeClr val="tx1"/>
                </a:solidFill>
              </a:rPr>
              <a:t>Treatment in ED Bed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65A0193-35D8-AD16-9864-FD3ABDB173A0}"/>
              </a:ext>
            </a:extLst>
          </p:cNvPr>
          <p:cNvSpPr txBox="1"/>
          <p:nvPr/>
        </p:nvSpPr>
        <p:spPr>
          <a:xfrm>
            <a:off x="10488635" y="2737030"/>
            <a:ext cx="15817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(Time spent in bed based on triage level)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D394B5D-59A5-442E-990C-D2E860973E37}"/>
              </a:ext>
            </a:extLst>
          </p:cNvPr>
          <p:cNvCxnSpPr>
            <a:cxnSpLocks/>
            <a:endCxn id="1033" idx="0"/>
          </p:cNvCxnSpPr>
          <p:nvPr/>
        </p:nvCxnSpPr>
        <p:spPr>
          <a:xfrm flipH="1">
            <a:off x="10427222" y="2629021"/>
            <a:ext cx="58806" cy="3352783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22">
            <a:extLst>
              <a:ext uri="{FF2B5EF4-FFF2-40B4-BE49-F238E27FC236}">
                <a16:creationId xmlns:a16="http://schemas.microsoft.com/office/drawing/2014/main" id="{155019EA-2697-6143-4000-B690C8415884}"/>
              </a:ext>
            </a:extLst>
          </p:cNvPr>
          <p:cNvSpPr/>
          <p:nvPr/>
        </p:nvSpPr>
        <p:spPr>
          <a:xfrm rot="18900000" flipV="1">
            <a:off x="9817955" y="3369424"/>
            <a:ext cx="1304656" cy="1311478"/>
          </a:xfrm>
          <a:prstGeom prst="roundRect">
            <a:avLst>
              <a:gd name="adj" fmla="val 27538"/>
            </a:avLst>
          </a:prstGeom>
          <a:solidFill>
            <a:srgbClr val="FBC7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63AC3CE-EBAC-0AB7-73B7-B30E49025DD9}"/>
              </a:ext>
            </a:extLst>
          </p:cNvPr>
          <p:cNvSpPr txBox="1"/>
          <p:nvPr/>
        </p:nvSpPr>
        <p:spPr>
          <a:xfrm>
            <a:off x="9882012" y="3838631"/>
            <a:ext cx="129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Admitted?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914614D-37B8-149B-421B-C477CC9DDEBF}"/>
              </a:ext>
            </a:extLst>
          </p:cNvPr>
          <p:cNvSpPr txBox="1"/>
          <p:nvPr/>
        </p:nvSpPr>
        <p:spPr>
          <a:xfrm>
            <a:off x="8471087" y="3667861"/>
            <a:ext cx="1408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(eligible for EDIP/ in-patient bed)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EA520AF-8B6E-ED5B-BAFD-703C40D248EB}"/>
              </a:ext>
            </a:extLst>
          </p:cNvPr>
          <p:cNvSpPr txBox="1"/>
          <p:nvPr/>
        </p:nvSpPr>
        <p:spPr>
          <a:xfrm>
            <a:off x="10680344" y="5606230"/>
            <a:ext cx="12421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87DD194-CBF6-E5CA-D02A-4B4E8D257B00}"/>
              </a:ext>
            </a:extLst>
          </p:cNvPr>
          <p:cNvSpPr/>
          <p:nvPr/>
        </p:nvSpPr>
        <p:spPr>
          <a:xfrm>
            <a:off x="9575138" y="5085871"/>
            <a:ext cx="1676400" cy="531398"/>
          </a:xfrm>
          <a:prstGeom prst="rect">
            <a:avLst/>
          </a:prstGeom>
          <a:solidFill>
            <a:srgbClr val="BAC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300" dirty="0">
                <a:solidFill>
                  <a:schemeClr val="tx1"/>
                </a:solidFill>
              </a:rPr>
              <a:t>Low-Risk HF Patient?</a:t>
            </a: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5C1E3450-4443-8F2D-23B5-2703B58E3CB6}"/>
              </a:ext>
            </a:extLst>
          </p:cNvPr>
          <p:cNvSpPr txBox="1"/>
          <p:nvPr/>
        </p:nvSpPr>
        <p:spPr>
          <a:xfrm>
            <a:off x="8673256" y="5005195"/>
            <a:ext cx="6610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9EA128A5-B1F4-7B78-E3F7-DE0528C2E2EA}"/>
              </a:ext>
            </a:extLst>
          </p:cNvPr>
          <p:cNvSpPr/>
          <p:nvPr/>
        </p:nvSpPr>
        <p:spPr>
          <a:xfrm>
            <a:off x="9596042" y="5981804"/>
            <a:ext cx="1662360" cy="641730"/>
          </a:xfrm>
          <a:prstGeom prst="rect">
            <a:avLst/>
          </a:prstGeom>
          <a:solidFill>
            <a:srgbClr val="BAC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300" dirty="0">
                <a:solidFill>
                  <a:schemeClr val="tx1"/>
                </a:solidFill>
              </a:rPr>
              <a:t>Redirected to East Campus</a:t>
            </a:r>
          </a:p>
        </p:txBody>
      </p:sp>
      <p:sp>
        <p:nvSpPr>
          <p:cNvPr id="1034" name="Rounded Rectangle 22">
            <a:extLst>
              <a:ext uri="{FF2B5EF4-FFF2-40B4-BE49-F238E27FC236}">
                <a16:creationId xmlns:a16="http://schemas.microsoft.com/office/drawing/2014/main" id="{E7E30272-E1B7-7E75-4C54-19AF58D8707F}"/>
              </a:ext>
            </a:extLst>
          </p:cNvPr>
          <p:cNvSpPr/>
          <p:nvPr/>
        </p:nvSpPr>
        <p:spPr>
          <a:xfrm rot="18900000" flipV="1">
            <a:off x="7131566" y="4699286"/>
            <a:ext cx="1304656" cy="1311478"/>
          </a:xfrm>
          <a:prstGeom prst="roundRect">
            <a:avLst>
              <a:gd name="adj" fmla="val 27538"/>
            </a:avLst>
          </a:prstGeom>
          <a:solidFill>
            <a:srgbClr val="FBC7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75A7E5E8-FDD2-8FF9-D2CC-203748124E5E}"/>
              </a:ext>
            </a:extLst>
          </p:cNvPr>
          <p:cNvSpPr txBox="1"/>
          <p:nvPr/>
        </p:nvSpPr>
        <p:spPr>
          <a:xfrm>
            <a:off x="7092870" y="5051479"/>
            <a:ext cx="13587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Hospital Bed Available</a:t>
            </a:r>
          </a:p>
        </p:txBody>
      </p:sp>
      <p:sp>
        <p:nvSpPr>
          <p:cNvPr id="1038" name="TextBox 1037">
            <a:extLst>
              <a:ext uri="{FF2B5EF4-FFF2-40B4-BE49-F238E27FC236}">
                <a16:creationId xmlns:a16="http://schemas.microsoft.com/office/drawing/2014/main" id="{F9D436B6-D483-8CBB-92AF-33BFEDF267CE}"/>
              </a:ext>
            </a:extLst>
          </p:cNvPr>
          <p:cNvSpPr txBox="1"/>
          <p:nvPr/>
        </p:nvSpPr>
        <p:spPr>
          <a:xfrm>
            <a:off x="7161541" y="6153247"/>
            <a:ext cx="583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1041" name="TextBox 1040">
            <a:extLst>
              <a:ext uri="{FF2B5EF4-FFF2-40B4-BE49-F238E27FC236}">
                <a16:creationId xmlns:a16="http://schemas.microsoft.com/office/drawing/2014/main" id="{9AF91FB3-8E58-AD75-C8F9-57986B131C0A}"/>
              </a:ext>
            </a:extLst>
          </p:cNvPr>
          <p:cNvSpPr txBox="1"/>
          <p:nvPr/>
        </p:nvSpPr>
        <p:spPr>
          <a:xfrm>
            <a:off x="6551624" y="4949263"/>
            <a:ext cx="5700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6CC750C9-B4B6-D8D0-3BAB-16E42E81B4A2}"/>
              </a:ext>
            </a:extLst>
          </p:cNvPr>
          <p:cNvSpPr/>
          <p:nvPr/>
        </p:nvSpPr>
        <p:spPr>
          <a:xfrm>
            <a:off x="2846039" y="6571494"/>
            <a:ext cx="1795059" cy="531398"/>
          </a:xfrm>
          <a:prstGeom prst="rect">
            <a:avLst/>
          </a:prstGeom>
          <a:solidFill>
            <a:srgbClr val="BAC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300" dirty="0">
                <a:solidFill>
                  <a:schemeClr val="tx1"/>
                </a:solidFill>
              </a:rPr>
              <a:t>Assign Bed &amp; Start Treatment</a:t>
            </a:r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064AC609-20A4-1F40-1C8A-A93BB953A873}"/>
              </a:ext>
            </a:extLst>
          </p:cNvPr>
          <p:cNvSpPr/>
          <p:nvPr/>
        </p:nvSpPr>
        <p:spPr>
          <a:xfrm>
            <a:off x="2841555" y="5074053"/>
            <a:ext cx="1795059" cy="531398"/>
          </a:xfrm>
          <a:prstGeom prst="rect">
            <a:avLst/>
          </a:prstGeom>
          <a:solidFill>
            <a:srgbClr val="BAC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300" dirty="0">
                <a:solidFill>
                  <a:schemeClr val="tx1"/>
                </a:solidFill>
              </a:rPr>
              <a:t>Wait in EDIP &amp; Then To Inpatient Bed</a:t>
            </a:r>
          </a:p>
        </p:txBody>
      </p:sp>
      <p:sp>
        <p:nvSpPr>
          <p:cNvPr id="1060" name="Rectangle 1059">
            <a:extLst>
              <a:ext uri="{FF2B5EF4-FFF2-40B4-BE49-F238E27FC236}">
                <a16:creationId xmlns:a16="http://schemas.microsoft.com/office/drawing/2014/main" id="{C07A1F1C-0805-EEAA-C9B6-892FF5462E42}"/>
              </a:ext>
            </a:extLst>
          </p:cNvPr>
          <p:cNvSpPr/>
          <p:nvPr/>
        </p:nvSpPr>
        <p:spPr>
          <a:xfrm>
            <a:off x="14306" y="6574608"/>
            <a:ext cx="1795059" cy="531398"/>
          </a:xfrm>
          <a:prstGeom prst="rect">
            <a:avLst/>
          </a:prstGeom>
          <a:solidFill>
            <a:srgbClr val="BAC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300" dirty="0">
                <a:solidFill>
                  <a:schemeClr val="tx1"/>
                </a:solidFill>
              </a:rPr>
              <a:t>Discharge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A731C6-C890-9610-38FF-FEB1A55E7C43}"/>
              </a:ext>
            </a:extLst>
          </p:cNvPr>
          <p:cNvSpPr txBox="1"/>
          <p:nvPr/>
        </p:nvSpPr>
        <p:spPr>
          <a:xfrm>
            <a:off x="4629269" y="5055133"/>
            <a:ext cx="18306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(Request for EDIP bed)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2F3373C-E895-E45B-1817-80AFFC8E70C6}"/>
              </a:ext>
            </a:extLst>
          </p:cNvPr>
          <p:cNvCxnSpPr>
            <a:cxnSpLocks/>
            <a:stCxn id="1046" idx="1"/>
            <a:endCxn id="1060" idx="3"/>
          </p:cNvCxnSpPr>
          <p:nvPr/>
        </p:nvCxnSpPr>
        <p:spPr>
          <a:xfrm flipH="1">
            <a:off x="1809365" y="6837193"/>
            <a:ext cx="1036674" cy="3114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7747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108</Words>
  <Application>Microsoft Office PowerPoint</Application>
  <PresentationFormat>Widescreen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Nicholas Guastella</dc:creator>
  <cp:lastModifiedBy>Preetish Parikh</cp:lastModifiedBy>
  <cp:revision>8</cp:revision>
  <dcterms:created xsi:type="dcterms:W3CDTF">2021-06-28T09:55:43Z</dcterms:created>
  <dcterms:modified xsi:type="dcterms:W3CDTF">2025-06-03T06:58:23Z</dcterms:modified>
</cp:coreProperties>
</file>